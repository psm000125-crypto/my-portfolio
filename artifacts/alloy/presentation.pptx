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cb62c800749d6" /><Relationship Type="http://schemas.openxmlformats.org/officeDocument/2006/relationships/extended-properties" Target="/docProps/app.xml" Id="Rf996d3f2513d42b4" /><Relationship Type="http://schemas.openxmlformats.org/officeDocument/2006/relationships/officeDocument" Target="/ppt/presentation.xml" Id="R60b29fc2a3c445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34f7c690d427d"/>
  </p:sldMasterIdLst>
  <p:notesMasterIdLst>
    <p:notesMasterId xmlns:r="http://schemas.openxmlformats.org/officeDocument/2006/relationships" r:id="R37e83bb192504b69"/>
  </p:notesMasterIdLst>
  <p:sldIdLst>
    <p:sldId xmlns:r="http://schemas.openxmlformats.org/officeDocument/2006/relationships" id="256" r:id="R3298695f25ac46aa"/>
    <p:sldId xmlns:r="http://schemas.openxmlformats.org/officeDocument/2006/relationships" id="257" r:id="R02e9d3bc392f407c"/>
    <p:sldId xmlns:r="http://schemas.openxmlformats.org/officeDocument/2006/relationships" id="258" r:id="R57e7e22c7bc64ae3"/>
    <p:sldId xmlns:r="http://schemas.openxmlformats.org/officeDocument/2006/relationships" id="259" r:id="Rb704de05ff154a37"/>
    <p:sldId xmlns:r="http://schemas.openxmlformats.org/officeDocument/2006/relationships" id="260" r:id="Rb543b6f27e9b4ff7"/>
    <p:sldId xmlns:r="http://schemas.openxmlformats.org/officeDocument/2006/relationships" id="261" r:id="R2a23304438054868"/>
    <p:sldId xmlns:r="http://schemas.openxmlformats.org/officeDocument/2006/relationships" id="262" r:id="R513e5752fb6c468f"/>
    <p:sldId xmlns:r="http://schemas.openxmlformats.org/officeDocument/2006/relationships" id="263" r:id="R136631088ed54f92"/>
    <p:sldId xmlns:r="http://schemas.openxmlformats.org/officeDocument/2006/relationships" id="264" r:id="Ra3d173c6f7704fc8"/>
    <p:sldId xmlns:r="http://schemas.openxmlformats.org/officeDocument/2006/relationships" id="265" r:id="R4e27a1ae0f6045b4"/>
    <p:sldId xmlns:r="http://schemas.openxmlformats.org/officeDocument/2006/relationships" id="266" r:id="Rc59df37ba9534faf"/>
    <p:sldId xmlns:r="http://schemas.openxmlformats.org/officeDocument/2006/relationships" id="267" r:id="R71c0c776c9944d79"/>
    <p:sldId xmlns:r="http://schemas.openxmlformats.org/officeDocument/2006/relationships" id="268" r:id="Recd4bc51455b444f"/>
    <p:sldId xmlns:r="http://schemas.openxmlformats.org/officeDocument/2006/relationships" id="269" r:id="Rccb8f62c9c5048ea"/>
    <p:sldId xmlns:r="http://schemas.openxmlformats.org/officeDocument/2006/relationships" id="270" r:id="Reca4064c95e64500"/>
    <p:sldId xmlns:r="http://schemas.openxmlformats.org/officeDocument/2006/relationships" id="271" r:id="Ra7c9d76b1f7543b3"/>
    <p:sldId xmlns:r="http://schemas.openxmlformats.org/officeDocument/2006/relationships" id="272" r:id="Rcda34c0ba3534ae3"/>
    <p:sldId xmlns:r="http://schemas.openxmlformats.org/officeDocument/2006/relationships" id="273" r:id="R22741aaf0d6e4cd7"/>
    <p:sldId xmlns:r="http://schemas.openxmlformats.org/officeDocument/2006/relationships" id="274" r:id="R099076748f7441d2"/>
    <p:sldId xmlns:r="http://schemas.openxmlformats.org/officeDocument/2006/relationships" id="275" r:id="R172f92a7964847e4"/>
    <p:sldId xmlns:r="http://schemas.openxmlformats.org/officeDocument/2006/relationships" id="276" r:id="Rdac517d71bb64fd6"/>
    <p:sldId xmlns:r="http://schemas.openxmlformats.org/officeDocument/2006/relationships" id="277" r:id="Re1329e43d41c4754"/>
    <p:sldId xmlns:r="http://schemas.openxmlformats.org/officeDocument/2006/relationships" id="278" r:id="R3ba0804b8e4a4a7f"/>
    <p:sldId xmlns:r="http://schemas.openxmlformats.org/officeDocument/2006/relationships" id="279" r:id="Rbe6bfced674049e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44655c52c84d7e" /><Relationship Type="http://schemas.openxmlformats.org/officeDocument/2006/relationships/slideMaster" Target="/ppt/slideMasters/slideMaster1.xml" Id="Rc2834f7c690d427d" /><Relationship Type="http://schemas.openxmlformats.org/officeDocument/2006/relationships/notesMaster" Target="/ppt/notesMasters/notesMaster1.xml" Id="R37e83bb192504b69" /><Relationship Type="http://schemas.openxmlformats.org/officeDocument/2006/relationships/presProps" Target="/ppt/presProps.xml" Id="Rbfb2bc2351cf48ed" /><Relationship Type="http://schemas.openxmlformats.org/officeDocument/2006/relationships/viewProps" Target="/ppt/viewProps.xml" Id="Rebd571692b864d5b" /><Relationship Type="http://schemas.openxmlformats.org/officeDocument/2006/relationships/tableStyles" Target="/ppt/tableStyles.xml" Id="R75df991659fc4cfb" /><Relationship Type="http://schemas.openxmlformats.org/officeDocument/2006/relationships/slide" Target="/ppt/slides/slide1.xml" Id="R3298695f25ac46aa" /><Relationship Type="http://schemas.openxmlformats.org/officeDocument/2006/relationships/slide" Target="/ppt/slides/slide2.xml" Id="R02e9d3bc392f407c" /><Relationship Type="http://schemas.openxmlformats.org/officeDocument/2006/relationships/slide" Target="/ppt/slides/slide3.xml" Id="R57e7e22c7bc64ae3" /><Relationship Type="http://schemas.openxmlformats.org/officeDocument/2006/relationships/slide" Target="/ppt/slides/slide4.xml" Id="Rb704de05ff154a37" /><Relationship Type="http://schemas.openxmlformats.org/officeDocument/2006/relationships/slide" Target="/ppt/slides/slide5.xml" Id="Rb543b6f27e9b4ff7" /><Relationship Type="http://schemas.openxmlformats.org/officeDocument/2006/relationships/slide" Target="/ppt/slides/slide6.xml" Id="R2a23304438054868" /><Relationship Type="http://schemas.openxmlformats.org/officeDocument/2006/relationships/slide" Target="/ppt/slides/slide7.xml" Id="R513e5752fb6c468f" /><Relationship Type="http://schemas.openxmlformats.org/officeDocument/2006/relationships/slide" Target="/ppt/slides/slide8.xml" Id="R136631088ed54f92" /><Relationship Type="http://schemas.openxmlformats.org/officeDocument/2006/relationships/slide" Target="/ppt/slides/slide9.xml" Id="Ra3d173c6f7704fc8" /><Relationship Type="http://schemas.openxmlformats.org/officeDocument/2006/relationships/slide" Target="/ppt/slides/slide10.xml" Id="R4e27a1ae0f6045b4" /><Relationship Type="http://schemas.openxmlformats.org/officeDocument/2006/relationships/slide" Target="/ppt/slides/slide11.xml" Id="Rc59df37ba9534faf" /><Relationship Type="http://schemas.openxmlformats.org/officeDocument/2006/relationships/slide" Target="/ppt/slides/slide12.xml" Id="R71c0c776c9944d79" /><Relationship Type="http://schemas.openxmlformats.org/officeDocument/2006/relationships/slide" Target="/ppt/slides/slide13.xml" Id="Recd4bc51455b444f" /><Relationship Type="http://schemas.openxmlformats.org/officeDocument/2006/relationships/slide" Target="/ppt/slides/slide14.xml" Id="Rccb8f62c9c5048ea" /><Relationship Type="http://schemas.openxmlformats.org/officeDocument/2006/relationships/slide" Target="/ppt/slides/slide15.xml" Id="Reca4064c95e64500" /><Relationship Type="http://schemas.openxmlformats.org/officeDocument/2006/relationships/slide" Target="/ppt/slides/slide16.xml" Id="Ra7c9d76b1f7543b3" /><Relationship Type="http://schemas.openxmlformats.org/officeDocument/2006/relationships/slide" Target="/ppt/slides/slide17.xml" Id="Rcda34c0ba3534ae3" /><Relationship Type="http://schemas.openxmlformats.org/officeDocument/2006/relationships/slide" Target="/ppt/slides/slide18.xml" Id="R22741aaf0d6e4cd7" /><Relationship Type="http://schemas.openxmlformats.org/officeDocument/2006/relationships/slide" Target="/ppt/slides/slide19.xml" Id="R099076748f7441d2" /><Relationship Type="http://schemas.openxmlformats.org/officeDocument/2006/relationships/slide" Target="/ppt/slides/slide20.xml" Id="R172f92a7964847e4" /><Relationship Type="http://schemas.openxmlformats.org/officeDocument/2006/relationships/slide" Target="/ppt/slides/slide21.xml" Id="Rdac517d71bb64fd6" /><Relationship Type="http://schemas.openxmlformats.org/officeDocument/2006/relationships/slide" Target="/ppt/slides/slide22.xml" Id="Re1329e43d41c4754" /><Relationship Type="http://schemas.openxmlformats.org/officeDocument/2006/relationships/slide" Target="/ppt/slides/slide23.xml" Id="R3ba0804b8e4a4a7f" /><Relationship Type="http://schemas.openxmlformats.org/officeDocument/2006/relationships/slide" Target="/ppt/slides/slide24.xml" Id="Rbe6bfced6740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c8c682006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b6c482c9614c74" /><Relationship Type="http://schemas.openxmlformats.org/officeDocument/2006/relationships/notesMaster" Target="/ppt/notesMasters/notesMaster1.xml" Id="R93a8ff6c33fd4d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5d698cd384e51" /><Relationship Type="http://schemas.openxmlformats.org/officeDocument/2006/relationships/notesMaster" Target="/ppt/notesMasters/notesMaster1.xml" Id="R20a343553b1348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ffb71da2e4c14" /><Relationship Type="http://schemas.openxmlformats.org/officeDocument/2006/relationships/notesMaster" Target="/ppt/notesMasters/notesMaster1.xml" Id="R6a5baf82d4044a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6acdd865f845f8" /><Relationship Type="http://schemas.openxmlformats.org/officeDocument/2006/relationships/notesMaster" Target="/ppt/notesMasters/notesMaster1.xml" Id="Rebd4e22bb2694d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d64a68424e485f" /><Relationship Type="http://schemas.openxmlformats.org/officeDocument/2006/relationships/notesMaster" Target="/ppt/notesMasters/notesMaster1.xml" Id="Rd66284d8b0374c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04d03f238c4d91" /><Relationship Type="http://schemas.openxmlformats.org/officeDocument/2006/relationships/notesMaster" Target="/ppt/notesMasters/notesMaster1.xml" Id="Re6fc56cfce5043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6a6cacf518434e" /><Relationship Type="http://schemas.openxmlformats.org/officeDocument/2006/relationships/notesMaster" Target="/ppt/notesMasters/notesMaster1.xml" Id="R35bdb140812449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d5d6586508447b" /><Relationship Type="http://schemas.openxmlformats.org/officeDocument/2006/relationships/notesMaster" Target="/ppt/notesMasters/notesMaster1.xml" Id="R1f999a147ba442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1f042a013c4b7f" /><Relationship Type="http://schemas.openxmlformats.org/officeDocument/2006/relationships/notesMaster" Target="/ppt/notesMasters/notesMaster1.xml" Id="Rf12526e880b548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8b0aaaf47a4a1d" /><Relationship Type="http://schemas.openxmlformats.org/officeDocument/2006/relationships/notesMaster" Target="/ppt/notesMasters/notesMaster1.xml" Id="R4573d93ec07a4d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e5c11c00824a04" /><Relationship Type="http://schemas.openxmlformats.org/officeDocument/2006/relationships/notesMaster" Target="/ppt/notesMasters/notesMaster1.xml" Id="R7456094f741e4d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f82d660b05410d" /><Relationship Type="http://schemas.openxmlformats.org/officeDocument/2006/relationships/notesMaster" Target="/ppt/notesMasters/notesMaster1.xml" Id="Rcd463aefbb4e4b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316ae404574d5a" /><Relationship Type="http://schemas.openxmlformats.org/officeDocument/2006/relationships/notesMaster" Target="/ppt/notesMasters/notesMaster1.xml" Id="R727b5c5f033641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80d39214764fff" /><Relationship Type="http://schemas.openxmlformats.org/officeDocument/2006/relationships/notesMaster" Target="/ppt/notesMasters/notesMaster1.xml" Id="R0bc5aadec52a4c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c93a6516884baa" /><Relationship Type="http://schemas.openxmlformats.org/officeDocument/2006/relationships/notesMaster" Target="/ppt/notesMasters/notesMaster1.xml" Id="Ree8a717da3904a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add46f419e4f5c" /><Relationship Type="http://schemas.openxmlformats.org/officeDocument/2006/relationships/notesMaster" Target="/ppt/notesMasters/notesMaster1.xml" Id="Re86d995a069d4a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eedf8b746b498b" /><Relationship Type="http://schemas.openxmlformats.org/officeDocument/2006/relationships/notesMaster" Target="/ppt/notesMasters/notesMaster1.xml" Id="R225c10b498364c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0d8134d5884d0a" /><Relationship Type="http://schemas.openxmlformats.org/officeDocument/2006/relationships/notesMaster" Target="/ppt/notesMasters/notesMaster1.xml" Id="Rd200cff611ff4f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2e8b0cc63f4b30" /><Relationship Type="http://schemas.openxmlformats.org/officeDocument/2006/relationships/notesMaster" Target="/ppt/notesMasters/notesMaster1.xml" Id="R809845ea67834b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99a2d67fda42f1" /><Relationship Type="http://schemas.openxmlformats.org/officeDocument/2006/relationships/notesMaster" Target="/ppt/notesMasters/notesMaster1.xml" Id="R377d53ade4814f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3f4931f7804167" /><Relationship Type="http://schemas.openxmlformats.org/officeDocument/2006/relationships/notesMaster" Target="/ppt/notesMasters/notesMaster1.xml" Id="R9a416864f6b344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2c14a8cf5f4e22" /><Relationship Type="http://schemas.openxmlformats.org/officeDocument/2006/relationships/notesMaster" Target="/ppt/notesMasters/notesMaster1.xml" Id="R1f225d6c2afb46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a2ecc247134f1c" /><Relationship Type="http://schemas.openxmlformats.org/officeDocument/2006/relationships/notesMaster" Target="/ppt/notesMasters/notesMaster1.xml" Id="Ra79ea015375843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a3a6c38bd24dda" /><Relationship Type="http://schemas.openxmlformats.org/officeDocument/2006/relationships/notesMaster" Target="/ppt/notesMasters/notesMaster1.xml" Id="Rbf907e427e70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그림처럼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덴드라이트가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형성되는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순서대로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정리</a:t>
            </a:r>
            <a:r>
              <a:rPr>
                <a:latin typeface="Calibri"/>
                <a:ea typeface="Calibri"/>
                <a:cs typeface="Calibri"/>
              </a:rPr>
              <a:t>. </a:t>
            </a:r>
            <a:r>
              <a:rPr>
                <a:latin typeface="Calibri"/>
                <a:ea typeface="Calibri"/>
                <a:cs typeface="Calibri"/>
              </a:rPr>
              <a:t>예를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들어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따닥따닥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붙어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있으면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가시성이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좋지가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않으니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그림처럼</a:t>
            </a:r>
            <a:r>
              <a:rPr>
                <a:latin typeface="Calibri"/>
                <a:ea typeface="Calibri"/>
                <a:cs typeface="Calibri"/>
              </a:rPr>
              <a:t> </a:t>
            </a:r>
            <a:r>
              <a:rPr>
                <a:latin typeface="Calibri"/>
                <a:ea typeface="Calibri"/>
                <a:cs typeface="Calibri"/>
              </a:rPr>
              <a:t>화살표로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순서를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표현하면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좋겠음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질문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예상</a:t>
            </a:r>
            <a:r>
              <a:rPr>
                <a:latin typeface="Calibri"/>
                <a:ea typeface="Calibri"/>
                <a:cs typeface="Calibri"/>
              </a:rPr>
              <a:t>/ </a:t>
            </a:r>
            <a:r>
              <a:rPr>
                <a:latin typeface="Calibri"/>
                <a:ea typeface="Calibri"/>
                <a:cs typeface="Calibri"/>
              </a:rPr>
              <a:t>이온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농도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불균형이</a:t>
            </a:r>
            <a:r>
              <a:rPr>
                <a:latin typeface="Calibri"/>
                <a:ea typeface="Calibri"/>
                <a:cs typeface="Calibri"/>
              </a:rPr>
              <a:t> 왜 </a:t>
            </a:r>
            <a:r>
              <a:rPr>
                <a:latin typeface="Calibri"/>
                <a:ea typeface="Calibri"/>
                <a:cs typeface="Calibri"/>
              </a:rPr>
              <a:t>전기장을</a:t>
            </a:r>
            <a:r>
              <a:rPr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만드는가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&gt;</a:t>
            </a:r>
            <a:r>
              <a:t>전하의</a:t>
            </a:r>
            <a:r>
              <a:t> </a:t>
            </a:r>
            <a:r>
              <a:t>분포가</a:t>
            </a:r>
            <a:r>
              <a:t> </a:t>
            </a:r>
            <a:r>
              <a:t>공간적으로</a:t>
            </a:r>
            <a:r>
              <a:t> </a:t>
            </a:r>
            <a:r>
              <a:t>균일하지</a:t>
            </a:r>
            <a:r>
              <a:t> </a:t>
            </a:r>
            <a:r>
              <a:t>않기</a:t>
            </a:r>
            <a:r>
              <a:t> </a:t>
            </a:r>
            <a:r>
              <a:t>때문</a:t>
            </a:r>
            <a:r>
              <a:t>&gt; </a:t>
            </a:r>
            <a:r>
              <a:t>양이온과</a:t>
            </a:r>
            <a:r>
              <a:t> </a:t>
            </a:r>
            <a:r>
              <a:t>음이온의</a:t>
            </a:r>
            <a:r>
              <a:t> </a:t>
            </a:r>
            <a:r>
              <a:t>농도가</a:t>
            </a:r>
            <a:r>
              <a:t> </a:t>
            </a:r>
            <a:r>
              <a:t>다르면</a:t>
            </a:r>
            <a:r>
              <a:t> </a:t>
            </a:r>
            <a:r>
              <a:t>정전기적인</a:t>
            </a:r>
            <a:r>
              <a:t> </a:t>
            </a:r>
            <a:r>
              <a:t>포텐셜차이가</a:t>
            </a:r>
            <a:r>
              <a:t> </a:t>
            </a:r>
            <a:r>
              <a:t>생기고</a:t>
            </a:r>
            <a:r>
              <a:t> </a:t>
            </a:r>
            <a:r>
              <a:t>그로인해</a:t>
            </a:r>
            <a:r>
              <a:t> </a:t>
            </a:r>
            <a:r>
              <a:t>전기장</a:t>
            </a:r>
            <a:r>
              <a:t> </a:t>
            </a:r>
            <a:r>
              <a:t>형성</a:t>
            </a:r>
            <a:endParaRPr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endParaRPr b="1"/>
          </a:p>
          <a:p xmlns:a="http://schemas.openxmlformats.org/drawingml/2006/main">
            <a:endParaRPr b="1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b85b7c8b74e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70420a18c4b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0511b869243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0df6fbc2847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090cdd87b43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d43c5b0814f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7bc7ae5594f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e0981ce7143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68fcadd064af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3eb60f57d4f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a572323cf45d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BC269-C31A-494D-98DA-8F19021FA99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CE2AFE3-2D26-43A2-B9EE-476887CF34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9FDBE2-C948-48A0-BDE8-44ABEC69A1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7EBE8F-DDFB-4741-B40A-1FECD84873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8361A3-0D05-4A10-A7F4-21C0E2C5B6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0105B2-56AC-4B67-83C3-5069FAE9A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EB4C5F-868B-4B7A-8C43-ABC8B41532C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AC20E7-8396-454A-A135-53D8CFD11A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D31D7D-B832-4442-BF06-092EA91E23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702996-34E5-44BD-A452-94AF8A3514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453370-F8B8-4155-9066-566E49DD8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400EB7-76E0-4A77-9660-9261C5863E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50F953-BB5C-48DD-809D-9CF45A18B8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BCEB2-D666-43F4-BF9C-6B8BAB9139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A1E76-F99F-4E81-9727-648AEE1AE6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4DE8AA-EF1C-4C14-8B76-313B98546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1D77E-8DBA-44F7-B7F1-0D38F08235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87F2590-C1F0-4E76-933B-5BC530B95B2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CCCCE-6FBE-46BE-8DCF-FC8EC09926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B3B69A-C4FD-42AB-877A-EE20C1E816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81465F-6104-4023-81E0-EEC31EB355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7CDA62-BAB7-48E2-AF8C-5B65F6CD5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9A1DE2-6128-462A-BA1C-5B424D6E52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A9C80F1-1364-4DB3-B7FB-DDFB19FB80A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6556B24-173C-4EE0-A849-89B1A5E95A7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13D9A8-BBBD-4C0D-9F34-BFC0B27FD77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AD636EB-9E07-4CF6-A957-F0DBA5D80D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FFC0D94-6C2E-4D93-B832-025CDED9D1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828B517-2B3D-4E3D-BCA4-38C6AD9E36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832970-E0F0-4288-BC03-3972DE5D76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9E34D8F-5096-4FBC-9794-B7A79317CB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819DFA0-F35A-424A-B280-C7F69E9EB9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0FE1684-CE70-45E7-A506-7ECC85324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E55600C-9166-42F1-B052-30E428CBFC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71FDE2B-0F36-4860-BD2F-1984248F1D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FA6ADE-EC84-485C-A228-D2F90DDFFB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1670CA-B874-48D2-B0D7-A8ACBDD19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E88CAF-AC51-4536-8E03-6204AE62B1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D0B19DF-8204-46E8-A196-AD17738947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7390CC9-AC51-4C7B-8B9C-987B5758B4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1FFAFD-D551-4703-8703-02DEAE86F5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15D6C-8B9C-4AF4-8153-42E36280EA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ABD70F-2F85-4210-9671-F64AD2CF2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FBC6C1A-F94A-4F4D-9FBB-24EBDF4A017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8BA8C52-5B7E-44A1-8BDD-F6EF66A9E1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199D3DE-D735-44D8-B320-2916E727E9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FB683FD-F163-4D8B-85E1-2BB5D5E009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1B8F33-B462-4628-A849-49C1E269C1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3F205B-0421-48C9-B17D-A67069EC6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F56E53-0F5C-4C90-9C7A-E61248581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BBE3DE-7854-41C3-BFD9-3F1CAB46D7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A5BD73-117F-4EE2-A250-8F3A4399A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8232CF-8288-44F6-832C-C535569ABC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FCA0E37-A41C-4B81-B099-3D7347B86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4422FA-F278-4F13-826F-915CEF96BD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A64686-F903-4EE8-8921-88B2F709C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203F89-4405-45DA-AD60-A60C8DE3C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A78D24-B6FB-4A2A-97E0-DDC7B4BCA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11292624ec4e2a" /><Relationship Type="http://schemas.openxmlformats.org/officeDocument/2006/relationships/slideLayout" Target="/ppt/slideLayouts/slideLayout1.xml" Id="R32ce101c54f24909" /><Relationship Type="http://schemas.openxmlformats.org/officeDocument/2006/relationships/slideLayout" Target="/ppt/slideLayouts/slideLayout2.xml" Id="Rbecfed47acdc40d3" /><Relationship Type="http://schemas.openxmlformats.org/officeDocument/2006/relationships/slideLayout" Target="/ppt/slideLayouts/slideLayout3.xml" Id="R52e322b143d44c85" /><Relationship Type="http://schemas.openxmlformats.org/officeDocument/2006/relationships/slideLayout" Target="/ppt/slideLayouts/slideLayout4.xml" Id="R920bc07bc3184d4c" /><Relationship Type="http://schemas.openxmlformats.org/officeDocument/2006/relationships/slideLayout" Target="/ppt/slideLayouts/slideLayout5.xml" Id="R09df5eae11f94744" /><Relationship Type="http://schemas.openxmlformats.org/officeDocument/2006/relationships/slideLayout" Target="/ppt/slideLayouts/slideLayout6.xml" Id="R7615558297064850" /><Relationship Type="http://schemas.openxmlformats.org/officeDocument/2006/relationships/slideLayout" Target="/ppt/slideLayouts/slideLayout7.xml" Id="R22da21bc75474e4c" /><Relationship Type="http://schemas.openxmlformats.org/officeDocument/2006/relationships/slideLayout" Target="/ppt/slideLayouts/slideLayout8.xml" Id="R0c17b6a165b84984" /><Relationship Type="http://schemas.openxmlformats.org/officeDocument/2006/relationships/slideLayout" Target="/ppt/slideLayouts/slideLayout9.xml" Id="R558fce33b3984e6e" /><Relationship Type="http://schemas.openxmlformats.org/officeDocument/2006/relationships/slideLayout" Target="/ppt/slideLayouts/slideLayout10.xml" Id="R12dabe0fc95441cc" /><Relationship Type="http://schemas.openxmlformats.org/officeDocument/2006/relationships/slideLayout" Target="/ppt/slideLayouts/slideLayout11.xml" Id="Re3568f54081348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6A9B9C-CA19-45AB-9023-50189DC9E2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1F0ED3-EE83-4190-8134-F312AFB41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6644CA-21EC-41D7-A474-1641995AFC5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6/10/2025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FA7B6D-7FD0-4E70-832E-2662F0204A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47FC4D-345A-4144-B33F-62C90271B5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e101c54f24909"/>
    <p:sldLayoutId xmlns:r="http://schemas.openxmlformats.org/officeDocument/2006/relationships" id="2147483650" r:id="Rbecfed47acdc40d3"/>
    <p:sldLayoutId xmlns:r="http://schemas.openxmlformats.org/officeDocument/2006/relationships" id="2147483651" r:id="R52e322b143d44c85"/>
    <p:sldLayoutId xmlns:r="http://schemas.openxmlformats.org/officeDocument/2006/relationships" id="2147483652" r:id="R920bc07bc3184d4c"/>
    <p:sldLayoutId xmlns:r="http://schemas.openxmlformats.org/officeDocument/2006/relationships" id="2147483653" r:id="R09df5eae11f94744"/>
    <p:sldLayoutId xmlns:r="http://schemas.openxmlformats.org/officeDocument/2006/relationships" id="2147483654" r:id="R7615558297064850"/>
    <p:sldLayoutId xmlns:r="http://schemas.openxmlformats.org/officeDocument/2006/relationships" id="2147483655" r:id="R22da21bc75474e4c"/>
    <p:sldLayoutId xmlns:r="http://schemas.openxmlformats.org/officeDocument/2006/relationships" id="2147483656" r:id="R0c17b6a165b84984"/>
    <p:sldLayoutId xmlns:r="http://schemas.openxmlformats.org/officeDocument/2006/relationships" id="2147483657" r:id="R558fce33b3984e6e"/>
    <p:sldLayoutId xmlns:r="http://schemas.openxmlformats.org/officeDocument/2006/relationships" id="2147483658" r:id="R12dabe0fc95441cc"/>
    <p:sldLayoutId xmlns:r="http://schemas.openxmlformats.org/officeDocument/2006/relationships" id="2147483659" r:id="Re3568f540813480c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830eb62541417a" /><Relationship Type="http://schemas.openxmlformats.org/officeDocument/2006/relationships/image" Target="/ppt/media/image.png" Id="Reea5d7c45a2642ee" /><Relationship Type="http://schemas.openxmlformats.org/officeDocument/2006/relationships/image" Target="/ppt/media/image2.png" Id="Rc94812630a8d4fb7" /><Relationship Type="http://schemas.openxmlformats.org/officeDocument/2006/relationships/image" Target="/ppt/media/image3.png" Id="R12dd07e609454322" /><Relationship Type="http://schemas.openxmlformats.org/officeDocument/2006/relationships/notesSlide" Target="/ppt/notesSlides/notesSlide1.xml" Id="Rf1b48386766b4d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b814457070480e" /><Relationship Type="http://schemas.openxmlformats.org/officeDocument/2006/relationships/image" Target="/ppt/media/image4.png" Id="R9ae590cf9f444ffa" /><Relationship Type="http://schemas.openxmlformats.org/officeDocument/2006/relationships/image" Target="/ppt/media/image5.png" Id="R96c0b09695b347d7" /><Relationship Type="http://schemas.openxmlformats.org/officeDocument/2006/relationships/notesSlide" Target="/ppt/notesSlides/notesSlide2.xml" Id="R8e35ed4db64748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969b95e5fc4b4d" /><Relationship Type="http://schemas.openxmlformats.org/officeDocument/2006/relationships/image" Target="/ppt/media/image4.png" Id="Rcccaf6b9927f45f9" /><Relationship Type="http://schemas.openxmlformats.org/officeDocument/2006/relationships/image" Target="/ppt/media/image6.png" Id="R5b88fcc7f09e48e7" /><Relationship Type="http://schemas.openxmlformats.org/officeDocument/2006/relationships/image" Target="/ppt/media/image7.png" Id="Rae2ec089fe5740f5" /><Relationship Type="http://schemas.openxmlformats.org/officeDocument/2006/relationships/image" Target="/ppt/media/image8.png" Id="R0068415c4f964fa7" /><Relationship Type="http://schemas.openxmlformats.org/officeDocument/2006/relationships/image" Target="/ppt/media/image9.png" Id="R4a5b90af08b94155" /><Relationship Type="http://schemas.openxmlformats.org/officeDocument/2006/relationships/image" Target="/ppt/media/image10.png" Id="Reca0e02c03dc46b0" /><Relationship Type="http://schemas.openxmlformats.org/officeDocument/2006/relationships/image" Target="/ppt/media/image11.png" Id="Ra3dd1fa6f4b94948" /><Relationship Type="http://schemas.openxmlformats.org/officeDocument/2006/relationships/image" Target="/ppt/media/image12.png" Id="R5a1f53b9490c4248" /><Relationship Type="http://schemas.openxmlformats.org/officeDocument/2006/relationships/notesSlide" Target="/ppt/notesSlides/notesSlide3.xml" Id="Ree1b96e5270a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6640516fc74136" /><Relationship Type="http://schemas.openxmlformats.org/officeDocument/2006/relationships/image" Target="/ppt/media/image4.png" Id="R5ae7ce22ad3348f1" /><Relationship Type="http://schemas.openxmlformats.org/officeDocument/2006/relationships/image" Target="/ppt/media/image.jpeg" Id="Rf880f3efb6a34cb2" /><Relationship Type="http://schemas.openxmlformats.org/officeDocument/2006/relationships/image" Target="/ppt/media/image2.jpeg" Id="R2b62f0c4cc354acf" /><Relationship Type="http://schemas.openxmlformats.org/officeDocument/2006/relationships/notesSlide" Target="/ppt/notesSlides/notesSlide4.xml" Id="R928f3e8a3500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9b5685d5314a49" /><Relationship Type="http://schemas.openxmlformats.org/officeDocument/2006/relationships/image" Target="/ppt/media/image13.png" Id="Rd05ebe9843c546f1" /><Relationship Type="http://schemas.openxmlformats.org/officeDocument/2006/relationships/image" Target="/ppt/media/image14.png" Id="Rc3df3179e10f487b" /><Relationship Type="http://schemas.openxmlformats.org/officeDocument/2006/relationships/image" Target="/ppt/media/image15.png" Id="Rc59d8f7b60f6401f" /><Relationship Type="http://schemas.openxmlformats.org/officeDocument/2006/relationships/image" Target="/ppt/media/image16.png" Id="R1800c2f001c64a2a" /><Relationship Type="http://schemas.openxmlformats.org/officeDocument/2006/relationships/image" Target="/ppt/media/image17.png" Id="R13a0fb4a362a4a5f" /><Relationship Type="http://schemas.openxmlformats.org/officeDocument/2006/relationships/image" Target="/ppt/media/image18.png" Id="R0de011d7f5b346f5" /><Relationship Type="http://schemas.openxmlformats.org/officeDocument/2006/relationships/image" Target="/ppt/media/image19.png" Id="R12ccdd09450e4b81" /><Relationship Type="http://schemas.openxmlformats.org/officeDocument/2006/relationships/image" Target="/ppt/media/image20.png" Id="R2c59df5dd8704a80" /><Relationship Type="http://schemas.openxmlformats.org/officeDocument/2006/relationships/image" Target="/ppt/media/image4.png" Id="Rad8fba1591fe4789" /><Relationship Type="http://schemas.openxmlformats.org/officeDocument/2006/relationships/notesSlide" Target="/ppt/notesSlides/notesSlide5.xml" Id="R28c2a58356c64b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c7a1da93bc460b" /><Relationship Type="http://schemas.openxmlformats.org/officeDocument/2006/relationships/image" Target="/ppt/media/image4.png" Id="R79780761fd1d4b47" /><Relationship Type="http://schemas.openxmlformats.org/officeDocument/2006/relationships/image" Target="/ppt/media/image21.png" Id="R1b4f57bc0341408c" /><Relationship Type="http://schemas.openxmlformats.org/officeDocument/2006/relationships/image" Target="/ppt/media/image22.png" Id="R0b0167e4dffa443d" /><Relationship Type="http://schemas.openxmlformats.org/officeDocument/2006/relationships/notesSlide" Target="/ppt/notesSlides/notesSlide6.xml" Id="R641ef5861c1546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30406a84e142e5" /><Relationship Type="http://schemas.openxmlformats.org/officeDocument/2006/relationships/image" Target="/ppt/media/image4.png" Id="R9944058ceeaa4445" /><Relationship Type="http://schemas.openxmlformats.org/officeDocument/2006/relationships/image" Target="/ppt/media/image23.png" Id="R25f5893cb9ac4a06" /><Relationship Type="http://schemas.openxmlformats.org/officeDocument/2006/relationships/notesSlide" Target="/ppt/notesSlides/notesSlide7.xml" Id="R0800885fb14145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34fb3f0b40432a" /><Relationship Type="http://schemas.openxmlformats.org/officeDocument/2006/relationships/image" Target="/ppt/media/image4.png" Id="R5dc36bf0d8094bc5" /><Relationship Type="http://schemas.openxmlformats.org/officeDocument/2006/relationships/image" Target="/ppt/media/image24.png" Id="R546f75f4be0249bc" /><Relationship Type="http://schemas.openxmlformats.org/officeDocument/2006/relationships/notesSlide" Target="/ppt/notesSlides/notesSlide8.xml" Id="R23c4c0d1b08c41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eff29e796143ae" /><Relationship Type="http://schemas.openxmlformats.org/officeDocument/2006/relationships/image" Target="/ppt/media/image4.png" Id="Rbe2245d200ea4b26" /><Relationship Type="http://schemas.openxmlformats.org/officeDocument/2006/relationships/image" Target="/ppt/media/image25.png" Id="R7a2dc1a8a99a4116" /><Relationship Type="http://schemas.openxmlformats.org/officeDocument/2006/relationships/notesSlide" Target="/ppt/notesSlides/notesSlide9.xml" Id="R7d2c7bc016d541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c98d1deb0b4bda" /><Relationship Type="http://schemas.openxmlformats.org/officeDocument/2006/relationships/image" Target="/ppt/media/image4.png" Id="R082130e501ba4aaf" /><Relationship Type="http://schemas.openxmlformats.org/officeDocument/2006/relationships/image" Target="/ppt/media/image26.png" Id="R27e0422dbf0240b7" /><Relationship Type="http://schemas.openxmlformats.org/officeDocument/2006/relationships/image" Target="/ppt/media/image27.png" Id="Rc49b172b7c924e27" /><Relationship Type="http://schemas.openxmlformats.org/officeDocument/2006/relationships/image" Target="/ppt/media/image28.png" Id="R4014e4d9b60f420d" /><Relationship Type="http://schemas.openxmlformats.org/officeDocument/2006/relationships/notesSlide" Target="/ppt/notesSlides/notesSlide10.xml" Id="Re394116e504c43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dbc418320b4120" /><Relationship Type="http://schemas.openxmlformats.org/officeDocument/2006/relationships/image" Target="/ppt/media/image4.png" Id="R569761f6ebad4f03" /><Relationship Type="http://schemas.openxmlformats.org/officeDocument/2006/relationships/image" Target="/ppt/media/image29.png" Id="R1266fabefc6a4c1c" /><Relationship Type="http://schemas.openxmlformats.org/officeDocument/2006/relationships/image" Target="/ppt/media/image30.png" Id="R373ac03d0b9a4ec6" /><Relationship Type="http://schemas.openxmlformats.org/officeDocument/2006/relationships/notesSlide" Target="/ppt/notesSlides/notesSlide11.xml" Id="R205060c9a2eb4c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0ea04e41c4476d" /><Relationship Type="http://schemas.openxmlformats.org/officeDocument/2006/relationships/image" Target="/ppt/media/image4.png" Id="Rb267e0d88c0c43c4" /><Relationship Type="http://schemas.openxmlformats.org/officeDocument/2006/relationships/image" Target="/ppt/media/image31.png" Id="Rf1d32a1ec8504514" /><Relationship Type="http://schemas.openxmlformats.org/officeDocument/2006/relationships/notesSlide" Target="/ppt/notesSlides/notesSlide12.xml" Id="Rb123e63a89814e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4264fbafde48e9" /><Relationship Type="http://schemas.openxmlformats.org/officeDocument/2006/relationships/image" Target="/ppt/media/image4.png" Id="R5adb83f58a4d4404" /><Relationship Type="http://schemas.openxmlformats.org/officeDocument/2006/relationships/image" Target="/ppt/media/image32.png" Id="Rae928a6d00d24513" /><Relationship Type="http://schemas.openxmlformats.org/officeDocument/2006/relationships/image" Target="/ppt/media/image33.png" Id="Rf51cfe4edd494857" /><Relationship Type="http://schemas.openxmlformats.org/officeDocument/2006/relationships/notesSlide" Target="/ppt/notesSlides/notesSlide13.xml" Id="R2430a933bdd049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45e7a09a3c481c" /><Relationship Type="http://schemas.openxmlformats.org/officeDocument/2006/relationships/image" Target="/ppt/media/image4.png" Id="R0a003684e35a4eb4" /><Relationship Type="http://schemas.openxmlformats.org/officeDocument/2006/relationships/image" Target="/ppt/media/image34.png" Id="R83701558adb749d7" /><Relationship Type="http://schemas.openxmlformats.org/officeDocument/2006/relationships/image" Target="/ppt/media/image35.png" Id="Rb10b5bd2e3b24a1e" /><Relationship Type="http://schemas.openxmlformats.org/officeDocument/2006/relationships/notesSlide" Target="/ppt/notesSlides/notesSlide14.xml" Id="Rf48f2cc1d94a43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7ba60dc4434e66" /><Relationship Type="http://schemas.openxmlformats.org/officeDocument/2006/relationships/image" Target="/ppt/media/image4.png" Id="R21ad1c94246c48af" /><Relationship Type="http://schemas.openxmlformats.org/officeDocument/2006/relationships/image" Target="/ppt/media/image36.png" Id="Rf21dfa8045e048a4" /><Relationship Type="http://schemas.openxmlformats.org/officeDocument/2006/relationships/image" Target="/ppt/media/image37.png" Id="R9811d03fa5264643" /><Relationship Type="http://schemas.openxmlformats.org/officeDocument/2006/relationships/notesSlide" Target="/ppt/notesSlides/notesSlide15.xml" Id="R9c462a26b88440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44f8bd27a142f0" /><Relationship Type="http://schemas.openxmlformats.org/officeDocument/2006/relationships/image" Target="/ppt/media/image4.png" Id="Rd3df8874284640eb" /><Relationship Type="http://schemas.openxmlformats.org/officeDocument/2006/relationships/image" Target="/ppt/media/image38.png" Id="R7967f4b9f34e4d18" /><Relationship Type="http://schemas.openxmlformats.org/officeDocument/2006/relationships/notesSlide" Target="/ppt/notesSlides/notesSlide16.xml" Id="Rb581ff2ee7b34e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772f9cd74e41e8" /><Relationship Type="http://schemas.openxmlformats.org/officeDocument/2006/relationships/image" Target="/ppt/media/image4.png" Id="R8a46fd6d06104cc8" /><Relationship Type="http://schemas.openxmlformats.org/officeDocument/2006/relationships/image" Target="/ppt/media/image39.png" Id="R6a31f16c393a43e9" /><Relationship Type="http://schemas.openxmlformats.org/officeDocument/2006/relationships/image" Target="/ppt/media/image40.png" Id="Rc8cc547df0cf442f" /><Relationship Type="http://schemas.openxmlformats.org/officeDocument/2006/relationships/notesSlide" Target="/ppt/notesSlides/notesSlide17.xml" Id="Re82817cdeb5747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1f300609524f02" /><Relationship Type="http://schemas.openxmlformats.org/officeDocument/2006/relationships/image" Target="/ppt/media/image4.png" Id="R9c808fe1acd4478c" /><Relationship Type="http://schemas.openxmlformats.org/officeDocument/2006/relationships/image" Target="/ppt/media/image41.png" Id="R62679ff5b886445e" /><Relationship Type="http://schemas.openxmlformats.org/officeDocument/2006/relationships/notesSlide" Target="/ppt/notesSlides/notesSlide18.xml" Id="Rb1298e1cfcf848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cc1f426bd84911" /><Relationship Type="http://schemas.openxmlformats.org/officeDocument/2006/relationships/image" Target="/ppt/media/image4.png" Id="Rf1471b6ba49d4c7c" /><Relationship Type="http://schemas.openxmlformats.org/officeDocument/2006/relationships/image" Target="/ppt/media/image42.png" Id="R3093d3299b9f4050" /><Relationship Type="http://schemas.openxmlformats.org/officeDocument/2006/relationships/image" Target="/ppt/media/image43.png" Id="Rdf38e7c5826e4def" /><Relationship Type="http://schemas.openxmlformats.org/officeDocument/2006/relationships/notesSlide" Target="/ppt/notesSlides/notesSlide19.xml" Id="Rcabb39d0c85f47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8d75327c134625" /><Relationship Type="http://schemas.openxmlformats.org/officeDocument/2006/relationships/image" Target="/ppt/media/image4.png" Id="R6887d297365d4c49" /><Relationship Type="http://schemas.openxmlformats.org/officeDocument/2006/relationships/image" Target="/ppt/media/image44.png" Id="R44599da4cf57400c" /><Relationship Type="http://schemas.openxmlformats.org/officeDocument/2006/relationships/notesSlide" Target="/ppt/notesSlides/notesSlide20.xml" Id="R72b764092b8a40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0a50b8361649e0" /><Relationship Type="http://schemas.openxmlformats.org/officeDocument/2006/relationships/image" Target="/ppt/media/image4.png" Id="Rdcc87ac8d4444ad8" /><Relationship Type="http://schemas.openxmlformats.org/officeDocument/2006/relationships/image" Target="/ppt/media/image45.png" Id="Rf6713365b93f4865" /><Relationship Type="http://schemas.openxmlformats.org/officeDocument/2006/relationships/notesSlide" Target="/ppt/notesSlides/notesSlide21.xml" Id="R6d0c7c1753824d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8e336b519c4329" /><Relationship Type="http://schemas.openxmlformats.org/officeDocument/2006/relationships/image" Target="/ppt/media/image4.png" Id="Rff2120f7e0254e04" /><Relationship Type="http://schemas.openxmlformats.org/officeDocument/2006/relationships/notesSlide" Target="/ppt/notesSlides/notesSlide22.xml" Id="Rff9f3ff6a4de4c5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de994678234e9a" /><Relationship Type="http://schemas.openxmlformats.org/officeDocument/2006/relationships/image" Target="/ppt/media/image4.png" Id="R7821b6a743714f1d" /><Relationship Type="http://schemas.openxmlformats.org/officeDocument/2006/relationships/hyperlink" Target="https://doi.org/10.1002/adma.202407381" TargetMode="External" Id="R28b2c5754c4746c7" /><Relationship Type="http://schemas.openxmlformats.org/officeDocument/2006/relationships/hyperlink" Target="https://doi.org/10.1016/j.matt.2020.10.021" TargetMode="External" Id="Ra412af8e9ab24041" /><Relationship Type="http://schemas.openxmlformats.org/officeDocument/2006/relationships/hyperlink" Target="https://doi.org/10.1149/2.1111809jes" TargetMode="External" Id="Rfee2ef6c1dcd475d" /><Relationship Type="http://schemas.openxmlformats.org/officeDocument/2006/relationships/hyperlink" Target="https://doi.org/10.1007/s11581-024-05919-1" TargetMode="External" Id="R87e1e94417584f30" /><Relationship Type="http://schemas.openxmlformats.org/officeDocument/2006/relationships/hyperlink" Target="https://doi.org/10.1002/adma.202407381" TargetMode="External" Id="R8bd177ce0ce447ad" /><Relationship Type="http://schemas.openxmlformats.org/officeDocument/2006/relationships/hyperlink" Target="https://doi.org/10.1016/j.electacta.2023.142559" TargetMode="External" Id="R6d430af596b94416" /><Relationship Type="http://schemas.openxmlformats.org/officeDocument/2006/relationships/notesSlide" Target="/ppt/notesSlides/notesSlide23.xml" Id="R4cc0dd2fd51545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97c811e5414646" /><Relationship Type="http://schemas.openxmlformats.org/officeDocument/2006/relationships/image" Target="/ppt/media/image4.png" Id="R592207312ce14db0" /><Relationship Type="http://schemas.openxmlformats.org/officeDocument/2006/relationships/hyperlink" Target="https://doi.org/10.1039/C8TA07997H" TargetMode="External" Id="Rd1bd1867922e4a5b" /><Relationship Type="http://schemas.openxmlformats.org/officeDocument/2006/relationships/hyperlink" Target="https://doi.org/10.1039/C8TA07997H" TargetMode="External" Id="Rd3fa1df41959469a" /><Relationship Type="http://schemas.openxmlformats.org/officeDocument/2006/relationships/hyperlink" Target="https://doi.org/10.1039/C8TA07997H" TargetMode="External" Id="R812a6034c3b64d9a" /><Relationship Type="http://schemas.openxmlformats.org/officeDocument/2006/relationships/hyperlink" Target="https://doi.org/10.1039/C8TA07997H" TargetMode="External" Id="R669289198bba4ba3" /><Relationship Type="http://schemas.openxmlformats.org/officeDocument/2006/relationships/hyperlink" Target="https://doi.org/10.1039/C8TA07997H" TargetMode="External" Id="R38d299f9af3d4edb" /><Relationship Type="http://schemas.openxmlformats.org/officeDocument/2006/relationships/hyperlink" Target="https://doi.org/10.1039/C8TA07997H" TargetMode="External" Id="R127414d6bf914baa" /><Relationship Type="http://schemas.openxmlformats.org/officeDocument/2006/relationships/hyperlink" Target="https://www.researchgate.net/figure/SEM-images-of-the-surface-of-the-lithium-showing-isles-SEM-images-a-at-high_fig5_337290873" TargetMode="External" Id="R4c035616f903496c" /><Relationship Type="http://schemas.openxmlformats.org/officeDocument/2006/relationships/hyperlink" Target="https://doi.org/10.1038/s41467-018-06126-z" TargetMode="External" Id="Rca88fb2c232f42c7" /><Relationship Type="http://schemas.openxmlformats.org/officeDocument/2006/relationships/hyperlink" Target="https://doi.org/10.1039/D3QM01151H" TargetMode="External" Id="R26cc5b59abfa46ef" /><Relationship Type="http://schemas.openxmlformats.org/officeDocument/2006/relationships/hyperlink" Target="https://doi.org/10.1016/j.nanoen.2024.110086" TargetMode="External" Id="R631aa09174ba4d2c" /><Relationship Type="http://schemas.openxmlformats.org/officeDocument/2006/relationships/hyperlink" Target="https://doi.org/10.1038/s41467-018-06126-z" TargetMode="External" Id="R4e734f0b7bd34818" /><Relationship Type="http://schemas.openxmlformats.org/officeDocument/2006/relationships/hyperlink" Target="https://doi.org/10.1002/chem.202302867" TargetMode="External" Id="R4e591b101d834569" /><Relationship Type="http://schemas.openxmlformats.org/officeDocument/2006/relationships/notesSlide" Target="/ppt/notesSlides/notesSlide24.xml" Id="R56e11f43fba54c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9CACA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5d7c45a26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941" y="739280"/>
            <a:ext cx="16967200" cy="9156700"/>
          </a:xfrm>
          <a:prstGeom xmlns:a="http://schemas.openxmlformats.org/drawingml/2006/main" prst="rect">
            <a:avLst/>
          </a:prstGeom>
        </p:spPr>
      </p:pic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812630a8d4f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8100" y="5765800"/>
            <a:ext cx="15684500" cy="25400"/>
          </a:xfrm>
          <a:prstGeom xmlns:a="http://schemas.openxmlformats.org/drawingml/2006/main" prst="rect">
            <a:avLst/>
          </a:prstGeom>
        </p:spPr>
      </p:pic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8E8F230-19FE-49BB-96E2-10A7DA68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20800"/>
            <a:ext cx="7162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>
                <a:solidFill>
                  <a:srgbClr val="383838"/>
                </a:solidFill>
              </a:rPr>
              <a:t>에너지 재료 설계</a:t>
            </a:r>
            <a:endParaRPr sz="3600" b="0" i="0" u="none">
              <a:solidFill>
                <a:srgbClr val="383838"/>
              </a:solidFill>
            </a:endParaRP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499D07A-6D22-4C0B-BE33-B3B2B59D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346450"/>
            <a:ext cx="15582900" cy="311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54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Co-Doped </a:t>
            </a:r>
            <a:r>
              <a:rPr sz="54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ZnO</a:t>
            </a:r>
            <a:r>
              <a:rPr sz="54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 GZCNT Coating for Long-Life Li-Metal Anodes in EVs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58ACA87-A9FB-4231-ABC8-7C3CDC33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300" y="8724900"/>
            <a:ext cx="28956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2400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프로젝트 발표 자료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482FBA9-888C-4B15-8543-991A17CC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223" y="8115300"/>
            <a:ext cx="9156700" cy="82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342900" lvl="0" indent="-342900" algn="l">
              <a:lnSpc>
                <a:spcPct val="133630"/>
              </a:lnSpc>
              <a:buFont typeface="Wingdings"/>
              <a:buChar char="l"/>
            </a:pPr>
            <a:r>
              <a:rPr sz="2200">
                <a:solidFill>
                  <a:srgbClr val="383838"/>
                </a:solidFill>
                <a:latin typeface="Pretendard Light"/>
                <a:ea typeface="Pretendard Light"/>
                <a:cs typeface="Pretendard Light"/>
              </a:rPr>
              <a:t>개인 포트폴리오 공개본</a:t>
            </a:r>
            <a:endParaRPr sz="2200" b="0" i="0" u="none">
              <a:solidFill>
                <a:srgbClr val="383838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dd07e609454322">
            <a:alphaModFix/>
          </a:blip>
          <a:srcRect xmlns:a="http://schemas.openxmlformats.org/drawingml/2006/main" l="17627" t="20758" r="17699" b="14583"/>
          <a:stretch xmlns:a="http://schemas.openxmlformats.org/drawingml/2006/main"/>
        </p:blipFill>
        <p:spPr>
          <a:xfrm xmlns:a="http://schemas.openxmlformats.org/drawingml/2006/main">
            <a:off x="16306482" y="764198"/>
            <a:ext cx="1224915" cy="12246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62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312CE7E-00B3-3E11-5DFD-D10DBAB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pic>
        <p:nvPicPr>
          <p:cNvPr id="23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590cf9f44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E24BA64-436E-57E0-D369-8E1CB1F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86487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Design Objective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0b09695b347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4679" y="2722254"/>
            <a:ext cx="9049658" cy="5396365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A82D15E-C83E-B731-CE56-035CBAC1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216" y="8109909"/>
            <a:ext cx="906286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t>L</a:t>
            </a:r>
            <a:r>
              <a:t>Xu</a:t>
            </a:r>
            <a:r>
              <a:t>, W., Wang, J., Ding, F., Chen, X., </a:t>
            </a:r>
            <a:r>
              <a:t>Nasybulin</a:t>
            </a:r>
            <a:r>
              <a:t>, E., Zhang, Y., &amp; Zhang, J. (2014). </a:t>
            </a:r>
            <a:r>
              <a:rPr i="1"/>
              <a:t>Lithium metal anodes for rechargeable batteries</a:t>
            </a:r>
            <a:r>
              <a:t>. </a:t>
            </a:r>
            <a:r>
              <a:rPr b="1"/>
              <a:t>Energy &amp; Environmental Science</a:t>
            </a:r>
            <a:r>
              <a:t>, 7(2), 513–537. https://doi.org/10.1039/C3EE40795K:contentReference[oaicite:5]{index=5}</a:t>
            </a: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B7AC990-09B7-647A-828E-60C2E193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1213"/>
            <a:ext cx="7637824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v"/>
            </a:pPr>
            <a:r>
              <a:rPr sz="2800" b="1">
                <a:latin typeface="+mj-ea"/>
                <a:ea typeface="+mj-ea"/>
                <a:cs typeface="+mj-ea"/>
              </a:rPr>
              <a:t>차세대 리튬 이차전지 음극 소재로 주목받는 리튬 금속은 높은 에너지 밀도에도 불구하고</a:t>
            </a:r>
            <a:r>
              <a:rPr sz="2800" b="1">
                <a:latin typeface="+mj-ea"/>
                <a:ea typeface="+mj-ea"/>
                <a:cs typeface="+mj-ea"/>
              </a:rPr>
              <a:t>, dendrite </a:t>
            </a:r>
            <a:r>
              <a:rPr sz="2800" b="1">
                <a:latin typeface="+mj-ea"/>
                <a:ea typeface="+mj-ea"/>
                <a:cs typeface="+mj-ea"/>
              </a:rPr>
              <a:t>형성으로 인한 수명 저하가 주요 문제로 작용</a:t>
            </a:r>
            <a:r>
              <a:rPr sz="2800" b="1">
                <a:latin typeface="+mj-ea"/>
                <a:ea typeface="+mj-ea"/>
                <a:cs typeface="+mj-ea"/>
              </a:rPr>
              <a:t>.</a:t>
            </a:r>
            <a:endParaRPr sz="2800" b="1">
              <a:latin typeface="+mj-ea"/>
              <a:ea typeface="+mj-ea"/>
              <a:cs typeface="+mj-ea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943E720-C3AF-B8C6-CD6C-BE5ABDB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6994"/>
            <a:ext cx="7637824" cy="2308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Ø"/>
            </a:pPr>
            <a:r>
              <a:rPr sz="2400" b="1">
                <a:latin typeface="+mj-ea"/>
                <a:ea typeface="+mj-ea"/>
                <a:cs typeface="+mj-ea"/>
              </a:rPr>
              <a:t>하부 </a:t>
            </a:r>
            <a:r>
              <a:rPr sz="2400" b="1">
                <a:latin typeface="+mj-ea"/>
                <a:ea typeface="+mj-ea"/>
                <a:cs typeface="+mj-ea"/>
              </a:rPr>
              <a:t>도핑된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ZnO</a:t>
            </a:r>
            <a:r>
              <a:rPr sz="2400" b="1">
                <a:latin typeface="+mj-ea"/>
                <a:ea typeface="+mj-ea"/>
                <a:cs typeface="+mj-ea"/>
              </a:rPr>
              <a:t> 층과 상부 </a:t>
            </a:r>
            <a:r>
              <a:rPr sz="2400" b="1">
                <a:latin typeface="+mj-ea"/>
                <a:ea typeface="+mj-ea"/>
                <a:cs typeface="+mj-ea"/>
              </a:rPr>
              <a:t>CNT </a:t>
            </a:r>
            <a:r>
              <a:rPr sz="2400" b="1">
                <a:latin typeface="+mj-ea"/>
                <a:ea typeface="+mj-ea"/>
                <a:cs typeface="+mj-ea"/>
              </a:rPr>
              <a:t>층으로 구성된 </a:t>
            </a:r>
            <a:r>
              <a:rPr sz="2400" b="1">
                <a:latin typeface="+mj-ea"/>
                <a:ea typeface="+mj-ea"/>
                <a:cs typeface="+mj-ea"/>
              </a:rPr>
              <a:t>GZCNT </a:t>
            </a:r>
            <a:r>
              <a:rPr sz="2400" b="1">
                <a:latin typeface="+mj-ea"/>
                <a:ea typeface="+mj-ea"/>
                <a:cs typeface="+mj-ea"/>
              </a:rPr>
              <a:t>구조를 도입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Dendrite </a:t>
            </a:r>
            <a:r>
              <a:rPr sz="2400" b="1">
                <a:latin typeface="+mj-ea"/>
                <a:ea typeface="+mj-ea"/>
                <a:cs typeface="+mj-ea"/>
              </a:rPr>
              <a:t>성장을 억제하여 리튬 금속 음극의 수명을 향상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전류 분포 균일화</a:t>
            </a:r>
            <a:r>
              <a:rPr sz="2400" b="1">
                <a:latin typeface="+mj-ea"/>
                <a:ea typeface="+mj-ea"/>
                <a:cs typeface="+mj-ea"/>
              </a:rPr>
              <a:t>, </a:t>
            </a:r>
            <a:r>
              <a:rPr sz="2400" b="1">
                <a:latin typeface="+mj-ea"/>
                <a:ea typeface="+mj-ea"/>
                <a:cs typeface="+mj-ea"/>
              </a:rPr>
              <a:t>리튬의 안정적인 석출 유도</a:t>
            </a:r>
            <a:endParaRPr sz="2400" b="1">
              <a:latin typeface="+mj-ea"/>
              <a:ea typeface="+mj-ea"/>
              <a:cs typeface="+mj-ea"/>
            </a:endParaRPr>
          </a:p>
        </p:txBody>
      </p:sp>
      <p:sp>
        <p:nvSpPr>
          <p:cNvPr id="11" name="화살표: 아래쪽 10">
            <a:extLst xmlns:a="http://schemas.openxmlformats.org/drawingml/2006/main">
              <a:ext uri="{FF2B5EF4-FFF2-40B4-BE49-F238E27FC236}">
                <a16:creationId xmlns:a16="http://schemas.microsoft.com/office/drawing/2014/main" id="{1E5EB9AA-3362-C40A-AAD9-996F29D9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736" y="4879053"/>
            <a:ext cx="632952" cy="581333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305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af6b9927f45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3670300"/>
            <a:ext cx="19583400" cy="254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8fcc7f09e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4800" y="5143500"/>
            <a:ext cx="18897600" cy="254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ec089fe57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14300" y="6616700"/>
            <a:ext cx="18516600" cy="254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8415c4f964f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88900" y="8089900"/>
            <a:ext cx="18453100" cy="254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b90af08b9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76200" y="9575800"/>
            <a:ext cx="18427700" cy="254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0e02c03dc46b0">
            <a:alphaModFix amt="1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03300" y="5143500"/>
            <a:ext cx="20167600" cy="14859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d1fa6f4b94948">
            <a:alphaModFix amt="1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85750" y="8183409"/>
            <a:ext cx="18732500" cy="15494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f53b9490c4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03300" y="9575800"/>
            <a:ext cx="20167600" cy="736600"/>
          </a:xfrm>
          <a:prstGeom xmlns:a="http://schemas.openxmlformats.org/drawingml/2006/main" prst="rect">
            <a:avLst/>
          </a:prstGeom>
        </p:spPr>
      </p:pic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E1A78C-26BF-488D-B3AD-87B7A0AF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87500"/>
            <a:ext cx="11049000" cy="135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10800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목차</a:t>
            </a:r>
            <a:endParaRPr sz="10800" b="0" i="0" u="none">
              <a:solidFill>
                <a:srgbClr val="7E8C8A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DCD65F7-2855-4676-94DC-1AC83E7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00" y="3975100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33630"/>
              </a:lnSpc>
              <a:buNone/>
            </a:pPr>
            <a:r>
              <a:rPr sz="3400">
                <a:solidFill>
                  <a:srgbClr val="383838"/>
                </a:solidFill>
              </a:rPr>
              <a:t>Li metal VS Graphite</a:t>
            </a:r>
            <a:endParaRPr sz="3400" b="0" i="0" u="none">
              <a:solidFill>
                <a:srgbClr val="383838"/>
              </a:solidFill>
            </a:endParaR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B9C8C2A-D0B3-4503-B688-6467C87A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4C362C8-744A-4EA8-AB95-C11E5FA3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39228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>
              <a:lnSpc>
                <a:spcPct val="133630"/>
              </a:lnSpc>
              <a:buNone/>
            </a:pPr>
            <a:r>
              <a:rPr sz="3400">
                <a:solidFill>
                  <a:srgbClr val="383838"/>
                </a:solidFill>
              </a:rPr>
              <a:t>Dendrite</a:t>
            </a:r>
            <a:r>
              <a:rPr sz="3400">
                <a:solidFill>
                  <a:srgbClr val="383838"/>
                </a:solidFill>
              </a:rPr>
              <a:t> </a:t>
            </a:r>
            <a:r>
              <a:rPr sz="3400">
                <a:solidFill>
                  <a:srgbClr val="383838"/>
                </a:solidFill>
              </a:rPr>
              <a:t>Growth</a:t>
            </a:r>
            <a:endParaRPr sz="3400" b="0" i="0" u="none">
              <a:solidFill>
                <a:srgbClr val="383838"/>
              </a:solidFill>
            </a:endParaR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4DA14CD-8335-4B78-94B2-2057D46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4076700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6ED7542-D3C2-41F6-9E3D-92CA67F2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5443844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33630"/>
              </a:lnSpc>
              <a:buNone/>
            </a:pPr>
            <a:r>
              <a:rPr sz="3400" b="0" i="0" u="none">
                <a:solidFill>
                  <a:srgbClr val="383838"/>
                </a:solidFill>
              </a:rPr>
              <a:t>CNT</a:t>
            </a:r>
            <a:endParaRPr sz="3400" b="0" i="0" u="none">
              <a:solidFill>
                <a:srgbClr val="383838"/>
              </a:solidFill>
            </a:endParaRP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6BC9B5-40CD-494C-980E-DEF02198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13400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0100098-94D3-41DE-800B-674F5FD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27356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33630"/>
              </a:lnSpc>
              <a:buNone/>
            </a:pPr>
            <a:r>
              <a:rPr sz="3400">
                <a:solidFill>
                  <a:srgbClr val="383838"/>
                </a:solidFill>
              </a:rPr>
              <a:t>GZCNT</a:t>
            </a:r>
            <a:endParaRPr sz="3400" b="0" i="0" u="none">
              <a:solidFill>
                <a:srgbClr val="383838"/>
              </a:solidFill>
            </a:endParaR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926FE7-655C-47EE-8DFD-3F762F19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5613400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22DB2D4-0EED-455B-8D5A-0AF43A81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6873004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33630"/>
              </a:lnSpc>
              <a:buNone/>
            </a:pPr>
            <a:r>
              <a:rPr sz="3400" b="0" i="0" u="none">
                <a:solidFill>
                  <a:srgbClr val="383838"/>
                </a:solidFill>
              </a:rPr>
              <a:t>Doping Co</a:t>
            </a:r>
            <a:endParaRPr sz="3400" b="0" i="0" u="none">
              <a:solidFill>
                <a:srgbClr val="383838"/>
              </a:solidFill>
            </a:endParaR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CB23165-1386-4643-BD9B-7F02C8B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23100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5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6C1D5B-2CDE-44D7-9E40-498E3AA7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8483600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33630"/>
              </a:lnSpc>
              <a:buNone/>
            </a:pPr>
            <a:endParaRPr sz="3400" b="0" i="0" u="none">
              <a:solidFill>
                <a:srgbClr val="383838"/>
              </a:solidFill>
            </a:endParaRPr>
          </a:p>
        </p:txBody>
      </p:sp>
      <p:sp>
        <p:nvSpPr>
          <p:cNvPr id="10" name="TextBox 21">
            <a:extLst xmlns:a="http://schemas.openxmlformats.org/drawingml/2006/main">
              <a:ext uri="{FF2B5EF4-FFF2-40B4-BE49-F238E27FC236}">
                <a16:creationId xmlns:a16="http://schemas.microsoft.com/office/drawing/2014/main" id="{5760316C-F7BE-8E34-1457-122762E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7010400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  <a:endParaRPr sz="4500" b="0" i="0" u="none">
              <a:solidFill>
                <a:srgbClr val="7E8C8A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2" name="TextBox 20">
            <a:extLst xmlns:a="http://schemas.openxmlformats.org/drawingml/2006/main">
              <a:ext uri="{FF2B5EF4-FFF2-40B4-BE49-F238E27FC236}">
                <a16:creationId xmlns:a16="http://schemas.microsoft.com/office/drawing/2014/main" id="{4DCF70AF-AA99-04FF-9CBB-8C11DA79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879354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33630"/>
              </a:lnSpc>
              <a:buNone/>
            </a:pPr>
            <a:r>
              <a:rPr sz="3400">
                <a:solidFill>
                  <a:srgbClr val="383838"/>
                </a:solidFill>
              </a:rPr>
              <a:t>Expected Results</a:t>
            </a:r>
            <a:endParaRPr sz="3400" b="0" i="0" u="none">
              <a:solidFill>
                <a:srgbClr val="383838"/>
              </a:solidFill>
            </a:endParaRPr>
          </a:p>
        </p:txBody>
      </p:sp>
      <p:sp>
        <p:nvSpPr>
          <p:cNvPr id="23" name="TextBox 21">
            <a:extLst xmlns:a="http://schemas.openxmlformats.org/drawingml/2006/main">
              <a:ext uri="{FF2B5EF4-FFF2-40B4-BE49-F238E27FC236}">
                <a16:creationId xmlns:a16="http://schemas.microsoft.com/office/drawing/2014/main" id="{56D9A257-E6D5-6CF2-40C9-24F962B8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8577109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sp>
        <p:nvSpPr>
          <p:cNvPr id="25" name="TextBox 20">
            <a:extLst xmlns:a="http://schemas.openxmlformats.org/drawingml/2006/main">
              <a:ext uri="{FF2B5EF4-FFF2-40B4-BE49-F238E27FC236}">
                <a16:creationId xmlns:a16="http://schemas.microsoft.com/office/drawing/2014/main" id="{E941956D-5B7E-FDAE-9123-2788C7DD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8312150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>
              <a:lnSpc>
                <a:spcPct val="133630"/>
              </a:lnSpc>
              <a:buNone/>
            </a:pPr>
            <a:r>
              <a:rPr sz="3400">
                <a:solidFill>
                  <a:srgbClr val="383838"/>
                </a:solidFill>
              </a:rPr>
              <a:t>References</a:t>
            </a:r>
            <a:endParaRPr sz="3400">
              <a:solidFill>
                <a:srgbClr val="383838"/>
              </a:solidFill>
            </a:endParaRPr>
          </a:p>
        </p:txBody>
      </p:sp>
      <p:sp>
        <p:nvSpPr>
          <p:cNvPr id="26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34DE25-5856-DC50-27A6-BB408958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8551709"/>
            <a:ext cx="5080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45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8</a:t>
            </a:r>
          </a:p>
        </p:txBody>
      </p:sp>
      <p:sp>
        <p:nvSpPr>
          <p:cNvPr id="27" name="TextBox 20">
            <a:extLst xmlns:a="http://schemas.openxmlformats.org/drawingml/2006/main">
              <a:ext uri="{FF2B5EF4-FFF2-40B4-BE49-F238E27FC236}">
                <a16:creationId xmlns:a16="http://schemas.microsoft.com/office/drawing/2014/main" id="{E39EE989-7145-3ACA-18D1-4516B92E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8343900"/>
            <a:ext cx="41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33630"/>
              </a:lnSpc>
              <a:buNone/>
            </a:pPr>
            <a:r>
              <a:rPr sz="3400">
                <a:solidFill>
                  <a:srgbClr val="383838"/>
                </a:solidFill>
              </a:rPr>
              <a:t>QnA</a:t>
            </a:r>
            <a:endParaRPr sz="3400" b="0" i="0" u="none">
              <a:solidFill>
                <a:srgbClr val="3838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168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4" name="표 2"/>
          <p:cNvGraphicFramePr/>
          <p:nvPr/>
        </p:nvGraphicFramePr>
        <p:xfrm>
          <a:off xmlns:a="http://schemas.openxmlformats.org/drawingml/2006/main" x="838200" y="2452558"/>
          <a:ext xmlns:a="http://schemas.openxmlformats.org/drawingml/2006/main" cx="11277600" cy="690734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2200"/>
                <a:gridCol w="4238054"/>
                <a:gridCol w="4677346"/>
              </a:tblGrid>
              <a:tr h="1151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 b="1">
                          <a:latin typeface="+mn-ea"/>
                          <a:ea typeface="+mn-ea"/>
                          <a:cs typeface="+mn-ea"/>
                        </a:rPr>
                        <a:t>음극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 b="1">
                          <a:latin typeface="+mn-ea"/>
                          <a:ea typeface="+mn-ea"/>
                          <a:cs typeface="+mn-ea"/>
                        </a:rPr>
                        <a:t>리튬 금속 </a:t>
                      </a:r>
                      <a:r>
                        <a:rPr sz="2800" b="1">
                          <a:latin typeface="+mn-ea"/>
                          <a:ea typeface="+mn-ea"/>
                          <a:cs typeface="+mn-ea"/>
                        </a:rPr>
                        <a:t>(Li metal)</a:t>
                      </a:r>
                      <a:endParaRPr sz="28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 b="1">
                          <a:latin typeface="+mn-ea"/>
                          <a:ea typeface="+mn-ea"/>
                          <a:cs typeface="+mn-ea"/>
                        </a:rPr>
                        <a:t>흑연</a:t>
                      </a:r>
                      <a:r>
                        <a:rPr sz="2800" b="1">
                          <a:latin typeface="+mn-ea"/>
                          <a:ea typeface="+mn-ea"/>
                          <a:cs typeface="+mn-ea"/>
                        </a:rPr>
                        <a:t>(Graphite)</a:t>
                      </a:r>
                      <a:endParaRPr sz="28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</a:tr>
              <a:tr h="1151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이론 용량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약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3,860mAh/g</a:t>
                      </a:r>
                      <a:endParaRPr sz="28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약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372mAg/g</a:t>
                      </a:r>
                      <a:endParaRPr sz="28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</a:tr>
              <a:tr h="1151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에너지 밀도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매우 높음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</a:p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(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고에너지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EV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가능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)</a:t>
                      </a:r>
                      <a:endParaRPr sz="28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상대적으로 낮음</a:t>
                      </a:r>
                    </a:p>
                  </a:txBody>
                  <a:tcPr marL="91440" marR="91440" marT="45720" marB="45720" anchor="ctr"/>
                </a:tc>
              </a:tr>
              <a:tr h="1151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사이클 수명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400~600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사이클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2000~3000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사이클</a:t>
                      </a:r>
                    </a:p>
                  </a:txBody>
                  <a:tcPr marL="91440" marR="91440" marT="45720" marB="45720" anchor="ctr"/>
                </a:tc>
              </a:tr>
              <a:tr h="1151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안정성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낮음</a:t>
                      </a:r>
                      <a:endParaRPr sz="28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높음</a:t>
                      </a:r>
                    </a:p>
                  </a:txBody>
                  <a:tcPr marL="91440" marR="91440" marT="45720" marB="45720" anchor="ctr"/>
                </a:tc>
              </a:tr>
              <a:tr h="1151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상용화 수준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차세대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EV</a:t>
                      </a:r>
                    </a:p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(R&amp;D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 진행중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)</a:t>
                      </a:r>
                      <a:endParaRPr sz="28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사용화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EV</a:t>
                      </a:r>
                    </a:p>
                    <a:p>
                      <a:pPr algn="ctr">
                        <a:buNone/>
                      </a:pP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(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대부분 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EV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로 사용</a:t>
                      </a:r>
                      <a:r>
                        <a:rPr sz="2800">
                          <a:latin typeface="+mn-ea"/>
                          <a:ea typeface="+mn-ea"/>
                          <a:cs typeface="+mn-ea"/>
                        </a:rPr>
                        <a:t>)</a:t>
                      </a:r>
                      <a:endParaRPr sz="2800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1B9C63E-F834-49E7-ABE1-9AEF1E9A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7ce22ad3348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AF64B95-4398-46FB-95D2-A902EC41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86487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>
                <a:solidFill>
                  <a:srgbClr val="7E8C8A"/>
                </a:solidFill>
              </a:rPr>
              <a:t>Li</a:t>
            </a:r>
            <a:r>
              <a:rPr sz="7200">
                <a:solidFill>
                  <a:srgbClr val="7E8C8A"/>
                </a:solidFill>
              </a:rPr>
              <a:t> </a:t>
            </a:r>
            <a:r>
              <a:rPr sz="7200">
                <a:solidFill>
                  <a:srgbClr val="7E8C8A"/>
                </a:solidFill>
              </a:rPr>
              <a:t>metal</a:t>
            </a:r>
            <a:r>
              <a:rPr sz="7200">
                <a:solidFill>
                  <a:srgbClr val="7E8C8A"/>
                </a:solidFill>
              </a:rPr>
              <a:t> </a:t>
            </a:r>
            <a:r>
              <a:rPr sz="7200" b="0" i="0" u="none">
                <a:solidFill>
                  <a:srgbClr val="7E8C8A"/>
                </a:solidFill>
              </a:rPr>
              <a:t>VS Graphite 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0f3efb6a34c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32809" y="2746263"/>
            <a:ext cx="3738033" cy="2803525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2f0c4cc354a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32809" y="6138974"/>
            <a:ext cx="3702591" cy="2654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58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ED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ebe9843c546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799" y="6604000"/>
            <a:ext cx="2641599" cy="8001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f3179e10f48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7658100"/>
            <a:ext cx="2971800" cy="8001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d8f7b60f6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5562600"/>
            <a:ext cx="5372100" cy="8001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0c2f001c6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1" y="4508500"/>
            <a:ext cx="6476999" cy="7920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d8f7b60f6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8712200"/>
            <a:ext cx="5473700" cy="8001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ebe9843c546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3800" y="6604000"/>
            <a:ext cx="6273800" cy="8001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f3179e10f48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" y="7658100"/>
            <a:ext cx="6273800" cy="8001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0fb4a362a4a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5562600"/>
            <a:ext cx="3683000" cy="800100"/>
          </a:xfrm>
          <a:prstGeom xmlns:a="http://schemas.openxmlformats.org/drawingml/2006/main" prst="rect">
            <a:avLst/>
          </a:prstGeom>
        </p:spPr>
      </p:pic>
      <p:pic>
        <p:nvPicPr>
          <p:cNvPr id="5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011d7f5b346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1401" y="4508500"/>
            <a:ext cx="2628899" cy="800100"/>
          </a:xfrm>
          <a:prstGeom xmlns:a="http://schemas.openxmlformats.org/drawingml/2006/main" prst="rect">
            <a:avLst/>
          </a:prstGeom>
        </p:spPr>
      </p:pic>
      <p:pic>
        <p:nvPicPr>
          <p:cNvPr id="5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cdd09450e4b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4700" y="8712200"/>
            <a:ext cx="1587500" cy="800100"/>
          </a:xfrm>
          <a:prstGeom xmlns:a="http://schemas.openxmlformats.org/drawingml/2006/main" prst="rect">
            <a:avLst/>
          </a:prstGeom>
        </p:spPr>
      </p:pic>
      <p:pic>
        <p:nvPicPr>
          <p:cNvPr id="5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9df5dd8704a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4051300"/>
            <a:ext cx="4356100" cy="64643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88953" dist="402070" dir="5400000">
              <a:srgbClr val="000000">
                <a:alpha val="13000"/>
              </a:srgbClr>
            </a:outerShdw>
          </a:effectLst>
        </p:spPr>
      </p:pic>
      <p:pic>
        <p:nvPicPr>
          <p:cNvPr id="5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fba1591fe47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800100" y="4051300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790D3A-5855-4126-BDF8-B74AD7A1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46355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3100">
                <a:solidFill>
                  <a:srgbClr val="7E8C8A"/>
                </a:solidFill>
                <a:latin typeface="Pretendard Bold"/>
                <a:ea typeface="Pretendard Bold"/>
                <a:cs typeface="Pretendard Bold"/>
              </a:rPr>
              <a:t>3,860mAh/g</a:t>
            </a:r>
            <a:endParaRPr sz="3100" b="0" i="0" u="none">
              <a:solidFill>
                <a:srgbClr val="7E8C8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95828E-A802-422D-84DD-D767D15C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56642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3100" b="0" i="0" u="non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2,060</a:t>
            </a: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mAh/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𝑐𝑚</m:t>
                      </m:r>
                    </m:e>
                    <m:sup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sup>
                  </m:sSup>
                </m:oMath>
              </m:oMathPara>
            </a14:m>
            <a:endParaRPr sz="3100" b="0" i="0" u="none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28ABBCD-8D63-4F51-A321-E622AF4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0" y="67310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3100" b="0" i="0" u="non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500 </a:t>
            </a:r>
            <a:r>
              <a:rPr sz="3100" b="0" i="0" u="non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사이클</a:t>
            </a:r>
            <a:endParaRPr sz="3100" b="0" i="0" u="none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9482B4-1503-4B2D-BE66-BB06311B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200" y="77851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0.534 g/</a:t>
            </a:r>
            <a:r>
              <a:rPr sz="3100">
                <a:solidFill>
                  <a:srgbClr val="FFFFFF"/>
                </a:solidFill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𝑐𝑚</m:t>
                      </m:r>
                    </m:e>
                    <m:sup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sup>
                  </m:sSup>
                </m:oMath>
              </m:oMathPara>
            </a14:m>
            <a:endParaRPr sz="3100" b="0" i="0" u="none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F1FF0E-2D85-4095-B27A-A6B55AA3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8138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9</a:t>
            </a:r>
            <a:r>
              <a:rPr sz="3100" b="0" i="0" u="non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0%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F2727D-491B-4AAC-B371-302ACC64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863600"/>
            <a:ext cx="137668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흑연 </a:t>
            </a:r>
            <a:r>
              <a:rPr sz="7200" b="0" i="0" u="none">
                <a:solidFill>
                  <a:srgbClr val="7E8C8A"/>
                </a:solidFill>
              </a:rPr>
              <a:t>(Graphite) VS </a:t>
            </a:r>
            <a:r>
              <a:rPr sz="7200" b="0" i="0" u="none">
                <a:solidFill>
                  <a:srgbClr val="7E8C8A"/>
                </a:solidFill>
              </a:rPr>
              <a:t>리튬 금속 </a:t>
            </a:r>
            <a:r>
              <a:rPr sz="7200">
                <a:solidFill>
                  <a:srgbClr val="7E8C8A"/>
                </a:solidFill>
              </a:rPr>
              <a:t>(Li metal)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E58972-CF87-4029-AE5A-F1568F29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559300"/>
            <a:ext cx="2641600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3630"/>
              </a:lnSpc>
              <a:buNone/>
            </a:pPr>
            <a:r>
              <a:rPr sz="2900">
                <a:solidFill>
                  <a:srgbClr val="7E8C8A"/>
                </a:solidFill>
              </a:rPr>
              <a:t>이론 용량</a:t>
            </a:r>
            <a:endParaRPr sz="2900" b="0" i="0" u="none">
              <a:solidFill>
                <a:srgbClr val="7E8C8A"/>
              </a:solidFill>
            </a:endParaRP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BC6B093-8C8F-40EE-8F9D-B0ED03F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5626100"/>
            <a:ext cx="2641600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3630"/>
              </a:lnSpc>
              <a:buNone/>
            </a:pPr>
            <a:r>
              <a:rPr sz="2900" b="0" i="0" u="none">
                <a:solidFill>
                  <a:srgbClr val="7E8C8A"/>
                </a:solidFill>
              </a:rPr>
              <a:t>부피 용량</a:t>
            </a:r>
            <a:endParaRPr sz="2900" b="0" i="0" u="none">
              <a:solidFill>
                <a:srgbClr val="7E8C8A"/>
              </a:solidFill>
            </a:endParaR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77D37DB-CB8B-498C-B0DD-CAE169B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6692900"/>
            <a:ext cx="2641600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3630"/>
              </a:lnSpc>
              <a:buNone/>
            </a:pPr>
            <a:r>
              <a:rPr sz="2900" b="0" i="0" u="none">
                <a:solidFill>
                  <a:srgbClr val="7E8C8A"/>
                </a:solidFill>
              </a:rPr>
              <a:t>사이클</a:t>
            </a:r>
            <a:r>
              <a:rPr sz="2900" b="0" i="0" u="none">
                <a:solidFill>
                  <a:srgbClr val="7E8C8A"/>
                </a:solidFill>
              </a:rPr>
              <a:t> </a:t>
            </a:r>
            <a:r>
              <a:rPr sz="2900" b="0" i="0" u="none">
                <a:solidFill>
                  <a:srgbClr val="7E8C8A"/>
                </a:solidFill>
              </a:rPr>
              <a:t>수명</a:t>
            </a:r>
            <a:endParaRPr sz="2900" b="0" i="0" u="none">
              <a:solidFill>
                <a:srgbClr val="7E8C8A"/>
              </a:solidFill>
            </a:endParaR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5C5F5EB-4AFE-4EC1-A2C5-01EFDFC8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7759700"/>
            <a:ext cx="2641600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3630"/>
              </a:lnSpc>
              <a:buNone/>
            </a:pPr>
            <a:r>
              <a:rPr sz="2900">
                <a:solidFill>
                  <a:srgbClr val="7E8C8A"/>
                </a:solidFill>
              </a:rPr>
              <a:t>밀도</a:t>
            </a:r>
            <a:endParaRPr sz="2900" b="0" i="0" u="none">
              <a:solidFill>
                <a:srgbClr val="7E8C8A"/>
              </a:solidFill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CDE1A0B-A5EB-4076-96F5-C7CA4AF1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8826500"/>
            <a:ext cx="3441700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3630"/>
              </a:lnSpc>
              <a:buNone/>
            </a:pPr>
            <a:r>
              <a:rPr sz="2900">
                <a:solidFill>
                  <a:srgbClr val="7E8C8A"/>
                </a:solidFill>
              </a:rPr>
              <a:t>덴드라이트</a:t>
            </a:r>
            <a:r>
              <a:rPr sz="2900">
                <a:solidFill>
                  <a:srgbClr val="7E8C8A"/>
                </a:solidFill>
              </a:rPr>
              <a:t> 위험성</a:t>
            </a:r>
            <a:endParaRPr sz="2900" b="0" i="0" u="none">
              <a:solidFill>
                <a:srgbClr val="7E8C8A"/>
              </a:solidFill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161E447-E154-4AD2-B444-7C978FB6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31877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r">
              <a:lnSpc>
                <a:spcPct val="116199"/>
              </a:lnSpc>
              <a:buNone/>
            </a:pPr>
            <a:r>
              <a:rPr sz="3100" b="0" i="0" u="none">
                <a:solidFill>
                  <a:srgbClr val="7E8C8A"/>
                </a:solidFill>
                <a:latin typeface="Pretendard Bold"/>
                <a:ea typeface="Pretendard Bold"/>
                <a:cs typeface="Pretendard Bold"/>
              </a:rPr>
              <a:t>Graphite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7039764-3579-4FC3-B4AB-002B02F0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31877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00" b="0" i="0" u="none">
                <a:solidFill>
                  <a:srgbClr val="7E8C8A"/>
                </a:solidFill>
                <a:latin typeface="Pretendard Bold"/>
                <a:ea typeface="Pretendard Bold"/>
                <a:cs typeface="Pretendard Bold"/>
              </a:rPr>
              <a:t>Li metal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5B7F986-0B4D-483E-A67B-DEB8B198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355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00">
                <a:solidFill>
                  <a:srgbClr val="7E8C8A"/>
                </a:solidFill>
                <a:latin typeface="Pretendard Bold"/>
                <a:ea typeface="Pretendard Bold"/>
                <a:cs typeface="Pretendard Bold"/>
              </a:rPr>
              <a:t>372mAh/g</a:t>
            </a:r>
            <a:endParaRPr sz="3100" b="0" i="0" u="none">
              <a:solidFill>
                <a:srgbClr val="7E8C8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5665BF0-6C79-4068-875C-6C2F511A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400" y="56642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>
              <a:lnSpc>
                <a:spcPct val="116199"/>
              </a:lnSpc>
              <a:buNone/>
            </a:pP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</a:t>
            </a:r>
            <a:r>
              <a:rPr sz="3100" b="0" i="0" u="non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,000</a:t>
            </a: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mAh/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𝑐𝑚</m:t>
                      </m:r>
                    </m:e>
                    <m:sup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sup>
                  </m:sSup>
                </m:oMath>
              </m:oMathPara>
            </a14:m>
            <a:endParaRPr sz="3100" b="0" i="0" u="none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5BE5BD53-ACEC-4E2B-8E4E-2F355CD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7310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2,500 </a:t>
            </a: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사이클</a:t>
            </a:r>
            <a:endParaRPr sz="3100" b="0" i="0" u="none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9BDA77FE-1BBC-43BC-A634-984B0FDD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7851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2.2g</a:t>
            </a:r>
            <a:r>
              <a:rPr sz="3100">
                <a:solidFill>
                  <a:srgbClr val="FFFFFF"/>
                </a:solidFill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𝑐𝑚</m:t>
                      </m:r>
                    </m:e>
                    <m:sup>
                      <m:r>
                        <a:rPr xmlns:a="http://schemas.openxmlformats.org/drawingml/2006/main" lang="en-US" sz="3100" b="0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sup>
                  </m:sSup>
                </m:oMath>
              </m:oMathPara>
            </a14:m>
            <a:endParaRPr sz="3100" b="0" i="0" u="none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B9B6766-811A-4C2F-91F6-7DAFF5F2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00" y="8834600"/>
            <a:ext cx="40132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0%</a:t>
            </a:r>
            <a:endParaRPr sz="3100" b="0" i="0" u="none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CE2FC0C-9ACB-4FDC-96FC-4E164173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7747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4268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BCC2F7-7DE9-B2E3-0BFE-6B076F30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9" y="2470517"/>
            <a:ext cx="6858000" cy="71096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j-ea"/>
                <a:ea typeface="+mj-ea"/>
                <a:cs typeface="+mj-ea"/>
              </a:rPr>
              <a:t>전압 인가</a:t>
            </a:r>
            <a:r>
              <a:rPr sz="2400" b="1">
                <a:latin typeface="+mj-ea"/>
                <a:ea typeface="+mj-ea"/>
                <a:cs typeface="+mj-ea"/>
              </a:rPr>
              <a:t>→</a:t>
            </a:r>
            <a:r>
              <a:rPr sz="2400" b="1">
                <a:latin typeface="+mj-ea"/>
                <a:ea typeface="+mj-ea"/>
                <a:cs typeface="+mj-ea"/>
              </a:rPr>
              <a:t> </a:t>
            </a:r>
            <a:r>
              <a:rPr sz="2400" b="1">
                <a:latin typeface="+mj-ea"/>
                <a:ea typeface="+mj-ea"/>
                <a:cs typeface="+mj-ea"/>
              </a:rPr>
              <a:t>양이온</a:t>
            </a:r>
            <a:r>
              <a:rPr sz="2400" b="1">
                <a:latin typeface="+mj-ea"/>
                <a:ea typeface="+mj-ea"/>
                <a:cs typeface="+mj-ea"/>
              </a:rPr>
              <a:t>(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)</a:t>
            </a:r>
            <a:r>
              <a:rPr sz="2400" b="1">
                <a:latin typeface="+mj-ea"/>
                <a:ea typeface="+mj-ea"/>
                <a:cs typeface="+mj-ea"/>
              </a:rPr>
              <a:t>과 음이온이 각각 음극</a:t>
            </a:r>
            <a:r>
              <a:rPr sz="2400" b="1">
                <a:latin typeface="+mj-ea"/>
                <a:ea typeface="+mj-ea"/>
                <a:cs typeface="+mj-ea"/>
              </a:rPr>
              <a:t>, </a:t>
            </a:r>
            <a:r>
              <a:rPr sz="2400" b="1">
                <a:latin typeface="+mj-ea"/>
                <a:ea typeface="+mj-ea"/>
                <a:cs typeface="+mj-ea"/>
              </a:rPr>
              <a:t>양극 방향으로 이동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이온의 이동 속도 차이 때문에  이온 농도 불균형 형성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j-ea"/>
                <a:ea typeface="+mj-ea"/>
                <a:cs typeface="+mj-ea"/>
              </a:rPr>
              <a:t>Region II </a:t>
            </a:r>
            <a:r>
              <a:rPr sz="2400" b="1">
                <a:latin typeface="+mj-ea"/>
                <a:ea typeface="+mj-ea"/>
                <a:cs typeface="+mj-ea"/>
              </a:rPr>
              <a:t>에서 음이온이 고갈되고 양이온이 풍부하게 남음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이온 분포 비대칭성 발생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전기장 강도 증가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j-ea"/>
                <a:ea typeface="+mj-ea"/>
                <a:cs typeface="+mj-ea"/>
              </a:rPr>
              <a:t>음극 쪽에 양이온만 남음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양의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전하가 국소적으로 쌓인 상태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공간 전하 영역 </a:t>
            </a:r>
            <a:r>
              <a:rPr sz="2400" b="1">
                <a:latin typeface="+mj-ea"/>
                <a:ea typeface="+mj-ea"/>
                <a:cs typeface="+mj-ea"/>
              </a:rPr>
              <a:t>(Space Charge Region) </a:t>
            </a:r>
            <a:r>
              <a:rPr sz="2400" b="1">
                <a:latin typeface="+mj-ea"/>
                <a:ea typeface="+mj-ea"/>
                <a:cs typeface="+mj-ea"/>
              </a:rPr>
              <a:t>형성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전위구배</a:t>
            </a:r>
            <a:r>
              <a:rPr sz="2400" b="1">
                <a:latin typeface="+mj-ea"/>
                <a:ea typeface="+mj-ea"/>
                <a:cs typeface="+mj-ea"/>
              </a:rPr>
              <a:t>(potential gradient) </a:t>
            </a:r>
            <a:r>
              <a:rPr sz="2400" b="1">
                <a:latin typeface="+mj-ea"/>
                <a:ea typeface="+mj-ea"/>
                <a:cs typeface="+mj-ea"/>
              </a:rPr>
              <a:t>생성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j-ea"/>
                <a:ea typeface="+mj-ea"/>
                <a:cs typeface="+mj-ea"/>
              </a:rPr>
              <a:t>특정 부위</a:t>
            </a:r>
            <a:r>
              <a:rPr sz="2400" b="1">
                <a:latin typeface="+mj-ea"/>
                <a:ea typeface="+mj-ea"/>
                <a:cs typeface="+mj-ea"/>
              </a:rPr>
              <a:t>(Hotspot)</a:t>
            </a:r>
            <a:r>
              <a:rPr sz="2400" b="1">
                <a:latin typeface="+mj-ea"/>
                <a:ea typeface="+mj-ea"/>
                <a:cs typeface="+mj-ea"/>
              </a:rPr>
              <a:t>에 강한 전기장에 따라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 집중적으로 이동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전류밀도가 높아짐</a:t>
            </a:r>
            <a:r>
              <a:rPr sz="2400" b="1">
                <a:latin typeface="+mj-ea"/>
                <a:ea typeface="+mj-ea"/>
                <a:cs typeface="+mj-ea"/>
              </a:rPr>
              <a:t> →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이 더 많이 모임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𝑳𝒊</m:t>
                  </m:r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이 </a:t>
            </a:r>
            <a:r>
              <a:rPr sz="2400" b="1">
                <a:latin typeface="+mj-ea"/>
                <a:ea typeface="+mj-ea"/>
                <a:cs typeface="+mj-ea"/>
              </a:rPr>
              <a:t>불균일하게</a:t>
            </a:r>
            <a:r>
              <a:rPr sz="2400" b="1">
                <a:latin typeface="+mj-ea"/>
                <a:ea typeface="+mj-ea"/>
                <a:cs typeface="+mj-ea"/>
              </a:rPr>
              <a:t> 석출 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400" b="1">
              <a:latin typeface="+mn-ea"/>
              <a:ea typeface="+mn-ea"/>
              <a:cs typeface="+mn-ea"/>
            </a:endParaRPr>
          </a:p>
        </p:txBody>
      </p:sp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6A9106B-2997-DE8C-4B51-12D70F3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pic>
        <p:nvPicPr>
          <p:cNvPr id="2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80761fd1d4b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11E2E76-221D-E46C-F4B1-DF56DB7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86487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Chazalviel</a:t>
            </a:r>
            <a:r>
              <a:rPr sz="7200" b="0" i="0" u="none">
                <a:solidFill>
                  <a:srgbClr val="7E8C8A"/>
                </a:solidFill>
              </a:rPr>
              <a:t> model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7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f57bc0341408c"/>
          <a:srcRect xmlns:a="http://schemas.openxmlformats.org/drawingml/2006/main" l="0" t="94936" r="28426" b="-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0660" y="8042065"/>
            <a:ext cx="4363133" cy="32673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335CF4-A83D-4B55-CE96-A6FCC33C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114" y="8383221"/>
            <a:ext cx="837182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t>Huang</a:t>
            </a:r>
            <a:r>
              <a:t>, </a:t>
            </a:r>
            <a:r>
              <a:t>Y</a:t>
            </a:r>
            <a:r>
              <a:t>., </a:t>
            </a:r>
            <a:r>
              <a:t>Yang</a:t>
            </a:r>
            <a:r>
              <a:t>, </a:t>
            </a:r>
            <a:r>
              <a:t>H</a:t>
            </a:r>
            <a:r>
              <a:t>., </a:t>
            </a:r>
            <a:r>
              <a:t>Gao</a:t>
            </a:r>
            <a:r>
              <a:t>, </a:t>
            </a:r>
            <a:r>
              <a:t>Y</a:t>
            </a:r>
            <a:r>
              <a:t>., </a:t>
            </a:r>
            <a:r>
              <a:t>Chen</a:t>
            </a:r>
            <a:r>
              <a:t>, </a:t>
            </a:r>
            <a:r>
              <a:t>G</a:t>
            </a:r>
            <a:r>
              <a:t>., </a:t>
            </a:r>
            <a:r>
              <a:t>Li</a:t>
            </a:r>
            <a:r>
              <a:t>, </a:t>
            </a:r>
            <a:r>
              <a:t>Y</a:t>
            </a:r>
            <a:r>
              <a:t>., </a:t>
            </a:r>
            <a:r>
              <a:t>Shi</a:t>
            </a:r>
            <a:r>
              <a:t>, </a:t>
            </a:r>
            <a:r>
              <a:t>L</a:t>
            </a:r>
            <a:r>
              <a:t>., &amp; </a:t>
            </a:r>
            <a:r>
              <a:t>Zhang</a:t>
            </a:r>
            <a:r>
              <a:t>, </a:t>
            </a:r>
            <a:r>
              <a:t>D</a:t>
            </a:r>
            <a:r>
              <a:t>. (2024). </a:t>
            </a:r>
            <a:r>
              <a:rPr i="1"/>
              <a:t>Mechanism</a:t>
            </a:r>
            <a:r>
              <a:rPr i="1"/>
              <a:t> and </a:t>
            </a:r>
            <a:r>
              <a:rPr i="1"/>
              <a:t>solutions</a:t>
            </a:r>
            <a:r>
              <a:rPr i="1"/>
              <a:t> of </a:t>
            </a:r>
            <a:r>
              <a:rPr i="1"/>
              <a:t>lithium</a:t>
            </a:r>
            <a:r>
              <a:rPr i="1"/>
              <a:t> </a:t>
            </a:r>
            <a:r>
              <a:rPr i="1"/>
              <a:t>dendrite</a:t>
            </a:r>
            <a:r>
              <a:rPr i="1"/>
              <a:t> </a:t>
            </a:r>
            <a:r>
              <a:rPr i="1"/>
              <a:t>growth</a:t>
            </a:r>
            <a:r>
              <a:rPr i="1"/>
              <a:t> </a:t>
            </a:r>
            <a:r>
              <a:rPr i="1"/>
              <a:t>in</a:t>
            </a:r>
            <a:r>
              <a:rPr i="1"/>
              <a:t> </a:t>
            </a:r>
            <a:r>
              <a:rPr i="1"/>
              <a:t>lithium</a:t>
            </a:r>
            <a:r>
              <a:rPr i="1"/>
              <a:t> </a:t>
            </a:r>
            <a:r>
              <a:rPr i="1"/>
              <a:t>metal</a:t>
            </a:r>
            <a:r>
              <a:rPr i="1"/>
              <a:t> </a:t>
            </a:r>
            <a:r>
              <a:rPr i="1"/>
              <a:t>batteries</a:t>
            </a:r>
            <a:r>
              <a:t>. </a:t>
            </a:r>
            <a:r>
              <a:rPr b="1"/>
              <a:t>Materials </a:t>
            </a:r>
            <a:r>
              <a:rPr b="1"/>
              <a:t>Chemistry</a:t>
            </a:r>
            <a:r>
              <a:rPr b="1"/>
              <a:t> </a:t>
            </a:r>
            <a:r>
              <a:rPr b="1"/>
              <a:t>Frontiers</a:t>
            </a:r>
            <a:r>
              <a:t>, 8(5), 1282–1299. </a:t>
            </a:r>
            <a:r>
              <a:t>https://doi.org/10.1039/D3QM01151H</a:t>
            </a:r>
            <a:endParaRPr/>
          </a:p>
        </p:txBody>
      </p:sp>
      <p:pic>
        <p:nvPicPr>
          <p:cNvPr id="2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167e4dffa44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8672" y="1954324"/>
            <a:ext cx="8382905" cy="6420281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C13535-15BF-15A0-3B5F-F911E1E6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114" y="8042065"/>
            <a:ext cx="79457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Fig.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0031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02460F0-143B-8E94-0E40-A105451F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84" y="1922581"/>
            <a:ext cx="8246710" cy="81014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800" b="1">
                <a:latin typeface="+mn-ea"/>
                <a:ea typeface="+mn-ea"/>
                <a:cs typeface="+mn-ea"/>
              </a:rPr>
              <a:t>Nucleation at hotspot</a:t>
            </a: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8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Surface Roughness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국소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도출부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전계 집중</a:t>
            </a:r>
            <a:r>
              <a:rPr sz="2400" b="1">
                <a:latin typeface="+mn-ea"/>
                <a:ea typeface="+mn-ea"/>
                <a:cs typeface="+mn-ea"/>
              </a:rPr>
              <a:t>(Field enhancement)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Dislocation, grain boundary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자유에너지 상태가 불안정</a:t>
            </a:r>
            <a:r>
              <a:rPr sz="2400" b="1">
                <a:latin typeface="+mn-ea"/>
                <a:ea typeface="+mn-ea"/>
                <a:cs typeface="+mn-ea"/>
              </a:rPr>
              <a:t>, </a:t>
            </a:r>
            <a:r>
              <a:rPr sz="2400" b="1">
                <a:latin typeface="+mn-ea"/>
                <a:ea typeface="+mn-ea"/>
                <a:cs typeface="+mn-ea"/>
              </a:rPr>
              <a:t>계면 에너지가 높음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 xml:space="preserve">→ </m:t>
                  </m:r>
                  <m:r>
                    <a:rPr xmlns:a="http://schemas.openxmlformats.org/drawingml/2006/main" lang="ko-KR" sz="2400" b="1" i="1">
                      <a:latin typeface="Cambria Math"/>
                      <a:ea typeface="Cambria Math"/>
                      <a:cs typeface="Cambria Math"/>
                    </a:rPr>
                    <m:t>핵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생성이 더 쉽게 이루어짐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리튬이 더 쉽게 석출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Localized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current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density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AutoNum type="arabicPeriod" startAt="2"/>
            </a:pPr>
            <a:r>
              <a:rPr sz="2800" b="1">
                <a:latin typeface="+mn-ea"/>
                <a:ea typeface="+mn-ea"/>
                <a:cs typeface="+mn-ea"/>
              </a:rPr>
              <a:t>Uneven SEI layer</a:t>
            </a:r>
          </a:p>
          <a:p xmlns:a="http://schemas.openxmlformats.org/drawingml/2006/main">
            <a:pPr marL="457200" indent="-457200">
              <a:buAutoNum type="arabicPeriod" startAt="2"/>
            </a:pPr>
            <a:endParaRPr sz="28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Roughness, Hot spot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Unven SEI layer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저항이 다름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Unven SEI laye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0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얇은 </a:t>
            </a:r>
            <a:r>
              <a:rPr sz="2400" b="1">
                <a:latin typeface="+mn-ea"/>
                <a:ea typeface="+mn-ea"/>
                <a:cs typeface="+mn-ea"/>
              </a:rPr>
              <a:t>SEI </a:t>
            </a:r>
            <a:r>
              <a:rPr sz="2400" b="1">
                <a:latin typeface="+mn-ea"/>
                <a:ea typeface="+mn-ea"/>
                <a:cs typeface="+mn-ea"/>
              </a:rPr>
              <a:t>부위에 전류가 집중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dendrite, mossy Li</a:t>
            </a:r>
            <a:r>
              <a:rPr sz="2400" b="1">
                <a:latin typeface="+mn-ea"/>
                <a:ea typeface="+mn-ea"/>
                <a:cs typeface="+mn-ea"/>
              </a:rPr>
              <a:t> 형성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전기적 연결이 끊긴 리튬 형성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→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Dead Li </a:t>
            </a:r>
            <a:r>
              <a:rPr sz="2400" b="1">
                <a:latin typeface="+mn-ea"/>
                <a:ea typeface="+mn-ea"/>
                <a:cs typeface="+mn-ea"/>
              </a:rPr>
              <a:t>형성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31B953D2-7F9C-464C-766A-011F755B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4058ceeaa44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B53CC8D-C5BD-FF1E-553F-D8E78D78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3369556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Causes of Lithium Dendrite Growth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FFB872-C992-CE64-699F-E370D43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426" y="7017213"/>
            <a:ext cx="8614603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Dachraoui</a:t>
            </a:r>
            <a:r>
              <a:rPr b="1"/>
              <a:t>, </a:t>
            </a:r>
            <a:r>
              <a:rPr b="1"/>
              <a:t>W</a:t>
            </a:r>
            <a:r>
              <a:rPr b="1"/>
              <a:t>., </a:t>
            </a:r>
            <a:r>
              <a:rPr b="1"/>
              <a:t>Kühnel</a:t>
            </a:r>
            <a:r>
              <a:rPr b="1"/>
              <a:t>, </a:t>
            </a:r>
            <a:r>
              <a:rPr b="1"/>
              <a:t>R.-S</a:t>
            </a:r>
            <a:r>
              <a:rPr b="1"/>
              <a:t>., </a:t>
            </a:r>
            <a:r>
              <a:rPr b="1"/>
              <a:t>Battaglia</a:t>
            </a:r>
            <a:r>
              <a:rPr b="1"/>
              <a:t>, </a:t>
            </a:r>
            <a:r>
              <a:rPr b="1"/>
              <a:t>C</a:t>
            </a:r>
            <a:r>
              <a:rPr b="1"/>
              <a:t>., &amp; </a:t>
            </a:r>
            <a:r>
              <a:rPr b="1"/>
              <a:t>Erni</a:t>
            </a:r>
            <a:r>
              <a:rPr b="1"/>
              <a:t>, </a:t>
            </a:r>
            <a:r>
              <a:rPr b="1"/>
              <a:t>R</a:t>
            </a:r>
            <a:r>
              <a:rPr b="1"/>
              <a:t>.</a:t>
            </a:r>
            <a:r>
              <a:t> (2024).</a:t>
            </a:r>
            <a:br/>
            <a:r>
              <a:t> </a:t>
            </a:r>
            <a:r>
              <a:rPr b="1"/>
              <a:t>Nucleation,</a:t>
            </a:r>
            <a:r>
              <a:rPr b="1"/>
              <a:t> </a:t>
            </a:r>
            <a:r>
              <a:rPr b="1"/>
              <a:t>growth</a:t>
            </a:r>
            <a:r>
              <a:rPr b="1"/>
              <a:t> </a:t>
            </a:r>
            <a:r>
              <a:rPr b="1"/>
              <a:t>and</a:t>
            </a:r>
            <a:r>
              <a:rPr b="1"/>
              <a:t> </a:t>
            </a:r>
            <a:r>
              <a:rPr b="1"/>
              <a:t>dissolution</a:t>
            </a:r>
            <a:r>
              <a:rPr b="1"/>
              <a:t> </a:t>
            </a:r>
            <a:r>
              <a:rPr b="1"/>
              <a:t>of</a:t>
            </a:r>
            <a:r>
              <a:rPr b="1"/>
              <a:t> </a:t>
            </a:r>
            <a:r>
              <a:rPr b="1"/>
              <a:t>Li</a:t>
            </a:r>
            <a:r>
              <a:rPr b="1"/>
              <a:t> </a:t>
            </a:r>
            <a:r>
              <a:rPr b="1"/>
              <a:t>metal</a:t>
            </a:r>
            <a:r>
              <a:rPr b="1"/>
              <a:t> </a:t>
            </a:r>
            <a:r>
              <a:rPr b="1"/>
              <a:t>dendrites</a:t>
            </a:r>
            <a:r>
              <a:rPr b="1"/>
              <a:t> and </a:t>
            </a:r>
            <a:r>
              <a:rPr b="1"/>
              <a:t>the</a:t>
            </a:r>
            <a:r>
              <a:rPr b="1"/>
              <a:t> </a:t>
            </a:r>
            <a:r>
              <a:rPr b="1"/>
              <a:t>formation</a:t>
            </a:r>
            <a:r>
              <a:rPr b="1"/>
              <a:t> </a:t>
            </a:r>
            <a:r>
              <a:rPr b="1"/>
              <a:t>of </a:t>
            </a:r>
            <a:r>
              <a:rPr b="1"/>
              <a:t>dead</a:t>
            </a:r>
            <a:r>
              <a:rPr b="1"/>
              <a:t> </a:t>
            </a:r>
            <a:r>
              <a:rPr b="1"/>
              <a:t>Li</a:t>
            </a:r>
            <a:r>
              <a:rPr b="1"/>
              <a:t> </a:t>
            </a:r>
            <a:r>
              <a:rPr b="1"/>
              <a:t>in</a:t>
            </a:r>
            <a:r>
              <a:rPr b="1"/>
              <a:t> </a:t>
            </a:r>
            <a:r>
              <a:rPr b="1"/>
              <a:t>Li-ion</a:t>
            </a:r>
            <a:r>
              <a:rPr b="1"/>
              <a:t> </a:t>
            </a:r>
            <a:r>
              <a:rPr b="1"/>
              <a:t>batteries</a:t>
            </a:r>
            <a:r>
              <a:rPr b="1"/>
              <a:t> </a:t>
            </a:r>
            <a:r>
              <a:rPr b="1"/>
              <a:t>investigated</a:t>
            </a:r>
            <a:r>
              <a:rPr b="1"/>
              <a:t> </a:t>
            </a:r>
            <a:r>
              <a:rPr b="1"/>
              <a:t>by</a:t>
            </a:r>
            <a:r>
              <a:rPr b="1"/>
              <a:t> </a:t>
            </a:r>
            <a:r>
              <a:rPr b="1"/>
              <a:t>operando</a:t>
            </a:r>
            <a:r>
              <a:rPr b="1"/>
              <a:t> </a:t>
            </a:r>
            <a:r>
              <a:rPr b="1"/>
              <a:t>electrochemical</a:t>
            </a:r>
            <a:r>
              <a:rPr b="1"/>
              <a:t> </a:t>
            </a:r>
            <a:r>
              <a:rPr b="1"/>
              <a:t>liquid</a:t>
            </a:r>
            <a:r>
              <a:rPr b="1"/>
              <a:t> </a:t>
            </a:r>
            <a:r>
              <a:rPr b="1"/>
              <a:t>cell</a:t>
            </a:r>
            <a:r>
              <a:rPr b="1"/>
              <a:t> </a:t>
            </a:r>
            <a:r>
              <a:rPr b="1"/>
              <a:t>scanning</a:t>
            </a:r>
            <a:r>
              <a:rPr b="1"/>
              <a:t> </a:t>
            </a:r>
            <a:r>
              <a:rPr b="1"/>
              <a:t>transmission</a:t>
            </a:r>
            <a:r>
              <a:rPr b="1"/>
              <a:t> </a:t>
            </a:r>
            <a:r>
              <a:rPr b="1"/>
              <a:t>electron</a:t>
            </a:r>
            <a:r>
              <a:rPr b="1"/>
              <a:t> </a:t>
            </a:r>
            <a:r>
              <a:rPr b="1"/>
              <a:t>microscopy</a:t>
            </a:r>
            <a:r>
              <a:t>. </a:t>
            </a:r>
            <a:r>
              <a:rPr i="1"/>
              <a:t>Nano</a:t>
            </a:r>
            <a:r>
              <a:rPr i="1"/>
              <a:t> </a:t>
            </a:r>
            <a:r>
              <a:rPr i="1"/>
              <a:t>Energy</a:t>
            </a:r>
            <a:r>
              <a:t>,</a:t>
            </a:r>
            <a:r>
              <a:t> </a:t>
            </a:r>
            <a:r>
              <a:rPr b="1"/>
              <a:t>130</a:t>
            </a:r>
            <a:r>
              <a:t>, </a:t>
            </a:r>
            <a:r>
              <a:t>110086</a:t>
            </a:r>
            <a:r>
              <a:t>.</a:t>
            </a:r>
            <a:br/>
            <a:r>
              <a:t> </a:t>
            </a:r>
            <a:r>
              <a:t>https://doi.org/10.1016/j.nanoen.2024.110086</a:t>
            </a:r>
            <a:endParaRPr/>
          </a:p>
          <a:p xmlns:a="http://schemas.openxmlformats.org/drawingml/2006/main">
            <a:endParaRPr/>
          </a:p>
        </p:txBody>
      </p:sp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5893cb9ac4a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743" y="2451238"/>
            <a:ext cx="8668993" cy="4374045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E262CEE-540F-8836-C4E9-45BD734E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743" y="6762689"/>
            <a:ext cx="79457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Fig.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3836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DF39ACF-EC12-1842-1C01-5C41392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36bf0d809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077669-5AFF-AF90-6714-0024DF90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Carbon nanotube (CNT)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6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f75f4be02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0063" y="2550259"/>
            <a:ext cx="7275891" cy="5016464"/>
          </a:xfrm>
          <a:prstGeom xmlns:a="http://schemas.openxmlformats.org/drawingml/2006/main" prst="rect">
            <a:avLst/>
          </a:prstGeom>
        </p:spPr>
      </p:pic>
      <p:graphicFrame>
        <p:nvGraphicFramePr>
          <p:cNvPr id="27" name="표 10"/>
          <p:cNvGraphicFramePr/>
          <p:nvPr/>
        </p:nvGraphicFramePr>
        <p:xfrm>
          <a:off xmlns:a="http://schemas.openxmlformats.org/drawingml/2006/main" x="495300" y="2535110"/>
          <a:ext xmlns:a="http://schemas.openxmlformats.org/drawingml/2006/main" cx="9990801" cy="325141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6739"/>
                <a:gridCol w="2227006"/>
                <a:gridCol w="2101644"/>
                <a:gridCol w="2112706"/>
                <a:gridCol w="2112706"/>
              </a:tblGrid>
              <a:tr h="10494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코팅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(a) Graphene</a:t>
                      </a: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(b)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Electrospun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 </a:t>
                      </a:r>
                    </a:p>
                    <a:p>
                      <a:pPr algn="ctr">
                        <a:buNone/>
                      </a:pP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(c)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ZnO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/CNT </a:t>
                      </a: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(d) CNT(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다공성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)</a:t>
                      </a: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8252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시험 조건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(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대칭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LillLi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)</a:t>
                      </a: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210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사이클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180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사이클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280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사이클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520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사이클</a:t>
                      </a:r>
                    </a:p>
                  </a:txBody>
                  <a:tcPr marL="91440" marR="91440" marT="45720" marB="45720" anchor="ctr"/>
                </a:tc>
              </a:tr>
              <a:tr h="13767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표면 형태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Mossy Li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섬유 다발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,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거친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잔기둥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 다수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길고 굵게 뻗은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dendrite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다량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전체적으로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둥굴고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 짧은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pebble-like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입자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평탄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,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조밀한 필름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C1944BD-2D55-CB6E-B19A-6EC43704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16925"/>
            <a:ext cx="10108790" cy="31085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AutoNum type="alphaLcParenBoth"/>
            </a:pPr>
            <a:r>
              <a:rPr sz="2000" b="1">
                <a:latin typeface="+mn-ea"/>
                <a:ea typeface="+mn-ea"/>
                <a:cs typeface="+mn-ea"/>
              </a:rPr>
              <a:t>기계적 강성 및 다공성이 부족 → </a:t>
            </a:r>
            <a:r>
              <a:rPr sz="2000" b="1">
                <a:latin typeface="+mn-ea"/>
                <a:ea typeface="+mn-ea"/>
                <a:cs typeface="+mn-ea"/>
              </a:rPr>
              <a:t>Hotspot</a:t>
            </a:r>
            <a:r>
              <a:rPr sz="2000" b="1">
                <a:latin typeface="+mn-ea"/>
                <a:ea typeface="+mn-ea"/>
                <a:cs typeface="+mn-ea"/>
              </a:rPr>
              <a:t>에 </a:t>
            </a:r>
            <a:r>
              <a:rPr sz="2000" b="1">
                <a:latin typeface="+mn-ea"/>
                <a:ea typeface="+mn-ea"/>
                <a:cs typeface="+mn-ea"/>
              </a:rPr>
              <a:t>Li </a:t>
            </a:r>
            <a:r>
              <a:rPr sz="2000" b="1">
                <a:latin typeface="+mn-ea"/>
                <a:ea typeface="+mn-ea"/>
                <a:cs typeface="+mn-ea"/>
              </a:rPr>
              <a:t>집중 → 조기 </a:t>
            </a:r>
            <a:r>
              <a:rPr sz="2000" b="1">
                <a:latin typeface="+mn-ea"/>
                <a:ea typeface="+mn-ea"/>
                <a:cs typeface="+mn-ea"/>
              </a:rPr>
              <a:t>dendrite </a:t>
            </a:r>
            <a:r>
              <a:rPr sz="2000" b="1">
                <a:latin typeface="+mn-ea"/>
                <a:ea typeface="+mn-ea"/>
                <a:cs typeface="+mn-ea"/>
              </a:rPr>
              <a:t>형성</a:t>
            </a: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AutoNum type="alphaLcParenBoth"/>
            </a:pP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2000" b="1">
                <a:latin typeface="+mn-ea"/>
                <a:ea typeface="+mn-ea"/>
                <a:cs typeface="+mn-ea"/>
              </a:rPr>
              <a:t>(b)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0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0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  <m:r>
                    <a:rPr xmlns:a="http://schemas.openxmlformats.org/drawingml/2006/main" lang="en-US" sz="2000" b="1" i="1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</m:oMath>
              </m:oMathPara>
            </a14:m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농도</a:t>
            </a:r>
            <a:r>
              <a:rPr sz="2000" b="1">
                <a:latin typeface="+mn-ea"/>
                <a:ea typeface="+mn-ea"/>
                <a:cs typeface="+mn-ea"/>
              </a:rPr>
              <a:t>, </a:t>
            </a:r>
            <a:r>
              <a:rPr sz="2000" b="1">
                <a:latin typeface="+mn-ea"/>
                <a:ea typeface="+mn-ea"/>
                <a:cs typeface="+mn-ea"/>
              </a:rPr>
              <a:t>전위 </a:t>
            </a:r>
            <a:r>
              <a:rPr sz="2000" b="1">
                <a:latin typeface="+mn-ea"/>
                <a:ea typeface="+mn-ea"/>
                <a:cs typeface="+mn-ea"/>
              </a:rPr>
              <a:t>구배</a:t>
            </a:r>
            <a:r>
              <a:rPr sz="2000" b="1">
                <a:latin typeface="+mn-ea"/>
                <a:ea typeface="+mn-ea"/>
                <a:cs typeface="+mn-ea"/>
              </a:rPr>
              <a:t> 형성 → 수직 방향으로 빠르게 </a:t>
            </a:r>
            <a:r>
              <a:rPr sz="2000" b="1">
                <a:latin typeface="+mn-ea"/>
                <a:ea typeface="+mn-ea"/>
                <a:cs typeface="+mn-ea"/>
              </a:rPr>
              <a:t>dendrite </a:t>
            </a:r>
            <a:r>
              <a:rPr sz="2000" b="1">
                <a:latin typeface="+mn-ea"/>
                <a:ea typeface="+mn-ea"/>
                <a:cs typeface="+mn-ea"/>
              </a:rPr>
              <a:t>형성</a:t>
            </a: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2000" b="1">
                <a:latin typeface="+mn-ea"/>
                <a:ea typeface="+mn-ea"/>
                <a:cs typeface="+mn-ea"/>
              </a:rPr>
              <a:t>(c) </a:t>
            </a:r>
            <a:r>
              <a:rPr sz="2000" b="1">
                <a:latin typeface="+mn-ea"/>
                <a:ea typeface="+mn-ea"/>
                <a:cs typeface="+mn-ea"/>
              </a:rPr>
              <a:t>lithiophilic</a:t>
            </a:r>
            <a:r>
              <a:rPr sz="2000" b="1">
                <a:latin typeface="+mn-ea"/>
                <a:ea typeface="+mn-ea"/>
                <a:cs typeface="+mn-ea"/>
              </a:rPr>
              <a:t>, CNT </a:t>
            </a:r>
            <a:r>
              <a:rPr sz="2000" b="1">
                <a:latin typeface="+mn-ea"/>
                <a:ea typeface="+mn-ea"/>
                <a:cs typeface="+mn-ea"/>
              </a:rPr>
              <a:t>→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균일핵</a:t>
            </a:r>
            <a:r>
              <a:rPr sz="2000" b="1">
                <a:latin typeface="+mn-ea"/>
                <a:ea typeface="+mn-ea"/>
                <a:cs typeface="+mn-ea"/>
              </a:rPr>
              <a:t> 증가로 깔끔한 입상 석출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</a:p>
          <a:p xmlns:a="http://schemas.openxmlformats.org/drawingml/2006/main">
            <a:r>
              <a:rPr sz="2000" b="1">
                <a:latin typeface="+mn-ea"/>
                <a:ea typeface="+mn-ea"/>
                <a:cs typeface="+mn-ea"/>
              </a:rPr>
              <a:t>    BUT)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ZnO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비율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높아 전자 전도도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ko-KR" sz="2000" b="1" i="1">
                      <a:latin typeface="Cambria Math"/>
                      <a:ea typeface="Cambria Math"/>
                      <a:cs typeface="Cambria Math"/>
                    </a:rPr>
                    <m:t>↓</m:t>
                  </m:r>
                </m:oMath>
              </m:oMathPara>
            </a14:m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→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장주기에는 표면 </a:t>
            </a:r>
            <a:r>
              <a:rPr sz="2000" b="1">
                <a:latin typeface="+mn-ea"/>
                <a:ea typeface="+mn-ea"/>
                <a:cs typeface="+mn-ea"/>
              </a:rPr>
              <a:t>거칠어짐</a:t>
            </a: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 sz="2000" b="1">
                <a:latin typeface="+mn-ea"/>
                <a:ea typeface="+mn-ea"/>
                <a:cs typeface="+mn-ea"/>
              </a:rPr>
              <a:t>(d) </a:t>
            </a:r>
            <a:r>
              <a:rPr sz="2000" b="1">
                <a:latin typeface="+mn-ea"/>
                <a:ea typeface="+mn-ea"/>
                <a:cs typeface="+mn-ea"/>
              </a:rPr>
              <a:t>기공</a:t>
            </a:r>
            <a:r>
              <a:rPr sz="2000" b="1">
                <a:latin typeface="+mn-ea"/>
                <a:ea typeface="+mn-ea"/>
                <a:cs typeface="+mn-ea"/>
              </a:rPr>
              <a:t>(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ko-KR" sz="2000" b="1" i="1">
                      <a:latin typeface="Cambria Math"/>
                      <a:ea typeface="Cambria Math"/>
                      <a:cs typeface="Cambria Math"/>
                    </a:rPr>
                    <m:t>𝝁</m:t>
                  </m:r>
                  <m:r>
                    <a:rPr xmlns:a="http://schemas.openxmlformats.org/drawingml/2006/main" lang="en-US" sz="2000" b="1" i="1">
                      <a:latin typeface="Cambria Math"/>
                      <a:ea typeface="Cambria Math"/>
                      <a:cs typeface="Cambria Math"/>
                    </a:rPr>
                    <m:t>𝒎</m:t>
                  </m:r>
                </m:oMath>
              </m:oMathPara>
            </a14:m>
            <a:r>
              <a:rPr sz="2000" b="1">
                <a:latin typeface="+mn-ea"/>
                <a:ea typeface="+mn-ea"/>
                <a:cs typeface="+mn-ea"/>
              </a:rPr>
              <a:t>) + </a:t>
            </a:r>
            <a:r>
              <a:rPr sz="2000" b="1">
                <a:latin typeface="+mn-ea"/>
                <a:ea typeface="+mn-ea"/>
                <a:cs typeface="+mn-ea"/>
              </a:rPr>
              <a:t>고전도 경로 </a:t>
            </a:r>
            <a:r>
              <a:rPr sz="2000" b="1">
                <a:latin typeface="+mn-ea"/>
                <a:ea typeface="+mn-ea"/>
                <a:cs typeface="+mn-ea"/>
              </a:rPr>
              <a:t>+ </a:t>
            </a:r>
            <a:r>
              <a:rPr sz="2000" b="1">
                <a:latin typeface="+mn-ea"/>
                <a:ea typeface="+mn-ea"/>
                <a:cs typeface="+mn-ea"/>
              </a:rPr>
              <a:t>기계적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강도 → </a:t>
            </a:r>
            <a:r>
              <a:rPr sz="2000" b="1">
                <a:latin typeface="+mn-ea"/>
                <a:ea typeface="+mn-ea"/>
                <a:cs typeface="+mn-ea"/>
              </a:rPr>
              <a:t>Lithiophobic</a:t>
            </a:r>
            <a:r>
              <a:rPr sz="2000" b="1">
                <a:latin typeface="+mn-ea"/>
                <a:ea typeface="+mn-ea"/>
                <a:cs typeface="+mn-ea"/>
              </a:rPr>
              <a:t> 특성으로 </a:t>
            </a:r>
            <a:r>
              <a:rPr sz="2000" b="1">
                <a:latin typeface="+mn-ea"/>
                <a:ea typeface="+mn-ea"/>
                <a:cs typeface="+mn-ea"/>
              </a:rPr>
              <a:t>dendrite</a:t>
            </a:r>
            <a:r>
              <a:rPr sz="2000" b="1">
                <a:latin typeface="+mn-ea"/>
                <a:ea typeface="+mn-ea"/>
                <a:cs typeface="+mn-ea"/>
              </a:rPr>
              <a:t>억제</a:t>
            </a: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endParaRPr/>
          </a:p>
          <a:p xmlns:a="http://schemas.openxmlformats.org/drawingml/2006/main">
            <a:r>
              <a:t> 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34584C-9DD0-E362-17CC-90558AB7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0063" y="7889674"/>
            <a:ext cx="7255928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Zhang, H., Liao, X., Guan, Y., Xiang, Y., Li, M., Zhang, W., Zhu, X., Ming, H., Lu, L., </a:t>
            </a:r>
            <a:r>
              <a:rPr sz="1600" b="1"/>
              <a:t>Qiu</a:t>
            </a:r>
            <a:r>
              <a:rPr sz="1600" b="1"/>
              <a:t>, J., Huang, Y., Cao, G., Yang, Y., Mai, L., Zhao, Y., &amp; Zhang, H.</a:t>
            </a:r>
            <a:r>
              <a:rPr sz="1600"/>
              <a:t> (2018). </a:t>
            </a:r>
            <a:r>
              <a:rPr sz="1600"/>
              <a:t>Lithiophilic</a:t>
            </a:r>
            <a:r>
              <a:rPr sz="1600"/>
              <a:t>–</a:t>
            </a:r>
            <a:r>
              <a:rPr sz="1600"/>
              <a:t>lithiophobic</a:t>
            </a:r>
            <a:r>
              <a:rPr sz="1600"/>
              <a:t> gradient interfacial layer for a highly stable lithium metal anode. </a:t>
            </a:r>
            <a:r>
              <a:rPr sz="1600" i="1"/>
              <a:t>Nature Communications, 9</a:t>
            </a:r>
            <a:r>
              <a:rPr sz="1600"/>
              <a:t>, Article 3729. https://doi.org/10.1038/s41467-018-06126-z</a:t>
            </a:r>
          </a:p>
          <a:p xmlns:a="http://schemas.openxmlformats.org/drawingml/2006/main">
            <a:endParaRPr sz="16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1897FA-6196-D4FC-F406-055E2A06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0063" y="7552075"/>
            <a:ext cx="79457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Fig. 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645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19AD4B1-11FE-9943-2E82-F9C2568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245d200ea4b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72AB22B-EA80-E7E8-5CA8-A32826CD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CNT</a:t>
            </a:r>
            <a:endParaRPr sz="7200" b="0" i="0" u="none">
              <a:solidFill>
                <a:srgbClr val="7E8C8A"/>
              </a:solidFill>
            </a:endParaRPr>
          </a:p>
        </p:txBody>
      </p:sp>
      <p:graphicFrame>
        <p:nvGraphicFramePr>
          <p:cNvPr id="26" name="표 3"/>
          <p:cNvGraphicFramePr/>
          <p:nvPr/>
        </p:nvGraphicFramePr>
        <p:xfrm>
          <a:off xmlns:a="http://schemas.openxmlformats.org/drawingml/2006/main" x="495300" y="3020411"/>
          <a:ext xmlns:a="http://schemas.openxmlformats.org/drawingml/2006/main" cx="8952271" cy="4854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0466"/>
                <a:gridCol w="6341805"/>
              </a:tblGrid>
              <a:tr h="1213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Lithiophobic</a:t>
                      </a:r>
                      <a:endParaRPr sz="2000" b="1"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(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리튬 비친화성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)</a:t>
                      </a:r>
                      <a:endParaRPr sz="20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CNT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는 리튬 친화성이 낮아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en-US" sz="2000" b="1" i="0"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 </m:t>
                            </m:r>
                            <m:sSup>
                              <m:e>
                                <m:r>
                                  <a:rPr xmlns:a="http://schemas.openxmlformats.org/drawingml/2006/main" lang="en-US" sz="20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𝑳𝒊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0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</m:sup>
                            </m:sSup>
                          </m:oMath>
                        </m:oMathPara>
                      </a14:m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이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CNT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에 잘 붙지 않음 → 초기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nucleation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이</a:t>
                      </a:r>
                      <a:r>
                        <a:rPr sz="2000" b="1" baseline="0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:r>
                        <a:rPr sz="2000" b="1" baseline="0">
                          <a:latin typeface="+mn-ea"/>
                          <a:ea typeface="+mn-ea"/>
                          <a:cs typeface="+mn-ea"/>
                        </a:rPr>
                        <a:t>느리거나 </a:t>
                      </a:r>
                      <a:r>
                        <a:rPr sz="2000" b="1" baseline="0">
                          <a:latin typeface="+mn-ea"/>
                          <a:ea typeface="+mn-ea"/>
                          <a:cs typeface="+mn-ea"/>
                        </a:rPr>
                        <a:t>불균일</a:t>
                      </a:r>
                      <a:endParaRPr sz="20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1213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핵 생성 지연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Li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이 석출될 때 핵을 만들려면 높은 과전압 필요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→ 전지효율 낮아짐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, SEI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불균일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 성장</a:t>
                      </a:r>
                      <a:endParaRPr sz="20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1213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기계적 부착력 약함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CNT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는 기계적 강도가 높지만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Li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금속과 화학적 접착력이 낮음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→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interface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접촉 저하</a:t>
                      </a:r>
                      <a:endParaRPr sz="20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1213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초기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사이클 효율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(ICE)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낮음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초기 리튬 석출이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불균일하면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SEI 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재형성 반복</a:t>
                      </a:r>
                      <a:r>
                        <a:rPr sz="2000" b="1">
                          <a:latin typeface="+mj-ea"/>
                          <a:ea typeface="+mj-ea"/>
                          <a:cs typeface="+mj-ea"/>
                        </a:rPr>
                        <a:t>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→ 전해질 손실 많고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Coulombic Efficiency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낮아짐</a:t>
                      </a:r>
                      <a:endParaRPr sz="20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4AEEE82-7C70-1F2B-8CB2-BEC61528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64153"/>
            <a:ext cx="521232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v"/>
            </a:pPr>
            <a:r>
              <a:rPr sz="2800" b="1">
                <a:latin typeface="+mn-ea"/>
                <a:ea typeface="+mn-ea"/>
                <a:cs typeface="+mn-ea"/>
              </a:rPr>
              <a:t>CNT </a:t>
            </a:r>
            <a:r>
              <a:rPr sz="2800" b="1">
                <a:latin typeface="+mn-ea"/>
                <a:ea typeface="+mn-ea"/>
                <a:cs typeface="+mn-ea"/>
              </a:rPr>
              <a:t>단독 사용시 단점</a:t>
            </a:r>
          </a:p>
        </p:txBody>
      </p:sp>
      <p:pic>
        <p:nvPicPr>
          <p:cNvPr id="28" name="그림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dc1a8a99a4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18005" y="3020411"/>
            <a:ext cx="5868701" cy="4737546"/>
          </a:xfrm>
          <a:prstGeom xmlns:a="http://schemas.openxmlformats.org/drawingml/2006/main" prst="rect">
            <a:avLst/>
          </a:prstGeom>
        </p:spPr>
      </p:pic>
      <p:sp>
        <p:nvSpPr>
          <p:cNvPr id="8" name="화살표: 아래쪽 7">
            <a:extLst xmlns:a="http://schemas.openxmlformats.org/drawingml/2006/main">
              <a:ext uri="{FF2B5EF4-FFF2-40B4-BE49-F238E27FC236}">
                <a16:creationId xmlns:a16="http://schemas.microsoft.com/office/drawing/2014/main" id="{CEF63FC0-9753-7207-FA72-060C57F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674" y="8126361"/>
            <a:ext cx="632952" cy="581333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10650AD-EAA9-5347-98CF-80DF7666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30" y="9029186"/>
            <a:ext cx="833283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latin typeface="+mn-ea"/>
                <a:ea typeface="+mn-ea"/>
                <a:cs typeface="+mn-ea"/>
              </a:rPr>
              <a:t>ZnO</a:t>
            </a:r>
            <a:r>
              <a:rPr sz="2800" b="1">
                <a:latin typeface="+mn-ea"/>
                <a:ea typeface="+mn-ea"/>
                <a:cs typeface="+mn-ea"/>
              </a:rPr>
              <a:t>와 </a:t>
            </a:r>
            <a:r>
              <a:rPr sz="2800" b="1">
                <a:latin typeface="+mn-ea"/>
                <a:ea typeface="+mn-ea"/>
                <a:cs typeface="+mn-ea"/>
              </a:rPr>
              <a:t>CNT</a:t>
            </a:r>
            <a:r>
              <a:rPr sz="2800" b="1">
                <a:latin typeface="+mn-ea"/>
                <a:ea typeface="+mn-ea"/>
                <a:cs typeface="+mn-ea"/>
              </a:rPr>
              <a:t>를 사용한 </a:t>
            </a:r>
            <a:r>
              <a:rPr sz="2800" b="1">
                <a:latin typeface="+mn-ea"/>
                <a:ea typeface="+mn-ea"/>
                <a:cs typeface="+mn-ea"/>
              </a:rPr>
              <a:t>GZCNT</a:t>
            </a:r>
            <a:r>
              <a:rPr sz="2800" b="1">
                <a:latin typeface="+mn-ea"/>
                <a:ea typeface="+mn-ea"/>
                <a:cs typeface="+mn-ea"/>
              </a:rPr>
              <a:t>로 단점 보완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894A45-A5B7-06F3-4E3E-B63B9FD8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0063" y="8126180"/>
            <a:ext cx="7255928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Zhang, H., Liao, X., Guan, Y., Xiang, Y., Li, M., Zhang, W., Zhu, X., Ming, H., Lu, L., </a:t>
            </a:r>
            <a:r>
              <a:rPr sz="1600" b="1"/>
              <a:t>Qiu</a:t>
            </a:r>
            <a:r>
              <a:rPr sz="1600" b="1"/>
              <a:t>, J., Huang, Y., Cao, G., Yang, Y., Mai, L., Zhao, Y., &amp; Zhang, H.</a:t>
            </a:r>
            <a:r>
              <a:rPr sz="1600"/>
              <a:t> (2018). </a:t>
            </a:r>
            <a:r>
              <a:rPr sz="1600"/>
              <a:t>Lithiophilic</a:t>
            </a:r>
            <a:r>
              <a:rPr sz="1600"/>
              <a:t>–</a:t>
            </a:r>
            <a:r>
              <a:rPr sz="1600"/>
              <a:t>lithiophobic</a:t>
            </a:r>
            <a:r>
              <a:rPr sz="1600"/>
              <a:t> gradient interfacial layer for a highly stable lithium metal anode. </a:t>
            </a:r>
            <a:r>
              <a:rPr sz="1600" i="1"/>
              <a:t>Nature Communications, 9</a:t>
            </a:r>
            <a:r>
              <a:rPr sz="1600"/>
              <a:t>, Article 3729. https://doi.org/10.1038/s41467-018-06126-z</a:t>
            </a:r>
          </a:p>
          <a:p xmlns:a="http://schemas.openxmlformats.org/drawingml/2006/main">
            <a:endParaRPr sz="16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1238BA-579C-BF62-87C5-8620CC4D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62" y="7766499"/>
            <a:ext cx="159801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Fig. 4.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26323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DF79AD5-5F76-B194-E42C-CD292CDC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130e501ba4a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10DC74F-88E3-D6C0-6A4D-31AC6C50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GZCNT </a:t>
            </a:r>
            <a:r>
              <a:rPr sz="7200">
                <a:solidFill>
                  <a:srgbClr val="7E8C8A"/>
                </a:solidFill>
              </a:rPr>
              <a:t>Process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ACFE55-B709-2E01-F75F-FF1A52A3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1" y="2425763"/>
            <a:ext cx="6519688" cy="34246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v"/>
            </a:pPr>
            <a:r>
              <a:rPr sz="2800" b="1">
                <a:latin typeface="+mn-ea"/>
                <a:ea typeface="+mn-ea"/>
                <a:cs typeface="+mn-ea"/>
              </a:rPr>
              <a:t>Process</a:t>
            </a:r>
          </a:p>
          <a:p xmlns:a="http://schemas.openxmlformats.org/drawingml/2006/main">
            <a:pPr marL="457200" indent="-457200">
              <a:buFont typeface="Wingdings"/>
              <a:buChar char="v"/>
            </a:pP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CNT, 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를 용매에 넣고 교반</a:t>
            </a:r>
            <a:r>
              <a:rPr sz="2400" b="1">
                <a:latin typeface="+mn-ea"/>
                <a:ea typeface="+mn-ea"/>
                <a:cs typeface="+mn-ea"/>
              </a:rPr>
              <a:t>(stir)</a:t>
            </a:r>
            <a:r>
              <a:rPr sz="2400" b="1">
                <a:latin typeface="+mn-ea"/>
                <a:ea typeface="+mn-ea"/>
                <a:cs typeface="+mn-ea"/>
              </a:rPr>
              <a:t> → </a:t>
            </a:r>
            <a:r>
              <a:rPr sz="2400" b="1">
                <a:latin typeface="+mn-ea"/>
                <a:ea typeface="+mn-ea"/>
                <a:cs typeface="+mn-ea"/>
              </a:rPr>
              <a:t>분산액</a:t>
            </a:r>
            <a:r>
              <a:rPr sz="2400" b="1">
                <a:latin typeface="+mn-ea"/>
                <a:ea typeface="+mn-ea"/>
                <a:cs typeface="+mn-ea"/>
              </a:rPr>
              <a:t>(suspension) </a:t>
            </a:r>
            <a:r>
              <a:rPr sz="2400" b="1">
                <a:latin typeface="+mn-ea"/>
                <a:ea typeface="+mn-ea"/>
                <a:cs typeface="+mn-ea"/>
              </a:rPr>
              <a:t>생성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드립핑</a:t>
            </a:r>
            <a:r>
              <a:rPr sz="2400" b="1">
                <a:latin typeface="+mn-ea"/>
                <a:ea typeface="+mn-ea"/>
                <a:cs typeface="+mn-ea"/>
              </a:rPr>
              <a:t>(Dripping) </a:t>
            </a:r>
            <a:r>
              <a:rPr sz="2400" b="1">
                <a:latin typeface="+mn-ea"/>
                <a:ea typeface="+mn-ea"/>
                <a:cs typeface="+mn-ea"/>
              </a:rPr>
              <a:t>→ </a:t>
            </a:r>
            <a:r>
              <a:rPr sz="2400" b="1">
                <a:latin typeface="+mn-ea"/>
                <a:ea typeface="+mn-ea"/>
                <a:cs typeface="+mn-ea"/>
              </a:rPr>
              <a:t>30~40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ko-KR" sz="2400" b="1" i="1">
                      <a:latin typeface="Cambria Math"/>
                      <a:ea typeface="Cambria Math"/>
                      <a:cs typeface="Cambria Math"/>
                    </a:rPr>
                    <m:t>𝝁</m:t>
                  </m:r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𝑳</m:t>
                  </m:r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/</m:t>
                  </m:r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𝒄𝒎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p>
                  </m:sSup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로 </a:t>
            </a:r>
            <a:r>
              <a:rPr sz="2400" b="1">
                <a:latin typeface="+mn-ea"/>
                <a:ea typeface="+mn-ea"/>
                <a:cs typeface="+mn-ea"/>
              </a:rPr>
              <a:t>Pipette</a:t>
            </a:r>
            <a:r>
              <a:rPr sz="2400" b="1">
                <a:latin typeface="+mn-ea"/>
                <a:ea typeface="+mn-ea"/>
                <a:cs typeface="+mn-ea"/>
              </a:rPr>
              <a:t>을 사용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건조</a:t>
            </a:r>
            <a:r>
              <a:rPr sz="2400" b="1">
                <a:latin typeface="+mn-ea"/>
                <a:ea typeface="+mn-ea"/>
                <a:cs typeface="+mn-ea"/>
              </a:rPr>
              <a:t>(Drying): 80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>℃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에서 </a:t>
            </a:r>
            <a:r>
              <a:rPr sz="2400" b="1">
                <a:latin typeface="+mn-ea"/>
                <a:ea typeface="+mn-ea"/>
                <a:cs typeface="+mn-ea"/>
              </a:rPr>
              <a:t>1</a:t>
            </a:r>
            <a:r>
              <a:rPr sz="2400" b="1">
                <a:latin typeface="+mn-ea"/>
                <a:ea typeface="+mn-ea"/>
                <a:cs typeface="+mn-ea"/>
              </a:rPr>
              <a:t>시간 건조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C4443EC-D2AD-E657-0DDA-C6BF0EAB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069" y="2425763"/>
            <a:ext cx="4064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v"/>
            </a:pPr>
            <a:r>
              <a:rPr sz="2800" b="1">
                <a:latin typeface="+mn-ea"/>
                <a:ea typeface="+mn-ea"/>
                <a:cs typeface="+mn-ea"/>
              </a:rPr>
              <a:t>Schematic diagram</a:t>
            </a:r>
          </a:p>
        </p:txBody>
      </p:sp>
      <p:pic>
        <p:nvPicPr>
          <p:cNvPr id="31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0422dbf0240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1069" y="3075335"/>
            <a:ext cx="8643871" cy="2068165"/>
          </a:xfrm>
          <a:prstGeom xmlns:a="http://schemas.openxmlformats.org/drawingml/2006/main" prst="rect">
            <a:avLst/>
          </a:prstGeom>
        </p:spPr>
      </p:pic>
      <p:pic>
        <p:nvPicPr>
          <p:cNvPr id="32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b172b7c924e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1069" y="6391365"/>
            <a:ext cx="3401705" cy="2939744"/>
          </a:xfrm>
          <a:prstGeom xmlns:a="http://schemas.openxmlformats.org/drawingml/2006/main" prst="rect">
            <a:avLst/>
          </a:prstGeom>
        </p:spPr>
      </p:pic>
      <p:pic>
        <p:nvPicPr>
          <p:cNvPr id="33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4e4d9b60f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13004" y="6391365"/>
            <a:ext cx="3557516" cy="2939744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081299F-9D49-EE06-02DB-52CED4AF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069" y="5868717"/>
            <a:ext cx="2433571" cy="52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v"/>
            </a:pPr>
            <a:r>
              <a:rPr sz="2800" b="1">
                <a:latin typeface="+mn-ea"/>
                <a:ea typeface="+mn-ea"/>
                <a:cs typeface="+mn-ea"/>
              </a:rPr>
              <a:t>CNT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10A7FBB-3547-47DC-8B42-5C10EC6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3004" y="5818642"/>
            <a:ext cx="2433571" cy="52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v"/>
            </a:pPr>
            <a:r>
              <a:rPr sz="2800" b="1">
                <a:latin typeface="+mn-ea"/>
                <a:ea typeface="+mn-ea"/>
                <a:cs typeface="+mn-ea"/>
              </a:rPr>
              <a:t>ZnO</a:t>
            </a:r>
            <a:r>
              <a:rPr sz="2800" b="1">
                <a:latin typeface="+mn-ea"/>
                <a:ea typeface="+mn-ea"/>
                <a:cs typeface="+mn-ea"/>
              </a:rPr>
              <a:t>/CNT</a:t>
            </a:r>
          </a:p>
        </p:txBody>
      </p:sp>
      <p:graphicFrame>
        <p:nvGraphicFramePr>
          <p:cNvPr id="36" name="표 17"/>
          <p:cNvGraphicFramePr/>
          <p:nvPr/>
        </p:nvGraphicFramePr>
        <p:xfrm>
          <a:off xmlns:a="http://schemas.openxmlformats.org/drawingml/2006/main" x="353060" y="6843994"/>
          <a:ext xmlns:a="http://schemas.openxmlformats.org/drawingml/2006/main" cx="8017779" cy="248711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2785"/>
                <a:gridCol w="2536723"/>
                <a:gridCol w="4418271"/>
              </a:tblGrid>
              <a:tr h="7912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상부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0.2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wt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% CNT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리튬 회피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(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Lithiophobic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)</a:t>
                      </a:r>
                    </a:p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en-US" sz="2000" b="1" i="0">
                                <a:latin typeface="Cambria Math"/>
                                <a:ea typeface="Cambria Math"/>
                                <a:cs typeface="Cambria Math"/>
                              </a:rPr>
                              <m:t>→</m:t>
                            </m:r>
                          </m:oMath>
                        </m:oMathPara>
                      </a14:m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dendrite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차단</a:t>
                      </a:r>
                    </a:p>
                  </a:txBody>
                  <a:tcPr marL="91440" marR="91440" marT="45720" marB="45720" anchor="ctr"/>
                </a:tc>
              </a:tr>
              <a:tr h="904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중간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0.1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wt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%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ZnO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/CNT +0.1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wt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% CNT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점진적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전이층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(gradient)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</a:tr>
              <a:tr h="7912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하부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0.2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wt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%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ZnO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/CNT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리튬 친화성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(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Lithiophilic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) </a:t>
                      </a: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>
                            <m:r>
                              <a:rPr xmlns:a="http://schemas.openxmlformats.org/drawingml/2006/main" lang="en-US" sz="2000" b="1" i="1">
                                <a:latin typeface="Cambria Math"/>
                                <a:ea typeface="Cambria Math"/>
                                <a:cs typeface="Cambria Math"/>
                              </a:rPr>
                              <m:t>→</m:t>
                            </m:r>
                          </m:oMath>
                        </m:oMathPara>
                      </a14:m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 균일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석출 유도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7E96761-7052-EFCA-6A19-43EF3443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306" y="9602404"/>
            <a:ext cx="850339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/>
              <a:t>Zhang, H., Liao, X., Guan, Y., Xiang, Y., Li, M., Zhang, W., Zhu, X., Ming, H., Lu, L., </a:t>
            </a:r>
            <a:r>
              <a:rPr sz="1200" b="1"/>
              <a:t>Qiu</a:t>
            </a:r>
            <a:r>
              <a:rPr sz="1200" b="1"/>
              <a:t>, J., Huang, Y., Cao, G., Yang, Y., Mai, L., Zhao, Y., &amp; Zhang, H.</a:t>
            </a:r>
            <a:r>
              <a:rPr sz="1200"/>
              <a:t> (2018). </a:t>
            </a:r>
            <a:r>
              <a:rPr sz="1200"/>
              <a:t>Lithiophilic</a:t>
            </a:r>
            <a:r>
              <a:rPr sz="1200"/>
              <a:t>–</a:t>
            </a:r>
            <a:r>
              <a:rPr sz="1200"/>
              <a:t>lithiophobic</a:t>
            </a:r>
            <a:r>
              <a:rPr sz="1200"/>
              <a:t> gradient interfacial layer for a highly stable lithium metal anode. </a:t>
            </a:r>
            <a:r>
              <a:rPr sz="1200" i="1"/>
              <a:t>Nature Communications, 9</a:t>
            </a:r>
            <a:r>
              <a:rPr sz="1200"/>
              <a:t>, Article 3729. https://doi.org/10.1038/s41467-018-06126-z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13D094-02F2-80C8-2080-7A05362B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9306" y="9290837"/>
            <a:ext cx="79457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Fig. 2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715064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3819D34-4C14-3D28-6B8C-257AC25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761f6ebad4f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225F723-7F57-2F0D-9CE6-8EC53104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GZCNT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A1D8216-4273-BD39-E37F-B873E477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2863506"/>
            <a:ext cx="7711439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-coated CNT (</a:t>
            </a:r>
            <a:r>
              <a:rPr sz="2400" b="1">
                <a:latin typeface="+mn-ea"/>
                <a:ea typeface="+mn-ea"/>
                <a:cs typeface="+mn-ea"/>
              </a:rPr>
              <a:t>하부층</a:t>
            </a:r>
            <a:r>
              <a:rPr sz="2400" b="1">
                <a:latin typeface="+mn-ea"/>
                <a:ea typeface="+mn-ea"/>
                <a:cs typeface="+mn-ea"/>
              </a:rPr>
              <a:t>)</a:t>
            </a:r>
          </a:p>
          <a:p xmlns:a="http://schemas.openxmlformats.org/drawingml/2006/main"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이온 농도 불균형 해소 → 리튬 이온 흡착 위치를 강제 제어 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계면 공간 제어 → 다공성 구조로 이온 분포 안정화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SEI</a:t>
            </a:r>
            <a:r>
              <a:rPr sz="2400" b="1">
                <a:latin typeface="+mn-ea"/>
                <a:ea typeface="+mn-ea"/>
                <a:cs typeface="+mn-ea"/>
              </a:rPr>
              <a:t> 형성 제어 → </a:t>
            </a:r>
            <a:r>
              <a:rPr sz="2400" b="1">
                <a:latin typeface="+mn-ea"/>
                <a:ea typeface="+mn-ea"/>
                <a:cs typeface="+mn-ea"/>
              </a:rPr>
              <a:t>SEI </a:t>
            </a:r>
            <a:r>
              <a:rPr sz="2400" b="1">
                <a:latin typeface="+mn-ea"/>
                <a:ea typeface="+mn-ea"/>
                <a:cs typeface="+mn-ea"/>
              </a:rPr>
              <a:t>재형성</a:t>
            </a:r>
            <a:r>
              <a:rPr sz="2400" b="1">
                <a:latin typeface="+mn-ea"/>
                <a:ea typeface="+mn-ea"/>
                <a:cs typeface="+mn-ea"/>
              </a:rPr>
              <a:t> / </a:t>
            </a:r>
            <a:r>
              <a:rPr sz="2400" b="1">
                <a:latin typeface="+mn-ea"/>
                <a:ea typeface="+mn-ea"/>
                <a:cs typeface="+mn-ea"/>
              </a:rPr>
              <a:t>붕괴 최소화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BCE8AD6-4C40-F319-D4EE-7787C17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080"/>
            <a:ext cx="4064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v"/>
            </a:pPr>
            <a:r>
              <a:rPr sz="2800" b="1">
                <a:latin typeface="+mn-ea"/>
                <a:ea typeface="+mn-ea"/>
                <a:cs typeface="+mn-ea"/>
              </a:rPr>
              <a:t>CNT vs GZCNT</a:t>
            </a:r>
          </a:p>
        </p:txBody>
      </p:sp>
      <p:pic>
        <p:nvPicPr>
          <p:cNvPr id="28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6fabefc6a4c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687373"/>
            <a:ext cx="9499599" cy="3399254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F1F094-64E3-C534-915D-856BD329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6335760"/>
            <a:ext cx="7203439" cy="341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400" b="1">
                <a:latin typeface="+mn-ea"/>
                <a:ea typeface="+mn-ea"/>
                <a:cs typeface="+mn-ea"/>
              </a:rPr>
              <a:t>CNT (</a:t>
            </a:r>
            <a:r>
              <a:rPr sz="2400" b="1">
                <a:latin typeface="+mn-ea"/>
                <a:ea typeface="+mn-ea"/>
                <a:cs typeface="+mn-ea"/>
              </a:rPr>
              <a:t>상부층</a:t>
            </a:r>
            <a:r>
              <a:rPr sz="2400" b="1">
                <a:latin typeface="+mn-ea"/>
                <a:ea typeface="+mn-ea"/>
                <a:cs typeface="+mn-ea"/>
              </a:rPr>
              <a:t>)</a:t>
            </a:r>
          </a:p>
          <a:p xmlns:a="http://schemas.openxmlformats.org/drawingml/2006/main"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전자전도 경로 유지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전기장 분포 조절 → 국소적 전류 집중 억제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다공성 구조로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이동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경로 확보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기계적 강도 → </a:t>
            </a:r>
            <a:r>
              <a:rPr sz="2400" b="1">
                <a:latin typeface="+mn-ea"/>
                <a:ea typeface="+mn-ea"/>
                <a:cs typeface="+mn-ea"/>
              </a:rPr>
              <a:t>dendrite </a:t>
            </a:r>
            <a:r>
              <a:rPr sz="2400" b="1">
                <a:latin typeface="+mn-ea"/>
                <a:ea typeface="+mn-ea"/>
                <a:cs typeface="+mn-ea"/>
              </a:rPr>
              <a:t>물리적 차단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pic>
        <p:nvPicPr>
          <p:cNvPr id="30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ac03d0b9a4e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6335760"/>
            <a:ext cx="9499599" cy="305384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853A1B-2C42-43D3-8484-20BAD0EC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49651"/>
            <a:ext cx="9784326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/>
              <a:t>Zhang, H., Liao, X., Guan, Y., Xiang, Y., Li, M., Zhang, W., Zhu, X., Ming, H., Lu, L., </a:t>
            </a:r>
            <a:r>
              <a:rPr sz="1200" b="1"/>
              <a:t>Qiu</a:t>
            </a:r>
            <a:r>
              <a:rPr sz="1200" b="1"/>
              <a:t>, J., Huang, Y., Cao, G., Yang, Y., Mai, L., Zhao, Y., &amp; Zhang, H.</a:t>
            </a:r>
            <a:r>
              <a:rPr sz="1200"/>
              <a:t> (2018). </a:t>
            </a:r>
            <a:r>
              <a:rPr sz="1200"/>
              <a:t>Lithiophilic</a:t>
            </a:r>
            <a:r>
              <a:rPr sz="1200"/>
              <a:t>–</a:t>
            </a:r>
            <a:r>
              <a:rPr sz="1200"/>
              <a:t>lithiophobic</a:t>
            </a:r>
            <a:r>
              <a:rPr sz="1200"/>
              <a:t> gradient interfacial layer for a highly stable lithium metal anode. </a:t>
            </a:r>
            <a:r>
              <a:rPr sz="1200" i="1"/>
              <a:t>Nature Communications, 9</a:t>
            </a:r>
            <a:r>
              <a:rPr sz="1200"/>
              <a:t>, Article 3729. https://doi.org/10.1038/s41467-018-06126-z</a:t>
            </a:r>
          </a:p>
          <a:p xmlns:a="http://schemas.openxmlformats.org/drawingml/2006/main">
            <a:endParaRPr sz="12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179B088-A5EB-B8EE-1D9C-1EDF4B92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94" y="9386327"/>
            <a:ext cx="979292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Fig. 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94904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2BB5721-FE33-512B-E21B-7F3D0DC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7e0d88c0c43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C574A4-004B-253F-1812-A9FC8B4A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GZCNT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71E914D-499E-6E16-C98A-67A410F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312" y="2198012"/>
            <a:ext cx="705888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400" b="1">
                <a:latin typeface="+mj-ea"/>
                <a:ea typeface="+mj-ea"/>
                <a:cs typeface="+mj-ea"/>
              </a:rPr>
              <a:t>current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density, </a:t>
            </a:r>
            <a:r>
              <a:rPr sz="2400" b="1">
                <a:latin typeface="+mj-ea"/>
                <a:ea typeface="+mj-ea"/>
                <a:cs typeface="+mj-ea"/>
              </a:rPr>
              <a:t>대칭 셀</a:t>
            </a:r>
            <a:r>
              <a:rPr sz="2400" b="1">
                <a:latin typeface="+mj-ea"/>
                <a:ea typeface="+mj-ea"/>
                <a:cs typeface="+mj-ea"/>
              </a:rPr>
              <a:t>(symmetric cell)</a:t>
            </a:r>
          </a:p>
        </p:txBody>
      </p:sp>
      <p:pic>
        <p:nvPicPr>
          <p:cNvPr id="27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32a1ec8504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762" y="1787011"/>
            <a:ext cx="5752257" cy="7537909"/>
          </a:xfrm>
          <a:prstGeom xmlns:a="http://schemas.openxmlformats.org/drawingml/2006/main" prst="rect">
            <a:avLst/>
          </a:prstGeom>
        </p:spPr>
      </p:pic>
      <p:graphicFrame>
        <p:nvGraphicFramePr>
          <p:cNvPr id="28" name="표 6"/>
          <p:cNvGraphicFramePr/>
          <p:nvPr/>
        </p:nvGraphicFramePr>
        <p:xfrm>
          <a:off xmlns:a="http://schemas.openxmlformats.org/drawingml/2006/main" x="7114312" y="2873934"/>
          <a:ext xmlns:a="http://schemas.openxmlformats.org/drawingml/2006/main" cx="10478728" cy="29698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9682"/>
                <a:gridCol w="2619682"/>
                <a:gridCol w="2619682"/>
                <a:gridCol w="2619682"/>
              </a:tblGrid>
              <a:tr h="715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조건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Li foil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CNT-coated Li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GZCNT-coated Li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715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𝟏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&lt; 200h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~1000h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1000h&lt;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715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𝟓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&lt; 10h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80~90h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120h&lt;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715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𝟏𝟎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&lt; 5h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20h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~100h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" name="화살표: 아래쪽 7">
            <a:extLst xmlns:a="http://schemas.openxmlformats.org/drawingml/2006/main">
              <a:ext uri="{FF2B5EF4-FFF2-40B4-BE49-F238E27FC236}">
                <a16:creationId xmlns:a16="http://schemas.microsoft.com/office/drawing/2014/main" id="{064ACD26-0690-0412-8161-DC65205D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7200" y="6327776"/>
            <a:ext cx="632952" cy="581333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79887B-B46A-BDB0-5C2B-DF65C21A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312" y="7393056"/>
            <a:ext cx="10478728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latin typeface="+mj-ea"/>
                <a:ea typeface="+mj-ea"/>
                <a:cs typeface="+mj-ea"/>
              </a:rPr>
              <a:t>GZCNT-coated Li</a:t>
            </a:r>
            <a:r>
              <a:rPr sz="2800" b="1">
                <a:latin typeface="+mj-ea"/>
                <a:ea typeface="+mj-ea"/>
                <a:cs typeface="+mj-ea"/>
              </a:rPr>
              <a:t> 전극이 다양한 전류 밀도 조건에서도 가장 얕고 안정적인 전압 유지 특성을 보인다</a:t>
            </a:r>
            <a:r>
              <a:rPr sz="2800" b="1">
                <a:latin typeface="+mj-ea"/>
                <a:ea typeface="+mj-ea"/>
                <a:cs typeface="+mj-ea"/>
              </a:rPr>
              <a:t>.</a:t>
            </a:r>
            <a:endParaRPr sz="2800" b="1">
              <a:latin typeface="+mj-ea"/>
              <a:ea typeface="+mj-ea"/>
              <a:cs typeface="+mj-ea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381AE6-7424-60B6-2A90-64F0B142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62" y="9614947"/>
            <a:ext cx="16664278" cy="6924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300" b="1"/>
              <a:t>Zhang, H., Liao, X., Guan, Y., Xiang, Y., Li, M., Zhang, W., Zhu, X., Ming, H., Lu, L., </a:t>
            </a:r>
            <a:r>
              <a:rPr sz="1300" b="1"/>
              <a:t>Qiu</a:t>
            </a:r>
            <a:r>
              <a:rPr sz="1300" b="1"/>
              <a:t>, J., Huang, Y., Cao, G., Yang, Y., Mai, L., Zhao, Y., &amp; Zhang, H.</a:t>
            </a:r>
            <a:r>
              <a:rPr sz="1300"/>
              <a:t> (2018). </a:t>
            </a:r>
            <a:r>
              <a:rPr sz="1300"/>
              <a:t>Lithiophilic</a:t>
            </a:r>
            <a:r>
              <a:rPr sz="1300"/>
              <a:t>–</a:t>
            </a:r>
            <a:r>
              <a:rPr sz="1300"/>
              <a:t>lithiophobic</a:t>
            </a:r>
            <a:r>
              <a:rPr sz="1300"/>
              <a:t> gradient interfacial layer for a highly stable lithium metal anode. </a:t>
            </a:r>
            <a:r>
              <a:rPr sz="1300" i="1"/>
              <a:t>Nature Communications, 9</a:t>
            </a:r>
            <a:r>
              <a:rPr sz="1300"/>
              <a:t>, Article 3729. https://doi.org/10.1038/s41467-018-06126-z</a:t>
            </a:r>
          </a:p>
          <a:p xmlns:a="http://schemas.openxmlformats.org/drawingml/2006/main">
            <a:endParaRPr sz="130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830A0B-482E-B4C8-7A8C-7BCDF88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62" y="9322559"/>
            <a:ext cx="9792928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/>
              <a:t>Fig. 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996695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14EE4DC-5DFF-1B3E-CA54-CC2006D8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pic>
        <p:nvPicPr>
          <p:cNvPr id="2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b83f58a4d4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FCB2060-CBF0-5E74-EC93-9196825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GZCNT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7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28a6d00d245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032" y="4839937"/>
            <a:ext cx="5617496" cy="482726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929DB1F-6A30-C05D-4F5E-9A8EC172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356" y="4868343"/>
            <a:ext cx="10623344" cy="1292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400" b="1">
                <a:latin typeface="+mj-ea"/>
                <a:ea typeface="+mj-ea"/>
                <a:cs typeface="+mj-ea"/>
              </a:rPr>
              <a:t>Electrochemical </a:t>
            </a:r>
            <a:r>
              <a:rPr sz="2400" b="1">
                <a:latin typeface="+mj-ea"/>
                <a:ea typeface="+mj-ea"/>
                <a:cs typeface="+mj-ea"/>
              </a:rPr>
              <a:t>Impeance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Spectroscpoy</a:t>
            </a:r>
            <a:r>
              <a:rPr sz="2400" b="1">
                <a:latin typeface="+mj-ea"/>
                <a:ea typeface="+mj-ea"/>
                <a:cs typeface="+mj-ea"/>
              </a:rPr>
              <a:t> (</a:t>
            </a:r>
            <a:r>
              <a:rPr sz="2400" b="1">
                <a:latin typeface="+mj-ea"/>
                <a:ea typeface="+mj-ea"/>
                <a:cs typeface="+mj-ea"/>
              </a:rPr>
              <a:t>인피던스</a:t>
            </a:r>
            <a:r>
              <a:rPr sz="2400" b="1">
                <a:latin typeface="+mj-ea"/>
                <a:ea typeface="+mj-ea"/>
                <a:cs typeface="+mj-ea"/>
              </a:rPr>
              <a:t> 곡선 분석</a:t>
            </a:r>
            <a:r>
              <a:rPr sz="2400" b="1">
                <a:latin typeface="+mj-ea"/>
                <a:ea typeface="+mj-ea"/>
                <a:cs typeface="+mj-ea"/>
              </a:rPr>
              <a:t>)</a:t>
            </a:r>
          </a:p>
          <a:p xmlns:a="http://schemas.openxmlformats.org/drawingml/2006/main">
            <a:endParaRPr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742950" lvl="1" indent="-285750">
              <a:buFont typeface="Arial"/>
              <a:buChar char="•"/>
            </a:pPr>
            <a:r>
              <a:rPr b="1">
                <a:latin typeface="+mj-ea"/>
                <a:ea typeface="+mj-ea"/>
                <a:cs typeface="+mj-ea"/>
              </a:rPr>
              <a:t>반원의 크기가 클수록 계면 저항이 큼</a:t>
            </a:r>
            <a:endParaRPr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742950" lvl="1" indent="-285750">
              <a:buFont typeface="Arial"/>
              <a:buChar char="•"/>
            </a:pPr>
            <a:r>
              <a:rPr b="1">
                <a:latin typeface="+mj-ea"/>
                <a:ea typeface="+mj-ea"/>
                <a:cs typeface="+mj-ea"/>
              </a:rPr>
              <a:t>저항 증가가 적을수록 계면이 안정적 → 수명 연장</a:t>
            </a:r>
            <a:endParaRPr b="1">
              <a:latin typeface="+mj-ea"/>
              <a:ea typeface="+mj-ea"/>
              <a:cs typeface="+mj-ea"/>
            </a:endParaRPr>
          </a:p>
        </p:txBody>
      </p:sp>
      <p:graphicFrame>
        <p:nvGraphicFramePr>
          <p:cNvPr id="29" name="표 9"/>
          <p:cNvGraphicFramePr/>
          <p:nvPr/>
        </p:nvGraphicFramePr>
        <p:xfrm>
          <a:off xmlns:a="http://schemas.openxmlformats.org/drawingml/2006/main" x="7169356" y="6779353"/>
          <a:ext xmlns:a="http://schemas.openxmlformats.org/drawingml/2006/main" cx="10236612" cy="23548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9153"/>
                <a:gridCol w="2559153"/>
                <a:gridCol w="5118306"/>
              </a:tblGrid>
              <a:tr h="471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샘플 종류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사이클 전후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특징</a:t>
                      </a:r>
                    </a:p>
                  </a:txBody>
                  <a:tcPr marL="91440" marR="91440" marT="45720" marB="45720" anchor="ctr"/>
                </a:tc>
              </a:tr>
              <a:tr h="467501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CNT-coated Li</a:t>
                      </a: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초기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중간 크기 반원</a:t>
                      </a:r>
                    </a:p>
                  </a:txBody>
                  <a:tcPr marL="91440" marR="91440" marT="45720" marB="45720" anchor="ctr"/>
                </a:tc>
              </a:tr>
              <a:tr h="47182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500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사이클 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가장 큰 반원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→ </a:t>
                      </a:r>
                      <a:r>
                        <a:rPr sz="18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저항 크게 증가</a:t>
                      </a: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471827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 GZCNT-coated Li</a:t>
                      </a:r>
                      <a:endParaRPr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초기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작은 반원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→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낮은 초기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 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저항</a:t>
                      </a:r>
                    </a:p>
                  </a:txBody>
                  <a:tcPr marL="91440" marR="91440" marT="45720" marB="45720" anchor="ctr"/>
                </a:tc>
              </a:tr>
              <a:tr h="47182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500</a:t>
                      </a: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사이클 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b="1">
                          <a:latin typeface="+mj-ea"/>
                          <a:ea typeface="+mj-ea"/>
                          <a:cs typeface="+mj-ea"/>
                        </a:rPr>
                        <a:t>반원 크기 약간 감소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pic>
        <p:nvPicPr>
          <p:cNvPr id="30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cfe4edd494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032" y="1937307"/>
            <a:ext cx="5617496" cy="2569881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E94F2E6-F40F-147C-FA0D-F672642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356" y="1937307"/>
            <a:ext cx="10623344" cy="2347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400" b="1">
                <a:latin typeface="+mn-ea"/>
                <a:ea typeface="+mn-ea"/>
                <a:cs typeface="+mn-ea"/>
              </a:rPr>
              <a:t>Current density :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𝒎𝑨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𝒄𝒎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p>
                  </m:sSup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Areal capacity :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𝟓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𝒎𝑨𝒉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𝒄𝒎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p>
                  </m:sSup>
                </m:oMath>
              </m:oMathPara>
            </a14:m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buFont typeface="Wingdings"/>
              <a:buChar char="v"/>
            </a:pPr>
            <a:endParaRPr sz="12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000" b="1">
                <a:latin typeface="+mn-ea"/>
                <a:ea typeface="+mn-ea"/>
                <a:cs typeface="+mn-ea"/>
              </a:rPr>
              <a:t>높은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용량 조건 일반적인 조건보다 많은 리튬이 석출</a:t>
            </a:r>
            <a:r>
              <a:rPr sz="2000" b="1">
                <a:latin typeface="+mn-ea"/>
                <a:ea typeface="+mn-ea"/>
                <a:cs typeface="+mn-ea"/>
              </a:rPr>
              <a:t>/</a:t>
            </a:r>
            <a:r>
              <a:rPr sz="2000" b="1">
                <a:latin typeface="+mn-ea"/>
                <a:ea typeface="+mn-ea"/>
                <a:cs typeface="+mn-ea"/>
              </a:rPr>
              <a:t>박리</a:t>
            </a: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endParaRPr sz="1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000" b="1">
                <a:latin typeface="+mn-ea"/>
                <a:ea typeface="+mn-ea"/>
                <a:cs typeface="+mn-ea"/>
              </a:rPr>
              <a:t>Li foil</a:t>
            </a:r>
            <a:r>
              <a:rPr sz="2000" b="1">
                <a:latin typeface="+mn-ea"/>
                <a:ea typeface="+mn-ea"/>
                <a:cs typeface="+mn-ea"/>
              </a:rPr>
              <a:t> </a:t>
            </a:r>
            <a:r>
              <a:rPr sz="2000" b="1">
                <a:latin typeface="+mn-ea"/>
                <a:ea typeface="+mn-ea"/>
                <a:cs typeface="+mn-ea"/>
              </a:rPr>
              <a:t>300h</a:t>
            </a:r>
            <a:r>
              <a:rPr sz="2000" b="1">
                <a:latin typeface="+mn-ea"/>
                <a:ea typeface="+mn-ea"/>
                <a:cs typeface="+mn-ea"/>
              </a:rPr>
              <a:t>부터 진폭 급등</a:t>
            </a:r>
            <a:r>
              <a:rPr sz="2000" b="1">
                <a:latin typeface="+mn-ea"/>
                <a:ea typeface="+mn-ea"/>
                <a:cs typeface="+mn-ea"/>
              </a:rPr>
              <a:t>+</a:t>
            </a:r>
            <a:r>
              <a:rPr sz="2000" b="1">
                <a:latin typeface="+mn-ea"/>
                <a:ea typeface="+mn-ea"/>
                <a:cs typeface="+mn-ea"/>
              </a:rPr>
              <a:t>노이즈 진동</a:t>
            </a:r>
            <a:r>
              <a:rPr sz="2000" b="1">
                <a:latin typeface="+mn-ea"/>
                <a:ea typeface="+mn-ea"/>
                <a:cs typeface="+mn-ea"/>
              </a:rPr>
              <a:t>+ </a:t>
            </a:r>
            <a:r>
              <a:rPr sz="2000" b="1">
                <a:latin typeface="+mn-ea"/>
                <a:ea typeface="+mn-ea"/>
                <a:cs typeface="+mn-ea"/>
              </a:rPr>
              <a:t>전압 불안정</a:t>
            </a: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endParaRPr sz="1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000" b="1">
                <a:latin typeface="+mn-ea"/>
                <a:ea typeface="+mn-ea"/>
                <a:cs typeface="+mn-ea"/>
              </a:rPr>
              <a:t>CNT-coated Li </a:t>
            </a:r>
            <a:r>
              <a:rPr sz="2000" b="1">
                <a:latin typeface="+mn-ea"/>
                <a:ea typeface="+mn-ea"/>
                <a:cs typeface="+mn-ea"/>
              </a:rPr>
              <a:t>는 </a:t>
            </a:r>
            <a:r>
              <a:rPr sz="2000" b="1">
                <a:latin typeface="+mn-ea"/>
                <a:ea typeface="+mn-ea"/>
                <a:cs typeface="+mn-ea"/>
              </a:rPr>
              <a:t>450h</a:t>
            </a:r>
            <a:r>
              <a:rPr sz="2000" b="1">
                <a:latin typeface="+mn-ea"/>
                <a:ea typeface="+mn-ea"/>
                <a:cs typeface="+mn-ea"/>
              </a:rPr>
              <a:t>부터 전압 진폭 증가</a:t>
            </a:r>
            <a:endParaRPr sz="2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endParaRPr sz="10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000" b="1">
                <a:latin typeface="+mn-ea"/>
                <a:ea typeface="+mn-ea"/>
                <a:cs typeface="+mn-ea"/>
              </a:rPr>
              <a:t>GZCNT 500h</a:t>
            </a:r>
            <a:r>
              <a:rPr sz="2000" b="1">
                <a:latin typeface="+mn-ea"/>
                <a:ea typeface="+mn-ea"/>
                <a:cs typeface="+mn-ea"/>
              </a:rPr>
              <a:t>동안 전압 진폭 없음 </a:t>
            </a:r>
            <a:endParaRPr sz="2000" b="1">
              <a:latin typeface="+mn-ea"/>
              <a:ea typeface="+mn-ea"/>
              <a:cs typeface="+mn-ea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8B0F90-6259-3802-234E-1FFFE701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32" y="9833263"/>
            <a:ext cx="11052687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/>
              <a:t>Zhang, H., Liao, X., Guan, Y., Xiang, Y., Li, M., Zhang, W., Zhu, X., Ming, H., Lu, L., </a:t>
            </a:r>
            <a:r>
              <a:rPr sz="1200" b="1"/>
              <a:t>Qiu</a:t>
            </a:r>
            <a:r>
              <a:rPr sz="1200" b="1"/>
              <a:t>, J., Huang, Y., Cao, G., Yang, Y., Mai, L., Zhao, Y., &amp; Zhang, H.</a:t>
            </a:r>
            <a:r>
              <a:rPr sz="1200"/>
              <a:t> (2018). </a:t>
            </a:r>
            <a:r>
              <a:rPr sz="1200"/>
              <a:t>Lithiophilic</a:t>
            </a:r>
            <a:r>
              <a:rPr sz="1200"/>
              <a:t>–</a:t>
            </a:r>
            <a:r>
              <a:rPr sz="1200"/>
              <a:t>lithiophobic</a:t>
            </a:r>
            <a:r>
              <a:rPr sz="1200"/>
              <a:t> gradient interfacial layer for a highly stable lithium metal anode. </a:t>
            </a:r>
            <a:r>
              <a:rPr sz="1200" i="1"/>
              <a:t>Nature Communications, 9</a:t>
            </a:r>
            <a:r>
              <a:rPr sz="1200"/>
              <a:t>, Article 3729. https://doi.org/10.1038/s41467-018-06126-z</a:t>
            </a:r>
          </a:p>
          <a:p xmlns:a="http://schemas.openxmlformats.org/drawingml/2006/main">
            <a:endParaRPr sz="12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90503E2-F685-5602-C4A8-AC51BD8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32" y="9667205"/>
            <a:ext cx="9792928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/>
              <a:t>Fig. 3</a:t>
            </a:r>
            <a:endParaRPr sz="1300"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E25D2C4-2FB0-BE4B-5E75-80A62C09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32" y="4507188"/>
            <a:ext cx="9792928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/>
              <a:t>Fig. 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7450758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3E1E7BD2-A1ED-7308-4F3D-688CA16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03684e35a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D52523-2987-3F82-D066-DA661E74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GZCNT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3775270-65F0-E8EE-B2CF-3FAF833D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433" y="1863096"/>
            <a:ext cx="10182532" cy="39087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>
                <a:latin typeface="+mj-ea"/>
                <a:ea typeface="+mj-ea"/>
                <a:cs typeface="+mj-ea"/>
              </a:rPr>
              <a:t> </a:t>
            </a:r>
            <a:r>
              <a:rPr sz="2800" b="1">
                <a:latin typeface="+mj-ea"/>
                <a:ea typeface="+mj-ea"/>
                <a:cs typeface="+mj-ea"/>
              </a:rPr>
              <a:t>표면 관찰 사진</a:t>
            </a:r>
            <a:r>
              <a:rPr sz="2800" b="1">
                <a:latin typeface="+mj-ea"/>
                <a:ea typeface="+mj-ea"/>
                <a:cs typeface="+mj-ea"/>
              </a:rPr>
              <a:t>(c) </a:t>
            </a:r>
          </a:p>
          <a:p xmlns:a="http://schemas.openxmlformats.org/drawingml/2006/main">
            <a:pPr marL="342900" indent="-342900">
              <a:buFont typeface="Wingdings"/>
              <a:buChar char="§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buFont typeface="Wingdings"/>
              <a:buChar char="v"/>
            </a:pPr>
            <a:r>
              <a:rPr sz="2400" b="1">
                <a:latin typeface="+mj-ea"/>
                <a:ea typeface="+mj-ea"/>
                <a:cs typeface="+mj-ea"/>
              </a:rPr>
              <a:t>Li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pouch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cell </a:t>
            </a:r>
          </a:p>
          <a:p xmlns:a="http://schemas.openxmlformats.org/drawingml/2006/main">
            <a:pPr marL="1257300" lvl="2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약 </a:t>
            </a:r>
            <a:r>
              <a:rPr sz="2400" b="1">
                <a:latin typeface="+mj-ea"/>
                <a:ea typeface="+mj-ea"/>
                <a:cs typeface="+mj-ea"/>
              </a:rPr>
              <a:t>130</a:t>
            </a:r>
            <a:r>
              <a:rPr sz="2400" b="1">
                <a:latin typeface="+mj-ea"/>
                <a:ea typeface="+mj-ea"/>
                <a:cs typeface="+mj-ea"/>
              </a:rPr>
              <a:t>시간에서 급격한 전압 불안정 발생 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1257300" lvl="2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전극 표면이 심하게 부식 어두운 부분이 거의 없음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buFont typeface="Wingdings"/>
              <a:buChar char="v"/>
            </a:pPr>
            <a:r>
              <a:rPr sz="2400" b="1">
                <a:latin typeface="+mj-ea"/>
                <a:ea typeface="+mj-ea"/>
                <a:cs typeface="+mj-ea"/>
              </a:rPr>
              <a:t>GZCNT-coated Li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pouch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cell</a:t>
            </a:r>
          </a:p>
          <a:p xmlns:a="http://schemas.openxmlformats.org/drawingml/2006/main">
            <a:pPr marL="1257300" lvl="2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약 </a:t>
            </a:r>
            <a:r>
              <a:rPr sz="2400" b="1">
                <a:latin typeface="+mj-ea"/>
                <a:ea typeface="+mj-ea"/>
                <a:cs typeface="+mj-ea"/>
              </a:rPr>
              <a:t>400</a:t>
            </a:r>
            <a:r>
              <a:rPr sz="2400" b="1">
                <a:latin typeface="+mj-ea"/>
                <a:ea typeface="+mj-ea"/>
                <a:cs typeface="+mj-ea"/>
              </a:rPr>
              <a:t>시간 이상 안정적인 전압 유지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1257300" lvl="2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전극 표면이 정상적인 색상 유지</a:t>
            </a:r>
            <a:r>
              <a:rPr sz="2400" b="1">
                <a:latin typeface="+mj-ea"/>
                <a:ea typeface="+mj-ea"/>
                <a:cs typeface="+mj-ea"/>
              </a:rPr>
              <a:t>, GZCNT </a:t>
            </a:r>
            <a:r>
              <a:rPr sz="2400" b="1">
                <a:latin typeface="+mj-ea"/>
                <a:ea typeface="+mj-ea"/>
                <a:cs typeface="+mj-ea"/>
              </a:rPr>
              <a:t>코팅층이 잘 유지되고 있음</a:t>
            </a:r>
            <a:endParaRPr sz="2400" b="1">
              <a:latin typeface="+mj-ea"/>
              <a:ea typeface="+mj-ea"/>
              <a:cs typeface="+mj-ea"/>
            </a:endParaRPr>
          </a:p>
        </p:txBody>
      </p:sp>
      <p:pic>
        <p:nvPicPr>
          <p:cNvPr id="27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01558adb749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299" y="1937308"/>
            <a:ext cx="5566288" cy="4523994"/>
          </a:xfrm>
          <a:prstGeom xmlns:a="http://schemas.openxmlformats.org/drawingml/2006/main" prst="rect">
            <a:avLst/>
          </a:prstGeom>
        </p:spPr>
      </p:pic>
      <p:pic>
        <p:nvPicPr>
          <p:cNvPr id="28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b5bd2e3b24a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979" y="6737924"/>
            <a:ext cx="7853471" cy="235480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12FE494-DBD7-D3C6-E07F-90827A1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435" y="6930443"/>
            <a:ext cx="9011265" cy="1969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800" b="1">
                <a:latin typeface="+mj-ea"/>
                <a:ea typeface="+mj-ea"/>
                <a:cs typeface="+mj-ea"/>
              </a:rPr>
              <a:t> 200</a:t>
            </a:r>
            <a:r>
              <a:rPr sz="2800" b="1">
                <a:latin typeface="+mj-ea"/>
                <a:ea typeface="+mj-ea"/>
                <a:cs typeface="+mj-ea"/>
              </a:rPr>
              <a:t>사이클 후 </a:t>
            </a:r>
            <a:r>
              <a:rPr sz="2800" b="1">
                <a:latin typeface="+mj-ea"/>
                <a:ea typeface="+mj-ea"/>
                <a:cs typeface="+mj-ea"/>
              </a:rPr>
              <a:t>SEM </a:t>
            </a:r>
            <a:r>
              <a:rPr sz="2800" b="1">
                <a:latin typeface="+mj-ea"/>
                <a:ea typeface="+mj-ea"/>
                <a:cs typeface="+mj-ea"/>
              </a:rPr>
              <a:t>사진 </a:t>
            </a:r>
            <a:r>
              <a:rPr sz="2800" b="1">
                <a:latin typeface="+mj-ea"/>
                <a:ea typeface="+mj-ea"/>
                <a:cs typeface="+mj-ea"/>
              </a:rPr>
              <a:t>(</a:t>
            </a:r>
            <a:r>
              <a:rPr sz="2800" b="1">
                <a:latin typeface="+mj-ea"/>
                <a:ea typeface="+mj-ea"/>
                <a:cs typeface="+mj-ea"/>
              </a:rPr>
              <a:t>e,f</a:t>
            </a:r>
            <a:r>
              <a:rPr sz="2800" b="1">
                <a:latin typeface="+mj-ea"/>
                <a:ea typeface="+mj-ea"/>
                <a:cs typeface="+mj-ea"/>
              </a:rPr>
              <a:t>)</a:t>
            </a:r>
          </a:p>
          <a:p xmlns:a="http://schemas.openxmlformats.org/drawingml/2006/main">
            <a:pPr marL="342900" indent="-342900">
              <a:buFont typeface="Wingdings"/>
              <a:buChar char="v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E</a:t>
            </a:r>
            <a:r>
              <a:rPr sz="2400" b="1">
                <a:latin typeface="+mj-ea"/>
                <a:ea typeface="+mj-ea"/>
                <a:cs typeface="+mj-ea"/>
              </a:rPr>
              <a:t> → </a:t>
            </a:r>
            <a:r>
              <a:rPr sz="2400" b="1">
                <a:latin typeface="+mj-ea"/>
                <a:ea typeface="+mj-ea"/>
                <a:cs typeface="+mj-ea"/>
              </a:rPr>
              <a:t>갈색에 가까운 색상</a:t>
            </a:r>
            <a:r>
              <a:rPr sz="2400" b="1">
                <a:latin typeface="+mj-ea"/>
                <a:ea typeface="+mj-ea"/>
                <a:cs typeface="+mj-ea"/>
              </a:rPr>
              <a:t>, </a:t>
            </a:r>
            <a:r>
              <a:rPr sz="2400" b="1">
                <a:latin typeface="+mj-ea"/>
                <a:ea typeface="+mj-ea"/>
                <a:cs typeface="+mj-ea"/>
              </a:rPr>
              <a:t>표면이 거칠고 덜 매끄러움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F → </a:t>
            </a:r>
            <a:r>
              <a:rPr sz="2400" b="1">
                <a:latin typeface="+mj-ea"/>
                <a:ea typeface="+mj-ea"/>
                <a:cs typeface="+mj-ea"/>
              </a:rPr>
              <a:t>검정색</a:t>
            </a:r>
            <a:r>
              <a:rPr sz="2400" b="1">
                <a:latin typeface="+mj-ea"/>
                <a:ea typeface="+mj-ea"/>
                <a:cs typeface="+mj-ea"/>
              </a:rPr>
              <a:t>, </a:t>
            </a:r>
            <a:r>
              <a:rPr sz="2400" b="1">
                <a:latin typeface="+mj-ea"/>
                <a:ea typeface="+mj-ea"/>
                <a:cs typeface="+mj-ea"/>
              </a:rPr>
              <a:t>표면이 균일하고 깔끔함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D30E1-3DF9-0A98-91C7-F6E798DE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79" y="9412069"/>
            <a:ext cx="7853471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 b="1"/>
              <a:t>Zhang, H., Liao, X., Guan, Y., Xiang, Y., Li, M., Zhang, W., Zhu, X., Ming, H., Lu, L., </a:t>
            </a:r>
            <a:r>
              <a:rPr sz="1200" b="1"/>
              <a:t>Qiu</a:t>
            </a:r>
            <a:r>
              <a:rPr sz="1200" b="1"/>
              <a:t>, J., Huang, Y., Cao, G., Yang, Y., Mai, L., Zhao, Y., &amp; Zhang, H.</a:t>
            </a:r>
            <a:r>
              <a:rPr sz="1200"/>
              <a:t> (2018). </a:t>
            </a:r>
            <a:r>
              <a:rPr sz="1200"/>
              <a:t>Lithiophilic</a:t>
            </a:r>
            <a:r>
              <a:rPr sz="1200"/>
              <a:t>–</a:t>
            </a:r>
            <a:r>
              <a:rPr sz="1200"/>
              <a:t>lithiophobic</a:t>
            </a:r>
            <a:r>
              <a:rPr sz="1200"/>
              <a:t> gradient interfacial layer for a highly stable lithium metal anode. </a:t>
            </a:r>
            <a:r>
              <a:rPr sz="1200" i="1"/>
              <a:t>Nature Communications, 9</a:t>
            </a:r>
            <a:r>
              <a:rPr sz="1200"/>
              <a:t>, Article 3729. https://doi.org/10.1038/s41467-018-06126-z</a:t>
            </a:r>
          </a:p>
          <a:p xmlns:a="http://schemas.openxmlformats.org/drawingml/2006/main">
            <a:endParaRPr sz="120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44BB01-602E-1472-1DC4-59B806AA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79" y="9103072"/>
            <a:ext cx="979292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Fig. 8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6383898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528FDCB-7176-35BB-9120-B564A7F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d1c94246c48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5167F34-7F66-FD5B-C48B-2DB9585B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Doping Co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D1E0D7-BFA8-06D2-A702-D9C3591A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69" y="2008523"/>
            <a:ext cx="8359631" cy="64325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v"/>
            </a:pPr>
            <a:r>
              <a:rPr sz="2800" b="1">
                <a:latin typeface="+mn-ea"/>
                <a:ea typeface="+mn-ea"/>
                <a:cs typeface="+mn-ea"/>
              </a:rPr>
              <a:t>Cobalt(</a:t>
            </a:r>
            <a:r>
              <a:rPr sz="2800" b="1">
                <a:latin typeface="+mn-ea"/>
                <a:ea typeface="+mn-ea"/>
                <a:cs typeface="+mn-ea"/>
              </a:rPr>
              <a:t>코발트</a:t>
            </a:r>
            <a:r>
              <a:rPr sz="2800" b="1">
                <a:latin typeface="+mn-ea"/>
                <a:ea typeface="+mn-ea"/>
                <a:cs typeface="+mn-ea"/>
              </a:rPr>
              <a:t>) </a:t>
            </a:r>
            <a:r>
              <a:rPr sz="2800" b="1">
                <a:latin typeface="+mn-ea"/>
                <a:ea typeface="+mn-ea"/>
                <a:cs typeface="+mn-ea"/>
              </a:rPr>
              <a:t>도핑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Wingdings"/>
              <a:buChar char="v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Wingdings"/>
              <a:buChar char="l"/>
            </a:pPr>
            <a:r>
              <a:rPr sz="2400" b="1">
                <a:latin typeface="+mn-ea"/>
                <a:ea typeface="+mn-ea"/>
                <a:cs typeface="+mn-ea"/>
              </a:rPr>
              <a:t>(a) SEM</a:t>
            </a:r>
            <a:r>
              <a:rPr sz="2400" b="1">
                <a:latin typeface="+mn-ea"/>
                <a:ea typeface="+mn-ea"/>
                <a:cs typeface="+mn-ea"/>
              </a:rPr>
              <a:t> 이미지 </a:t>
            </a:r>
            <a:r>
              <a:rPr sz="2400" b="1">
                <a:latin typeface="+mn-ea"/>
                <a:ea typeface="+mn-ea"/>
                <a:cs typeface="+mn-ea"/>
              </a:rPr>
              <a:t>(Co/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)</a:t>
            </a:r>
          </a:p>
          <a:p xmlns:a="http://schemas.openxmlformats.org/drawingml/2006/main">
            <a:pPr marL="914400" lvl="1" indent="-4572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구형 입자들이 관찰됨</a:t>
            </a:r>
            <a:r>
              <a:rPr sz="2400" b="1">
                <a:latin typeface="+mn-ea"/>
                <a:ea typeface="+mn-ea"/>
                <a:cs typeface="+mn-ea"/>
              </a:rPr>
              <a:t>, </a:t>
            </a:r>
            <a:r>
              <a:rPr sz="2400" b="1">
                <a:latin typeface="+mn-ea"/>
                <a:ea typeface="+mn-ea"/>
                <a:cs typeface="+mn-ea"/>
              </a:rPr>
              <a:t>표면이 조밀하고 입자간 결합이 잘 되어있음 → 균일한 입자 형성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Arial"/>
              <a:buChar char="•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buFont typeface="Wingdings"/>
              <a:buChar char="l"/>
            </a:pPr>
            <a:r>
              <a:rPr sz="2400" b="1">
                <a:latin typeface="+mn-ea"/>
                <a:ea typeface="+mn-ea"/>
                <a:cs typeface="+mn-ea"/>
              </a:rPr>
              <a:t>(b) TEM</a:t>
            </a:r>
            <a:r>
              <a:rPr sz="2400" b="1">
                <a:latin typeface="+mn-ea"/>
                <a:ea typeface="+mn-ea"/>
                <a:cs typeface="+mn-ea"/>
              </a:rPr>
              <a:t> 이미지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삽입 이미지</a:t>
            </a:r>
            <a:r>
              <a:rPr sz="2400" b="1">
                <a:latin typeface="+mn-ea"/>
                <a:ea typeface="+mn-ea"/>
                <a:cs typeface="+mn-ea"/>
              </a:rPr>
              <a:t>(Inset)</a:t>
            </a:r>
            <a:r>
              <a:rPr sz="2400" b="1">
                <a:latin typeface="+mn-ea"/>
                <a:ea typeface="+mn-ea"/>
                <a:cs typeface="+mn-ea"/>
              </a:rPr>
              <a:t>에서 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(110) </a:t>
            </a:r>
            <a:r>
              <a:rPr sz="2400" b="1">
                <a:latin typeface="+mn-ea"/>
                <a:ea typeface="+mn-ea"/>
                <a:cs typeface="+mn-ea"/>
              </a:rPr>
              <a:t>면이 </a:t>
            </a:r>
            <a:r>
              <a:rPr sz="2400" b="1">
                <a:latin typeface="+mn-ea"/>
                <a:ea typeface="+mn-ea"/>
                <a:cs typeface="+mn-ea"/>
              </a:rPr>
              <a:t>d=0.280nm</a:t>
            </a:r>
            <a:r>
              <a:rPr sz="2400" b="1">
                <a:latin typeface="+mn-ea"/>
                <a:ea typeface="+mn-ea"/>
                <a:cs typeface="+mn-ea"/>
              </a:rPr>
              <a:t>로 관찰됨 → 결정성이 잘 유지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342900" indent="-342900">
              <a:buFont typeface="Wingdings"/>
              <a:buChar char="l"/>
            </a:pPr>
            <a:r>
              <a:rPr sz="2400" b="1">
                <a:latin typeface="+mn-ea"/>
                <a:ea typeface="+mn-ea"/>
                <a:cs typeface="+mn-ea"/>
              </a:rPr>
              <a:t>(d) ~ (g) EDS Mapping </a:t>
            </a:r>
            <a:r>
              <a:rPr sz="2400" b="1">
                <a:latin typeface="+mn-ea"/>
                <a:ea typeface="+mn-ea"/>
                <a:cs typeface="+mn-ea"/>
              </a:rPr>
              <a:t>분석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Zn</a:t>
            </a:r>
            <a:r>
              <a:rPr sz="2400" b="1">
                <a:latin typeface="+mn-ea"/>
                <a:ea typeface="+mn-ea"/>
                <a:cs typeface="+mn-ea"/>
              </a:rPr>
              <a:t>분포</a:t>
            </a:r>
            <a:r>
              <a:rPr sz="2400" b="1">
                <a:latin typeface="+mn-ea"/>
                <a:ea typeface="+mn-ea"/>
                <a:cs typeface="+mn-ea"/>
              </a:rPr>
              <a:t>(d)</a:t>
            </a:r>
            <a:r>
              <a:rPr sz="2400" b="1">
                <a:latin typeface="+mn-ea"/>
                <a:ea typeface="+mn-ea"/>
                <a:cs typeface="+mn-ea"/>
              </a:rPr>
              <a:t> 입자 전반에 걸쳐 고르게 분포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Co </a:t>
            </a:r>
            <a:r>
              <a:rPr sz="2400" b="1">
                <a:latin typeface="+mn-ea"/>
                <a:ea typeface="+mn-ea"/>
                <a:cs typeface="+mn-ea"/>
              </a:rPr>
              <a:t>신호</a:t>
            </a:r>
            <a:r>
              <a:rPr sz="2400" b="1">
                <a:latin typeface="+mn-ea"/>
                <a:ea typeface="+mn-ea"/>
                <a:cs typeface="+mn-ea"/>
              </a:rPr>
              <a:t>(e)</a:t>
            </a:r>
            <a:r>
              <a:rPr sz="2400" b="1">
                <a:latin typeface="+mn-ea"/>
                <a:ea typeface="+mn-ea"/>
                <a:cs typeface="+mn-ea"/>
              </a:rPr>
              <a:t>가 </a:t>
            </a:r>
            <a:r>
              <a:rPr sz="2400" b="1">
                <a:latin typeface="+mn-ea"/>
                <a:ea typeface="+mn-ea"/>
                <a:cs typeface="+mn-ea"/>
              </a:rPr>
              <a:t>Zn</a:t>
            </a:r>
            <a:r>
              <a:rPr sz="2400" b="1">
                <a:latin typeface="+mn-ea"/>
                <a:ea typeface="+mn-ea"/>
                <a:cs typeface="+mn-ea"/>
              </a:rPr>
              <a:t>와 거의 동일한 위치에 분포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AutoNum type="alphaLcParenBoth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indent="-457200">
              <a:buFont typeface="Wingdings"/>
              <a:buChar char="l"/>
            </a:pPr>
            <a:r>
              <a:rPr sz="2400" b="1">
                <a:latin typeface="+mn-ea"/>
                <a:ea typeface="+mn-ea"/>
                <a:cs typeface="+mn-ea"/>
              </a:rPr>
              <a:t>XRD</a:t>
            </a:r>
            <a:r>
              <a:rPr sz="2400" b="1">
                <a:latin typeface="+mn-ea"/>
                <a:ea typeface="+mn-ea"/>
                <a:cs typeface="+mn-ea"/>
              </a:rPr>
              <a:t> 분석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914400" lvl="1" indent="-45720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Co/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, 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두가지 시료 모두 비슷한 피크 위치 유지 → 결정 구조 유지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pic>
        <p:nvPicPr>
          <p:cNvPr id="27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dfa8045e048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630697" y="2229748"/>
            <a:ext cx="7872934" cy="6294818"/>
          </a:xfrm>
          <a:prstGeom xmlns:a="http://schemas.openxmlformats.org/drawingml/2006/main" prst="rect">
            <a:avLst/>
          </a:prstGeom>
        </p:spPr>
      </p:pic>
      <p:pic>
        <p:nvPicPr>
          <p:cNvPr id="28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1d03fa526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630697" y="5275750"/>
            <a:ext cx="3531297" cy="3248816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4CFFA-E13E-6CF7-CAAE-811BC844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699" y="8904615"/>
            <a:ext cx="6659888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Cao, W., Wu, Z., Yang, Y., Chen, Z., Wu, J., Zhao, D., &amp; Gao, X. (2024). </a:t>
            </a:r>
            <a:r>
              <a:rPr sz="1400" i="1"/>
              <a:t>Field-assisted regulation induced by cobalt-doped </a:t>
            </a:r>
            <a:r>
              <a:rPr sz="1400" i="1"/>
              <a:t>ZnO</a:t>
            </a:r>
            <a:r>
              <a:rPr sz="1400" i="1"/>
              <a:t> for dendrite-free lithium metal anodes</a:t>
            </a:r>
            <a:r>
              <a:rPr sz="1400"/>
              <a:t>. Chemistry – A European Journal, 30(26), e202302867. https://doi.org/10.1002/chem.202302867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1E92209-514B-748E-4499-E5189C8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697" y="8564014"/>
            <a:ext cx="979292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Fig. 1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65903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B58F208-9003-033E-2981-3682940E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f8874284640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AE03782-B6AD-BC51-B687-3190DF2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Doping Co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CDD264-1B92-C11D-0C4A-84CC346D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97" y="2089418"/>
            <a:ext cx="753372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 typeface="Wingdings"/>
              <a:buChar char="v"/>
            </a:pPr>
            <a:r>
              <a:rPr sz="2800" b="1">
                <a:latin typeface="+mj-ea"/>
                <a:ea typeface="+mj-ea"/>
                <a:cs typeface="+mj-ea"/>
              </a:rPr>
              <a:t>Electron-rich Zn</a:t>
            </a:r>
          </a:p>
        </p:txBody>
      </p:sp>
      <p:pic>
        <p:nvPicPr>
          <p:cNvPr id="27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7f4b9f34e4d18"/>
          <a:srcRect xmlns:a="http://schemas.openxmlformats.org/drawingml/2006/main" l="19485" t="3134" r="10981" b="6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2549" y="2089418"/>
            <a:ext cx="6873854" cy="54775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8" name="표 2"/>
          <p:cNvGraphicFramePr/>
          <p:nvPr/>
        </p:nvGraphicFramePr>
        <p:xfrm>
          <a:off xmlns:a="http://schemas.openxmlformats.org/drawingml/2006/main" x="851597" y="2777006"/>
          <a:ext xmlns:a="http://schemas.openxmlformats.org/drawingml/2006/main" cx="9047770" cy="258563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8299"/>
                <a:gridCol w="2202801"/>
                <a:gridCol w="2202801"/>
                <a:gridCol w="2943869"/>
              </a:tblGrid>
              <a:tr h="789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 2p3/2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피크 위치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(eV)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 2p1/2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피크 위치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(eV)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해석</a:t>
                      </a:r>
                    </a:p>
                  </a:txBody>
                  <a:tcPr marL="91440" marR="91440" marT="45720" marB="45720" anchor="ctr"/>
                </a:tc>
              </a:tr>
              <a:tr h="789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순수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ZnO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1022.4eV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1045.4eV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표준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상태</a:t>
                      </a:r>
                    </a:p>
                  </a:txBody>
                  <a:tcPr marL="91440" marR="91440" marT="45720" marB="45720" anchor="ctr"/>
                </a:tc>
              </a:tr>
              <a:tr h="789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Co-doping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ZnO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1021.9eV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1044.9eV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0.5 eV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낮아짐 →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원자 주변 전자 밀도 증가 → 국부 전기장 생성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7956FA-BDEB-9300-DDAB-45DF58E5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96" y="5915547"/>
            <a:ext cx="9047769" cy="37856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순수 </a:t>
            </a:r>
            <a:r>
              <a:rPr sz="2400" b="1">
                <a:latin typeface="+mj-ea"/>
                <a:ea typeface="+mj-ea"/>
                <a:cs typeface="+mj-ea"/>
              </a:rPr>
              <a:t>ZnO</a:t>
            </a:r>
            <a:r>
              <a:rPr sz="2400" b="1">
                <a:latin typeface="+mj-ea"/>
                <a:ea typeface="+mj-ea"/>
                <a:cs typeface="+mj-ea"/>
              </a:rPr>
              <a:t> 보다 바인딩 에너지 감소 → 전자를 떼어내기 쉬운</a:t>
            </a:r>
            <a:r>
              <a:rPr sz="2400" b="1">
                <a:latin typeface="+mj-ea"/>
                <a:ea typeface="+mj-ea"/>
                <a:cs typeface="+mj-ea"/>
              </a:rPr>
              <a:t>(=</a:t>
            </a:r>
            <a:r>
              <a:rPr sz="2400" b="1">
                <a:latin typeface="+mj-ea"/>
                <a:ea typeface="+mj-ea"/>
                <a:cs typeface="+mj-ea"/>
              </a:rPr>
              <a:t>전자 밀도가 높은</a:t>
            </a:r>
            <a:r>
              <a:rPr sz="2400" b="1">
                <a:latin typeface="+mj-ea"/>
                <a:ea typeface="+mj-ea"/>
                <a:cs typeface="+mj-ea"/>
              </a:rPr>
              <a:t>)</a:t>
            </a:r>
            <a:r>
              <a:rPr sz="2400" b="1">
                <a:latin typeface="+mj-ea"/>
                <a:ea typeface="+mj-ea"/>
                <a:cs typeface="+mj-ea"/>
              </a:rPr>
              <a:t>상태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Zn </a:t>
            </a:r>
            <a:r>
              <a:rPr sz="2400" b="1">
                <a:latin typeface="+mj-ea"/>
                <a:ea typeface="+mj-ea"/>
                <a:cs typeface="+mj-ea"/>
              </a:rPr>
              <a:t>주위에 전자가 더 많이 쌓여 있어 전자를 떼어내는 장벽이 낮아짐 </a:t>
            </a:r>
            <a:r>
              <a:rPr sz="2400" b="1">
                <a:latin typeface="+mj-ea"/>
                <a:ea typeface="+mj-ea"/>
                <a:cs typeface="+mj-ea"/>
              </a:rPr>
              <a:t>→ </a:t>
            </a:r>
            <a:r>
              <a:rPr sz="2400" b="1">
                <a:latin typeface="+mj-ea"/>
                <a:ea typeface="+mj-ea"/>
                <a:cs typeface="+mj-ea"/>
              </a:rPr>
              <a:t>Zn </a:t>
            </a:r>
            <a:r>
              <a:rPr sz="2400" b="1">
                <a:latin typeface="+mj-ea"/>
                <a:ea typeface="+mj-ea"/>
                <a:cs typeface="+mj-ea"/>
              </a:rPr>
              <a:t>주변에 전자 구림이 진해진 상태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전자가 많아진 </a:t>
            </a:r>
            <a:r>
              <a:rPr sz="2400" b="1">
                <a:latin typeface="+mj-ea"/>
                <a:ea typeface="+mj-ea"/>
                <a:cs typeface="+mj-ea"/>
              </a:rPr>
              <a:t>ZnO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표면은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(</a:t>
            </a:r>
            <a:r>
              <a:rPr sz="2400" b="1">
                <a:latin typeface="+mj-ea"/>
                <a:ea typeface="+mj-ea"/>
                <a:cs typeface="+mj-ea"/>
              </a:rPr>
              <a:t>양전하</a:t>
            </a:r>
            <a:r>
              <a:rPr sz="2400" b="1">
                <a:latin typeface="+mj-ea"/>
                <a:ea typeface="+mj-ea"/>
                <a:cs typeface="+mj-ea"/>
              </a:rPr>
              <a:t>)</a:t>
            </a:r>
            <a:r>
              <a:rPr sz="2400" b="1">
                <a:latin typeface="+mj-ea"/>
                <a:ea typeface="+mj-ea"/>
                <a:cs typeface="+mj-ea"/>
              </a:rPr>
              <a:t>를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강하게 끌어당김</a:t>
            </a:r>
            <a:r>
              <a:rPr sz="2400" b="1">
                <a:latin typeface="+mj-ea"/>
                <a:ea typeface="+mj-ea"/>
                <a:cs typeface="+mj-ea"/>
              </a:rPr>
              <a:t> →</a:t>
            </a:r>
            <a:r>
              <a:rPr sz="2400" b="1">
                <a:latin typeface="+mj-ea"/>
                <a:ea typeface="+mj-ea"/>
                <a:cs typeface="+mj-ea"/>
              </a:rPr>
              <a:t> 전자가 많은 부위에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 xml:space="preserve"> </m:t>
                  </m:r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가 몰려들면서 리튬 금속이 고르게 핵</a:t>
            </a:r>
            <a:r>
              <a:rPr sz="2400" b="1">
                <a:latin typeface="+mj-ea"/>
                <a:ea typeface="+mj-ea"/>
                <a:cs typeface="+mj-ea"/>
              </a:rPr>
              <a:t>(nucleus)</a:t>
            </a:r>
            <a:r>
              <a:rPr sz="2400" b="1">
                <a:latin typeface="+mj-ea"/>
                <a:ea typeface="+mj-ea"/>
                <a:cs typeface="+mj-ea"/>
              </a:rPr>
              <a:t>형성</a:t>
            </a:r>
            <a:r>
              <a:rPr sz="2400" b="1">
                <a:latin typeface="+mj-ea"/>
                <a:ea typeface="+mj-ea"/>
                <a:cs typeface="+mj-ea"/>
              </a:rPr>
              <a:t>, </a:t>
            </a:r>
            <a:r>
              <a:rPr sz="2400" b="1">
                <a:latin typeface="+mj-ea"/>
                <a:ea typeface="+mj-ea"/>
                <a:cs typeface="+mj-ea"/>
              </a:rPr>
              <a:t>증착합니다</a:t>
            </a:r>
            <a:r>
              <a:rPr sz="2400" b="1">
                <a:latin typeface="+mj-ea"/>
                <a:ea typeface="+mj-ea"/>
                <a:cs typeface="+mj-ea"/>
              </a:rPr>
              <a:t>.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400" b="1">
              <a:latin typeface="+mj-ea"/>
              <a:ea typeface="+mj-ea"/>
              <a:cs typeface="+mj-ea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9F07B7-54BD-E6C6-DF2A-086E869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094" y="7828250"/>
            <a:ext cx="6891310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Cao, W., Wu, Z., Yang, Y., Chen, Z., Wu, J., Zhao, D., &amp; Gao, X. (2024). </a:t>
            </a:r>
            <a:r>
              <a:rPr sz="1400" i="1"/>
              <a:t>Field-assisted regulation induced by cobalt-doped </a:t>
            </a:r>
            <a:r>
              <a:rPr sz="1400" i="1"/>
              <a:t>ZnO</a:t>
            </a:r>
            <a:r>
              <a:rPr sz="1400" i="1"/>
              <a:t> for dendrite-free lithium metal anodes</a:t>
            </a:r>
            <a:r>
              <a:rPr sz="1400"/>
              <a:t>. Chemistry – A European Journal, 30(26), e202302867. https://doi.org/10.1002/chem.202302867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39DBC0-FA6D-6B26-3962-F0A0B12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094" y="7579849"/>
            <a:ext cx="979292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Fig. 3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2592342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28AEE57-0C55-FEB5-3BEB-DA56238E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6fd6d06104c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2DC1F5A-92A2-E0E0-4C8A-6F7484EE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Doping Co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6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1f16c393a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9253" y="6777641"/>
            <a:ext cx="4380197" cy="299528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671444-4CA2-5B36-F349-418DCD5A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00" y="2206985"/>
            <a:ext cx="7527750" cy="43672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14350" indent="-514350">
              <a:buFont typeface="Wingdings"/>
              <a:buChar char="v"/>
            </a:pPr>
            <a:r>
              <a:rPr sz="2800" b="1">
                <a:latin typeface="+mj-ea"/>
                <a:ea typeface="+mj-ea"/>
                <a:cs typeface="+mj-ea"/>
              </a:rPr>
              <a:t>Lorentz force</a:t>
            </a: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endParaRPr sz="28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Co </a:t>
            </a:r>
            <a:r>
              <a:rPr sz="2400" b="1">
                <a:latin typeface="+mn-ea"/>
                <a:ea typeface="+mn-ea"/>
                <a:cs typeface="+mn-ea"/>
              </a:rPr>
              <a:t>도핑 → 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에 강자성 부여 → 내부 자기장 생성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표면에 흐르는 전류</a:t>
            </a:r>
            <a:r>
              <a:rPr sz="2400" b="1">
                <a:latin typeface="+mn-ea"/>
                <a:ea typeface="+mn-ea"/>
                <a:cs typeface="+mn-ea"/>
              </a:rPr>
              <a:t>(J)</a:t>
            </a:r>
            <a:r>
              <a:rPr sz="2400" b="1">
                <a:latin typeface="+mn-ea"/>
                <a:ea typeface="+mn-ea"/>
                <a:cs typeface="+mn-ea"/>
              </a:rPr>
              <a:t>와 내재 자기장 </a:t>
            </a:r>
            <a:r>
              <a:rPr sz="2400" b="1">
                <a:latin typeface="+mn-ea"/>
                <a:ea typeface="+mn-ea"/>
                <a:cs typeface="+mn-ea"/>
              </a:rPr>
              <a:t>(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𝑩</m:t>
                      </m:r>
                    </m:e>
                    <m:sub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𝑶</m:t>
                      </m:r>
                    </m:sub>
                  </m:sSub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) </a:t>
            </a:r>
            <a:r>
              <a:rPr sz="2400" b="1">
                <a:latin typeface="+mn-ea"/>
                <a:ea typeface="+mn-ea"/>
                <a:cs typeface="+mn-ea"/>
              </a:rPr>
              <a:t>→ 로렌츠의 힘 발생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r>
              <a:rPr sz="2400" b="1">
                <a:latin typeface="+mn-ea"/>
                <a:ea typeface="+mn-ea"/>
                <a:cs typeface="+mn-ea"/>
              </a:rPr>
              <a:t>Lorentz force</a:t>
            </a:r>
            <a:r>
              <a:rPr sz="2400" b="1">
                <a:latin typeface="+mn-ea"/>
                <a:ea typeface="+mn-ea"/>
                <a:cs typeface="+mn-ea"/>
              </a:rPr>
              <a:t> →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𝑳𝒊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</m:sup>
                  </m:sSup>
                </m:oMath>
              </m:oMathPara>
            </a14:m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이온 흐름을 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면방향으로 유도 → 전류밀도와 이온 유속을 넓게 분산시키는 효과 → 층상</a:t>
            </a:r>
            <a:r>
              <a:rPr sz="2400" b="1">
                <a:latin typeface="+mn-ea"/>
                <a:ea typeface="+mn-ea"/>
                <a:cs typeface="+mn-ea"/>
              </a:rPr>
              <a:t>(flat) </a:t>
            </a:r>
            <a:r>
              <a:rPr sz="2400" b="1">
                <a:latin typeface="+mn-ea"/>
                <a:ea typeface="+mn-ea"/>
                <a:cs typeface="+mn-ea"/>
              </a:rPr>
              <a:t>석출 유도 </a:t>
            </a:r>
          </a:p>
        </p:txBody>
      </p:sp>
      <p:pic>
        <p:nvPicPr>
          <p:cNvPr id="28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c547df0cf442f"/>
          <a:srcRect xmlns:a="http://schemas.openxmlformats.org/drawingml/2006/main" l="14850" t="2915" r="13450" b="80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7932" y="2322051"/>
            <a:ext cx="8776346" cy="6698704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671973E-B788-81CB-8162-1BD38243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00" y="7982922"/>
            <a:ext cx="2380471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+mj-ea"/>
                <a:ea typeface="+mj-ea"/>
                <a:cs typeface="+mj-ea"/>
              </a:rPr>
              <a:t>F=q(v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×</m:t>
                  </m:r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𝑩</m:t>
                  </m:r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3600" b="1">
              <a:latin typeface="+mj-ea"/>
              <a:ea typeface="+mj-ea"/>
              <a:cs typeface="+mj-ea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7606AC0-C47B-E532-7863-F3D6378C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932" y="9047856"/>
            <a:ext cx="979292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Fig. 4</a:t>
            </a:r>
            <a:endParaRPr sz="160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A42EE6-CDEA-AA9A-E814-EC466946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932" y="9368768"/>
            <a:ext cx="8776346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Cao, W., Wu, Z., Yang, Y., Chen, Z., Wu, J., Zhao, D., &amp; Gao, X. (2024). </a:t>
            </a:r>
            <a:r>
              <a:rPr sz="1400" i="1"/>
              <a:t>Field-assisted regulation induced by cobalt-doped </a:t>
            </a:r>
            <a:r>
              <a:rPr sz="1400" i="1"/>
              <a:t>ZnO</a:t>
            </a:r>
            <a:r>
              <a:rPr sz="1400" i="1"/>
              <a:t> for dendrite-free lithium metal anodes</a:t>
            </a:r>
            <a:r>
              <a:rPr sz="1400"/>
              <a:t>. Chemistry – A European Journal, 30(26), e202302867. https://doi.org/10.1002/chem.202302867</a:t>
            </a:r>
          </a:p>
        </p:txBody>
      </p:sp>
    </p:spTree>
    <p:extLst>
      <p:ext uri="{BB962C8B-B14F-4D97-AF65-F5344CB8AC3E}">
        <p14:creationId xmlns:p14="http://schemas.microsoft.com/office/powerpoint/2010/main" val="4211015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EB7E027-A245-A5CC-2DC3-462652D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pic>
        <p:nvPicPr>
          <p:cNvPr id="23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08fe1acd447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3D08CCB-EBBE-85A7-3067-2DE8C4C4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Doping Co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AC66C-9D04-A822-E684-3B00DB69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99" y="1761612"/>
            <a:ext cx="8726262" cy="68634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14350" indent="-514350">
              <a:buFont typeface="Wingdings"/>
              <a:buChar char="v"/>
            </a:pPr>
            <a:r>
              <a:rPr sz="2800" b="1">
                <a:latin typeface="+mj-ea"/>
                <a:ea typeface="+mj-ea"/>
                <a:cs typeface="+mj-ea"/>
              </a:rPr>
              <a:t>Coulombic Efficiency(CE) </a:t>
            </a:r>
            <a:r>
              <a:rPr sz="2800" b="1">
                <a:latin typeface="+mj-ea"/>
                <a:ea typeface="+mj-ea"/>
                <a:cs typeface="+mj-ea"/>
              </a:rPr>
              <a:t>변화</a:t>
            </a:r>
            <a:endParaRPr sz="28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endParaRPr sz="28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r>
              <a:rPr sz="2400" b="1">
                <a:latin typeface="+mn-ea"/>
                <a:ea typeface="+mn-ea"/>
                <a:cs typeface="+mn-ea"/>
              </a:rPr>
              <a:t>CO/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971550" lvl="1" indent="-51435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초기 </a:t>
            </a:r>
            <a:r>
              <a:rPr sz="2400" b="1">
                <a:latin typeface="+mn-ea"/>
                <a:ea typeface="+mn-ea"/>
                <a:cs typeface="+mn-ea"/>
              </a:rPr>
              <a:t>CE </a:t>
            </a:r>
            <a:r>
              <a:rPr sz="2400" b="1">
                <a:latin typeface="+mn-ea"/>
                <a:ea typeface="+mn-ea"/>
                <a:cs typeface="+mn-ea"/>
              </a:rPr>
              <a:t>약 </a:t>
            </a:r>
            <a:r>
              <a:rPr sz="2400" b="1">
                <a:latin typeface="+mn-ea"/>
                <a:ea typeface="+mn-ea"/>
                <a:cs typeface="+mn-ea"/>
              </a:rPr>
              <a:t>96% </a:t>
            </a:r>
            <a:r>
              <a:rPr sz="2400" b="1">
                <a:latin typeface="+mn-ea"/>
                <a:ea typeface="+mn-ea"/>
                <a:cs typeface="+mn-ea"/>
              </a:rPr>
              <a:t>→ </a:t>
            </a:r>
            <a:r>
              <a:rPr sz="2400" b="1">
                <a:latin typeface="+mn-ea"/>
                <a:ea typeface="+mn-ea"/>
                <a:cs typeface="+mn-ea"/>
              </a:rPr>
              <a:t>350cycle</a:t>
            </a:r>
            <a:r>
              <a:rPr sz="2400" b="1">
                <a:latin typeface="+mn-ea"/>
                <a:ea typeface="+mn-ea"/>
                <a:cs typeface="+mn-ea"/>
              </a:rPr>
              <a:t>시 </a:t>
            </a:r>
            <a:r>
              <a:rPr sz="2400" b="1">
                <a:latin typeface="+mn-ea"/>
                <a:ea typeface="+mn-ea"/>
                <a:cs typeface="+mn-ea"/>
              </a:rPr>
              <a:t>CE= 91% </a:t>
            </a:r>
            <a:r>
              <a:rPr sz="2400" b="1">
                <a:latin typeface="+mn-ea"/>
                <a:ea typeface="+mn-ea"/>
                <a:cs typeface="+mn-ea"/>
              </a:rPr>
              <a:t>유지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971550" lvl="1" indent="-51435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리튬의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균일 도금</a:t>
            </a:r>
            <a:r>
              <a:rPr sz="2400" b="1">
                <a:latin typeface="+mn-ea"/>
                <a:ea typeface="+mn-ea"/>
                <a:cs typeface="+mn-ea"/>
              </a:rPr>
              <a:t>/</a:t>
            </a:r>
            <a:r>
              <a:rPr sz="2400" b="1">
                <a:latin typeface="+mn-ea"/>
                <a:ea typeface="+mn-ea"/>
                <a:cs typeface="+mn-ea"/>
              </a:rPr>
              <a:t>박리가 반복되어도 </a:t>
            </a:r>
            <a:r>
              <a:rPr sz="2400" b="1">
                <a:latin typeface="+mn-ea"/>
                <a:ea typeface="+mn-ea"/>
                <a:cs typeface="+mn-ea"/>
              </a:rPr>
              <a:t>dead Li </a:t>
            </a:r>
            <a:r>
              <a:rPr sz="2400" b="1">
                <a:latin typeface="+mn-ea"/>
                <a:ea typeface="+mn-ea"/>
                <a:cs typeface="+mn-ea"/>
              </a:rPr>
              <a:t>생성 최소화됨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+mj-lt"/>
              <a:buAutoNum type="arabicPeriod"/>
            </a:pP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r>
              <a:rPr sz="2400" b="1">
                <a:latin typeface="+mn-ea"/>
                <a:ea typeface="+mn-ea"/>
                <a:cs typeface="+mn-ea"/>
              </a:rPr>
              <a:t>ZnO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971550" lvl="1" indent="-51435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초기 </a:t>
            </a:r>
            <a:r>
              <a:rPr sz="2400" b="1">
                <a:latin typeface="+mn-ea"/>
                <a:ea typeface="+mn-ea"/>
                <a:cs typeface="+mn-ea"/>
              </a:rPr>
              <a:t>CE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94%</a:t>
            </a: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100cycle</a:t>
            </a:r>
            <a:r>
              <a:rPr sz="2400" b="1">
                <a:latin typeface="+mn-ea"/>
                <a:ea typeface="+mn-ea"/>
                <a:cs typeface="+mn-ea"/>
              </a:rPr>
              <a:t>에서 급격히 하락 → </a:t>
            </a:r>
            <a:r>
              <a:rPr sz="2400" b="1">
                <a:latin typeface="+mn-ea"/>
                <a:ea typeface="+mn-ea"/>
                <a:cs typeface="+mn-ea"/>
              </a:rPr>
              <a:t>120cycle </a:t>
            </a:r>
            <a:r>
              <a:rPr sz="2400" b="1">
                <a:latin typeface="+mn-ea"/>
                <a:ea typeface="+mn-ea"/>
                <a:cs typeface="+mn-ea"/>
              </a:rPr>
              <a:t>후 </a:t>
            </a:r>
            <a:r>
              <a:rPr sz="2400" b="1">
                <a:latin typeface="+mn-ea"/>
                <a:ea typeface="+mn-ea"/>
                <a:cs typeface="+mn-ea"/>
              </a:rPr>
              <a:t>=85%</a:t>
            </a:r>
          </a:p>
          <a:p xmlns:a="http://schemas.openxmlformats.org/drawingml/2006/main">
            <a:pPr marL="971550" lvl="1" indent="-51435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만 코팅할 경우 초반 성능은 괜찮지만</a:t>
            </a:r>
            <a:r>
              <a:rPr sz="2400" b="1">
                <a:latin typeface="+mn-ea"/>
                <a:ea typeface="+mn-ea"/>
                <a:cs typeface="+mn-ea"/>
              </a:rPr>
              <a:t>, </a:t>
            </a:r>
            <a:r>
              <a:rPr sz="2400" b="1">
                <a:latin typeface="+mn-ea"/>
                <a:ea typeface="+mn-ea"/>
                <a:cs typeface="+mn-ea"/>
              </a:rPr>
              <a:t>자기장 효과가 없어 </a:t>
            </a:r>
            <a:r>
              <a:rPr sz="2400" b="1">
                <a:latin typeface="+mn-ea"/>
                <a:ea typeface="+mn-ea"/>
                <a:cs typeface="+mn-ea"/>
              </a:rPr>
              <a:t>dendrite</a:t>
            </a:r>
            <a:r>
              <a:rPr sz="2400" b="1">
                <a:latin typeface="+mn-ea"/>
                <a:ea typeface="+mn-ea"/>
                <a:cs typeface="+mn-ea"/>
              </a:rPr>
              <a:t>가 쌓이며 </a:t>
            </a:r>
            <a:r>
              <a:rPr sz="2400" b="1">
                <a:latin typeface="+mn-ea"/>
                <a:ea typeface="+mn-ea"/>
                <a:cs typeface="+mn-ea"/>
              </a:rPr>
              <a:t>CE</a:t>
            </a:r>
            <a:r>
              <a:rPr sz="2400" b="1">
                <a:latin typeface="+mn-ea"/>
                <a:ea typeface="+mn-ea"/>
                <a:cs typeface="+mn-ea"/>
              </a:rPr>
              <a:t>가 불안정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r>
              <a:rPr sz="2400" b="1">
                <a:latin typeface="+mn-ea"/>
                <a:ea typeface="+mn-ea"/>
                <a:cs typeface="+mn-ea"/>
              </a:rPr>
              <a:t>Coating X</a:t>
            </a:r>
          </a:p>
          <a:p xmlns:a="http://schemas.openxmlformats.org/drawingml/2006/main">
            <a:pPr marL="971550" lvl="1" indent="-51435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10cycle </a:t>
            </a:r>
            <a:r>
              <a:rPr sz="2400" b="1">
                <a:latin typeface="+mn-ea"/>
                <a:ea typeface="+mn-ea"/>
                <a:cs typeface="+mn-ea"/>
              </a:rPr>
              <a:t>이후부터 불안정한 급락 </a:t>
            </a:r>
            <a:r>
              <a:rPr sz="2400" b="1">
                <a:latin typeface="+mn-ea"/>
                <a:ea typeface="+mn-ea"/>
                <a:cs typeface="+mn-ea"/>
              </a:rPr>
              <a:t>100cycle </a:t>
            </a:r>
            <a:r>
              <a:rPr sz="2400" b="1">
                <a:latin typeface="+mn-ea"/>
                <a:ea typeface="+mn-ea"/>
                <a:cs typeface="+mn-ea"/>
              </a:rPr>
              <a:t>이전에 </a:t>
            </a:r>
            <a:r>
              <a:rPr sz="2400" b="1">
                <a:latin typeface="+mn-ea"/>
                <a:ea typeface="+mn-ea"/>
                <a:cs typeface="+mn-ea"/>
              </a:rPr>
              <a:t>CE 80% </a:t>
            </a:r>
            <a:r>
              <a:rPr sz="2400" b="1">
                <a:latin typeface="+mn-ea"/>
                <a:ea typeface="+mn-ea"/>
                <a:cs typeface="+mn-ea"/>
              </a:rPr>
              <a:t>이하로 하락</a:t>
            </a:r>
            <a:endParaRPr sz="24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971550" lvl="1" indent="-514350">
              <a:buFont typeface="Arial"/>
              <a:buChar char="•"/>
            </a:pPr>
            <a:r>
              <a:rPr sz="2400" b="1">
                <a:latin typeface="+mn-ea"/>
                <a:ea typeface="+mn-ea"/>
                <a:cs typeface="+mn-ea"/>
              </a:rPr>
              <a:t>전혀 리튬 친화성이 없어 사이클이 진행될수록 </a:t>
            </a:r>
            <a:r>
              <a:rPr sz="2400" b="1">
                <a:latin typeface="+mn-ea"/>
                <a:ea typeface="+mn-ea"/>
                <a:cs typeface="+mn-ea"/>
              </a:rPr>
              <a:t>dead Li</a:t>
            </a:r>
            <a:r>
              <a:rPr sz="2400" b="1">
                <a:latin typeface="+mn-ea"/>
                <a:ea typeface="+mn-ea"/>
                <a:cs typeface="+mn-ea"/>
              </a:rPr>
              <a:t>가 크게 쌓이고 반복 시 </a:t>
            </a:r>
            <a:r>
              <a:rPr sz="2400" b="1">
                <a:latin typeface="+mn-ea"/>
                <a:ea typeface="+mn-ea"/>
                <a:cs typeface="+mn-ea"/>
              </a:rPr>
              <a:t>short-circuit </a:t>
            </a:r>
            <a:r>
              <a:rPr sz="2400" b="1">
                <a:latin typeface="+mn-ea"/>
                <a:ea typeface="+mn-ea"/>
                <a:cs typeface="+mn-ea"/>
              </a:rPr>
              <a:t>전조 현상 발생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pic>
        <p:nvPicPr>
          <p:cNvPr id="26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79ff5b88644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3301" y="2165040"/>
            <a:ext cx="7096810" cy="5593436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834F20A-AAD0-E171-7668-F11F6DC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300" y="7886365"/>
            <a:ext cx="7096810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Cao, W., Wu, Z., Yang, Y., Chen, Z., Wu, J., Zhao, D., &amp; Gao, X. (2024). </a:t>
            </a:r>
            <a:r>
              <a:rPr sz="1400" i="1"/>
              <a:t>Field-assisted regulation induced by cobalt-doped </a:t>
            </a:r>
            <a:r>
              <a:rPr sz="1400" i="1"/>
              <a:t>ZnO</a:t>
            </a:r>
            <a:r>
              <a:rPr sz="1400" i="1"/>
              <a:t> for dendrite-free lithium metal anodes</a:t>
            </a:r>
            <a:r>
              <a:rPr sz="1400"/>
              <a:t>. Chemistry – A European Journal, 30(26), e202302867. https://doi.org/10.1002/chem.202302867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BFA661-8EF3-A794-2323-0C12F97A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06" y="7653144"/>
            <a:ext cx="979292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Fig. 5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8158892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D4F1B4E-EAC2-8FF9-B4CD-EDCC2F3B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71b6ba49d4c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39E6F65-74F0-206F-0EE8-13E01682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Doping Co</a:t>
            </a:r>
            <a:endParaRPr sz="7200" b="0" i="0" u="none">
              <a:solidFill>
                <a:srgbClr val="7E8C8A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FCE960-7A0D-4B05-920E-8929C18F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12" y="2189316"/>
            <a:ext cx="8726262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14350" indent="-514350">
              <a:buFont typeface="Wingdings"/>
              <a:buChar char="v"/>
            </a:pPr>
            <a:r>
              <a:rPr sz="2800" b="1">
                <a:latin typeface="+mj-ea"/>
                <a:ea typeface="+mj-ea"/>
                <a:cs typeface="+mj-ea"/>
              </a:rPr>
              <a:t>핵 형성 과전압</a:t>
            </a:r>
            <a:r>
              <a:rPr sz="2800" b="1">
                <a:latin typeface="+mj-ea"/>
                <a:ea typeface="+mj-ea"/>
                <a:cs typeface="+mj-ea"/>
              </a:rPr>
              <a:t>(Nucleation Overpotential)</a:t>
            </a:r>
          </a:p>
          <a:p xmlns:a="http://schemas.openxmlformats.org/drawingml/2006/main">
            <a:pPr marL="514350" indent="-514350">
              <a:buFont typeface="Wingdings"/>
              <a:buChar char="v"/>
            </a:pPr>
            <a:endParaRPr sz="28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r>
              <a:rPr sz="2400" b="1">
                <a:latin typeface="+mj-ea"/>
                <a:ea typeface="+mj-ea"/>
                <a:cs typeface="+mj-ea"/>
              </a:rPr>
              <a:t>Co/</a:t>
            </a:r>
            <a:r>
              <a:rPr sz="2400" b="1">
                <a:latin typeface="+mj-ea"/>
                <a:ea typeface="+mj-ea"/>
                <a:cs typeface="+mj-ea"/>
              </a:rPr>
              <a:t>ZnO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가장 낮은 과전압 리튬 핵이 쉽게 형성 균일 핵이 빠르게 형성되어 </a:t>
            </a:r>
            <a:r>
              <a:rPr sz="2400" b="1">
                <a:latin typeface="+mj-ea"/>
                <a:ea typeface="+mj-ea"/>
                <a:cs typeface="+mj-ea"/>
              </a:rPr>
              <a:t>덴드라이트</a:t>
            </a:r>
            <a:r>
              <a:rPr sz="2400" b="1">
                <a:latin typeface="+mj-ea"/>
                <a:ea typeface="+mj-ea"/>
                <a:cs typeface="+mj-ea"/>
              </a:rPr>
              <a:t> 억제</a:t>
            </a:r>
            <a:endParaRPr sz="2400" b="1">
              <a:latin typeface="+mj-ea"/>
              <a:ea typeface="+mj-ea"/>
              <a:cs typeface="+mj-ea"/>
            </a:endParaRPr>
          </a:p>
        </p:txBody>
      </p:sp>
      <p:pic>
        <p:nvPicPr>
          <p:cNvPr id="29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3d3299b9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56776" y="2125933"/>
            <a:ext cx="4326569" cy="3357071"/>
          </a:xfrm>
          <a:prstGeom xmlns:a="http://schemas.openxmlformats.org/drawingml/2006/main" prst="rect">
            <a:avLst/>
          </a:prstGeom>
        </p:spPr>
      </p:pic>
      <p:graphicFrame>
        <p:nvGraphicFramePr>
          <p:cNvPr id="30" name="표 6"/>
          <p:cNvGraphicFramePr/>
          <p:nvPr/>
        </p:nvGraphicFramePr>
        <p:xfrm>
          <a:off xmlns:a="http://schemas.openxmlformats.org/drawingml/2006/main" x="2014587" y="3031347"/>
          <a:ext xmlns:a="http://schemas.openxmlformats.org/drawingml/2006/main" cx="5157154" cy="140785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8577"/>
                <a:gridCol w="2578577"/>
              </a:tblGrid>
              <a:tr h="469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Co/</a:t>
                      </a: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ZnO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8mv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469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ZnO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13mv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469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Coating X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62mv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pic>
        <p:nvPicPr>
          <p:cNvPr id="31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8e7c5826e4d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56776" y="6004232"/>
            <a:ext cx="4326569" cy="3300875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737C9E-3303-B8E0-5194-0193577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12" y="6004232"/>
            <a:ext cx="8726262" cy="39087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514350" indent="-514350">
              <a:buFont typeface="Wingdings"/>
              <a:buChar char="v"/>
            </a:pPr>
            <a:r>
              <a:rPr sz="2800" b="1">
                <a:latin typeface="+mj-ea"/>
                <a:ea typeface="+mj-ea"/>
                <a:cs typeface="+mj-ea"/>
              </a:rPr>
              <a:t>전압 </a:t>
            </a:r>
            <a:r>
              <a:rPr sz="2800" b="1">
                <a:latin typeface="+mj-ea"/>
                <a:ea typeface="+mj-ea"/>
                <a:cs typeface="+mj-ea"/>
              </a:rPr>
              <a:t>히스테리시스</a:t>
            </a:r>
            <a:r>
              <a:rPr sz="2800" b="1">
                <a:latin typeface="+mj-ea"/>
                <a:ea typeface="+mj-ea"/>
                <a:cs typeface="+mj-ea"/>
              </a:rPr>
              <a:t> </a:t>
            </a:r>
            <a:r>
              <a:rPr sz="2800" b="1">
                <a:latin typeface="+mj-ea"/>
                <a:ea typeface="+mj-ea"/>
                <a:cs typeface="+mj-ea"/>
              </a:rPr>
              <a:t>(30cycle)</a:t>
            </a:r>
          </a:p>
          <a:p xmlns:a="http://schemas.openxmlformats.org/drawingml/2006/main">
            <a:pPr marL="514350" indent="-514350">
              <a:buFont typeface="Wingdings"/>
              <a:buChar char="v"/>
            </a:pPr>
            <a:endParaRPr sz="2800" b="1">
              <a:latin typeface="+mn-ea"/>
              <a:ea typeface="+mn-ea"/>
              <a:cs typeface="+mn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514350" indent="-514350">
              <a:buFont typeface="Wingdings"/>
              <a:buChar char="l"/>
            </a:pPr>
            <a:r>
              <a:rPr sz="2400" b="1">
                <a:latin typeface="+mj-ea"/>
                <a:ea typeface="+mj-ea"/>
                <a:cs typeface="+mj-ea"/>
              </a:rPr>
              <a:t>히스테리시스가</a:t>
            </a:r>
            <a:r>
              <a:rPr sz="2400" b="1">
                <a:latin typeface="+mj-ea"/>
                <a:ea typeface="+mj-ea"/>
                <a:cs typeface="+mj-ea"/>
              </a:rPr>
              <a:t> 작을수록 전자</a:t>
            </a:r>
            <a:r>
              <a:rPr sz="2400" b="1">
                <a:latin typeface="+mj-ea"/>
                <a:ea typeface="+mj-ea"/>
                <a:cs typeface="+mj-ea"/>
              </a:rPr>
              <a:t>.</a:t>
            </a:r>
            <a:r>
              <a:rPr sz="2400" b="1">
                <a:latin typeface="+mj-ea"/>
                <a:ea typeface="+mj-ea"/>
                <a:cs typeface="+mj-ea"/>
              </a:rPr>
              <a:t>이온이 잘 흐르고 계면 반응이 빠르다 → 리튬이 고르게 </a:t>
            </a:r>
            <a:r>
              <a:rPr sz="2400" b="1">
                <a:latin typeface="+mj-ea"/>
                <a:ea typeface="+mj-ea"/>
                <a:cs typeface="+mj-ea"/>
              </a:rPr>
              <a:t>증착되어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덴드라이트가</a:t>
            </a:r>
            <a:r>
              <a:rPr sz="2400" b="1">
                <a:latin typeface="+mj-ea"/>
                <a:ea typeface="+mj-ea"/>
                <a:cs typeface="+mj-ea"/>
              </a:rPr>
              <a:t> 억제된다</a:t>
            </a:r>
            <a:r>
              <a:rPr sz="2400" b="1">
                <a:latin typeface="+mj-ea"/>
                <a:ea typeface="+mj-ea"/>
                <a:cs typeface="+mj-ea"/>
              </a:rPr>
              <a:t>.</a:t>
            </a:r>
          </a:p>
        </p:txBody>
      </p:sp>
      <p:graphicFrame>
        <p:nvGraphicFramePr>
          <p:cNvPr id="33" name="표 10"/>
          <p:cNvGraphicFramePr/>
          <p:nvPr/>
        </p:nvGraphicFramePr>
        <p:xfrm>
          <a:off xmlns:a="http://schemas.openxmlformats.org/drawingml/2006/main" x="2014587" y="6950743"/>
          <a:ext xmlns:a="http://schemas.openxmlformats.org/drawingml/2006/main" cx="5157154" cy="140785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8577"/>
                <a:gridCol w="2578577"/>
              </a:tblGrid>
              <a:tr h="469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Co/</a:t>
                      </a: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ZnO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41mv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469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ZnO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43mv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469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Coating X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51mv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A5AA38-7172-2353-564B-5D952D62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155" y="9538184"/>
            <a:ext cx="660338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Cao, W., Wu, Z., Yang, Y., Chen, Z., Wu, J., Zhao, D., &amp; Gao, X. (2024). </a:t>
            </a:r>
            <a:r>
              <a:rPr sz="1200" i="1"/>
              <a:t>Field-assisted regulation induced by cobalt-doped </a:t>
            </a:r>
            <a:r>
              <a:rPr sz="1200" i="1"/>
              <a:t>ZnO</a:t>
            </a:r>
            <a:r>
              <a:rPr sz="1200" i="1"/>
              <a:t> for dendrite-free lithium metal anodes</a:t>
            </a:r>
            <a:r>
              <a:rPr sz="1200"/>
              <a:t>. Chemistry – A European Journal, 30(26), e202302867. https://doi.org/10.1002/chem.202302867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955817D-C7D8-6554-DA15-11E0AD2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776" y="9355878"/>
            <a:ext cx="979292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Fig. 5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2901984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87181C0-257D-ABE3-95CE-16D2420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7d297365d4c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BCFFD6-2A3A-FB7D-7F67-95D33BD0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Doping Co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6" name="그림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99da4cf5740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3922" y="2161539"/>
            <a:ext cx="13520155" cy="3888278"/>
          </a:xfrm>
          <a:prstGeom xmlns:a="http://schemas.openxmlformats.org/drawingml/2006/main" prst="rect">
            <a:avLst/>
          </a:prstGeom>
        </p:spPr>
      </p:pic>
      <p:graphicFrame>
        <p:nvGraphicFramePr>
          <p:cNvPr id="27" name="표 12"/>
          <p:cNvGraphicFramePr/>
          <p:nvPr/>
        </p:nvGraphicFramePr>
        <p:xfrm>
          <a:off xmlns:a="http://schemas.openxmlformats.org/drawingml/2006/main" x="2715960" y="6985232"/>
          <a:ext xmlns:a="http://schemas.openxmlformats.org/drawingml/2006/main" cx="12856078" cy="277752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0390"/>
                <a:gridCol w="4074548"/>
                <a:gridCol w="7361140"/>
              </a:tblGrid>
              <a:tr h="885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Co/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ZnO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100cycle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이 지나도 리튬이 넣고 빼는 과정이 매우 일관됨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리튬 도금과 제거가 균일하게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일어남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→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dendrite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 억제 긴 수명과 높은 효율</a:t>
                      </a:r>
                    </a:p>
                  </a:txBody>
                  <a:tcPr marL="91440" marR="91440" marT="45720" marB="45720" anchor="ctr"/>
                </a:tc>
              </a:tr>
              <a:tr h="885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ZnO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곡선이 점점 아래로 가라앉고 전압 변화가 커짐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,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곡선간 일치도 떨어짐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시간이 지날수록 전극의 성능이 떨어지고 있음 →리튬 제거 및 도금 불안정→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dendrite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 성장 가능성 증가</a:t>
                      </a:r>
                    </a:p>
                  </a:txBody>
                  <a:tcPr marL="91440" marR="91440" marT="45720" marB="45720" anchor="ctr"/>
                </a:tc>
              </a:tr>
              <a:tr h="885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Coating X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곡선들이 많이 벌어짐 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dendrite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 성장으로 인한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short-circuit </a:t>
                      </a: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가능서 증가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4618FCA-E615-3C47-2888-570CCC50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921" y="6283484"/>
            <a:ext cx="1352015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Cao, W., Wu, Z., Yang, Y., Chen, Z., Wu, J., Zhao, D., &amp; Gao, X. (2024). </a:t>
            </a:r>
            <a:r>
              <a:rPr sz="1200" i="1"/>
              <a:t>Field-assisted regulation induced by cobalt-doped </a:t>
            </a:r>
            <a:r>
              <a:rPr sz="1200" i="1"/>
              <a:t>ZnO</a:t>
            </a:r>
            <a:r>
              <a:rPr sz="1200" i="1"/>
              <a:t> for dendrite-free lithium metal anodes</a:t>
            </a:r>
            <a:r>
              <a:rPr sz="1200"/>
              <a:t>. Chemistry – A European Journal, 30(26), e202302867. https://doi.org/10.1002/chem.202302867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04EF919-AEAB-1CDD-699B-3489D4AE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543" y="6101178"/>
            <a:ext cx="979292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Fig. 5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1332962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8016610-00FA-44E1-D740-30F4BA13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pic>
        <p:nvPicPr>
          <p:cNvPr id="23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87ac8d4444a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B16BB8-25E0-955B-444C-F6FF5F14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 b="0" i="0" u="none">
                <a:solidFill>
                  <a:srgbClr val="7E8C8A"/>
                </a:solidFill>
              </a:rPr>
              <a:t>Doping Co</a:t>
            </a:r>
            <a:endParaRPr sz="7200" b="0" i="0" u="none">
              <a:solidFill>
                <a:srgbClr val="7E8C8A"/>
              </a:solidFill>
            </a:endParaRPr>
          </a:p>
        </p:txBody>
      </p:sp>
      <p:pic>
        <p:nvPicPr>
          <p:cNvPr id="25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13365b93f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230" y="2798618"/>
            <a:ext cx="11127431" cy="5756676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3A137E-BA30-9E30-06A2-081CB9A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4180" y="2798618"/>
            <a:ext cx="6223820" cy="2677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400" b="1">
                <a:latin typeface="+mj-ea"/>
                <a:ea typeface="+mj-ea"/>
                <a:cs typeface="+mj-ea"/>
              </a:rPr>
              <a:t>리튬 금속 음극 장기 </a:t>
            </a:r>
            <a:r>
              <a:rPr sz="2400" b="1">
                <a:latin typeface="+mj-ea"/>
                <a:ea typeface="+mj-ea"/>
                <a:cs typeface="+mj-ea"/>
              </a:rPr>
              <a:t>cycling stability</a:t>
            </a:r>
          </a:p>
          <a:p xmlns:a="http://schemas.openxmlformats.org/drawingml/2006/main">
            <a:pPr marL="342900" indent="-342900">
              <a:buFont typeface="Wingdings"/>
              <a:buChar char="v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Co/</a:t>
            </a:r>
            <a:r>
              <a:rPr sz="2400" b="1">
                <a:latin typeface="+mj-ea"/>
                <a:ea typeface="+mj-ea"/>
                <a:cs typeface="+mj-ea"/>
              </a:rPr>
              <a:t>ZnO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가</a:t>
            </a:r>
            <a:r>
              <a:rPr sz="2400" b="1">
                <a:latin typeface="+mj-ea"/>
                <a:ea typeface="+mj-ea"/>
                <a:cs typeface="+mj-ea"/>
              </a:rPr>
              <a:t> 2000</a:t>
            </a:r>
            <a:r>
              <a:rPr sz="2400" b="1">
                <a:latin typeface="+mj-ea"/>
                <a:ea typeface="+mj-ea"/>
                <a:cs typeface="+mj-ea"/>
              </a:rPr>
              <a:t>시간동안 매우 안정적인 전압 곡선 유지 → 균일한 </a:t>
            </a:r>
            <a:r>
              <a:rPr sz="2400" b="1">
                <a:latin typeface="+mj-ea"/>
                <a:ea typeface="+mj-ea"/>
                <a:cs typeface="+mj-ea"/>
              </a:rPr>
              <a:t>Li </a:t>
            </a:r>
            <a:r>
              <a:rPr sz="2400" b="1">
                <a:latin typeface="+mj-ea"/>
                <a:ea typeface="+mj-ea"/>
                <a:cs typeface="+mj-ea"/>
              </a:rPr>
              <a:t>도금</a:t>
            </a:r>
            <a:r>
              <a:rPr sz="2400" b="1">
                <a:latin typeface="+mj-ea"/>
                <a:ea typeface="+mj-ea"/>
                <a:cs typeface="+mj-ea"/>
              </a:rPr>
              <a:t>/</a:t>
            </a:r>
            <a:r>
              <a:rPr sz="2400" b="1">
                <a:latin typeface="+mj-ea"/>
                <a:ea typeface="+mj-ea"/>
                <a:cs typeface="+mj-ea"/>
              </a:rPr>
              <a:t>제거</a:t>
            </a:r>
            <a:r>
              <a:rPr sz="2400" b="1">
                <a:latin typeface="+mj-ea"/>
                <a:ea typeface="+mj-ea"/>
                <a:cs typeface="+mj-ea"/>
              </a:rPr>
              <a:t>, dendrite </a:t>
            </a:r>
            <a:r>
              <a:rPr sz="2400" b="1">
                <a:latin typeface="+mj-ea"/>
                <a:ea typeface="+mj-ea"/>
                <a:cs typeface="+mj-ea"/>
              </a:rPr>
              <a:t>억제</a:t>
            </a: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400" b="1">
              <a:latin typeface="+mj-ea"/>
              <a:ea typeface="+mj-ea"/>
              <a:cs typeface="+mj-ea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400" b="1">
                <a:latin typeface="+mj-ea"/>
                <a:ea typeface="+mj-ea"/>
                <a:cs typeface="+mj-ea"/>
              </a:rPr>
              <a:t>ZnO</a:t>
            </a:r>
            <a:r>
              <a:rPr sz="2400" b="1">
                <a:latin typeface="+mj-ea"/>
                <a:ea typeface="+mj-ea"/>
                <a:cs typeface="+mj-ea"/>
              </a:rPr>
              <a:t> </a:t>
            </a:r>
            <a:r>
              <a:rPr sz="2400" b="1">
                <a:latin typeface="+mj-ea"/>
                <a:ea typeface="+mj-ea"/>
                <a:cs typeface="+mj-ea"/>
              </a:rPr>
              <a:t>약 </a:t>
            </a:r>
            <a:r>
              <a:rPr sz="2400" b="1">
                <a:latin typeface="+mj-ea"/>
                <a:ea typeface="+mj-ea"/>
                <a:cs typeface="+mj-ea"/>
              </a:rPr>
              <a:t>800</a:t>
            </a:r>
            <a:r>
              <a:rPr sz="2400" b="1">
                <a:latin typeface="+mj-ea"/>
                <a:ea typeface="+mj-ea"/>
                <a:cs typeface="+mj-ea"/>
              </a:rPr>
              <a:t>시간 뒤에 전압 불안정</a:t>
            </a:r>
            <a:endParaRPr sz="2400" b="1">
              <a:latin typeface="+mj-ea"/>
              <a:ea typeface="+mj-ea"/>
              <a:cs typeface="+mj-ea"/>
            </a:endParaRPr>
          </a:p>
        </p:txBody>
      </p:sp>
      <p:sp>
        <p:nvSpPr>
          <p:cNvPr id="6" name="화살표: 아래쪽 5">
            <a:extLst xmlns:a="http://schemas.openxmlformats.org/drawingml/2006/main">
              <a:ext uri="{FF2B5EF4-FFF2-40B4-BE49-F238E27FC236}">
                <a16:creationId xmlns:a16="http://schemas.microsoft.com/office/drawing/2014/main" id="{6AF8E66F-C098-1903-E72A-0757704B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613" y="6228962"/>
            <a:ext cx="632952" cy="581333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3952B0C-3679-E5C3-6527-26E7AB0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506" y="7562984"/>
            <a:ext cx="453916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latin typeface="+mj-ea"/>
                <a:ea typeface="+mj-ea"/>
                <a:cs typeface="+mj-ea"/>
              </a:rPr>
              <a:t>Co </a:t>
            </a:r>
            <a:r>
              <a:rPr sz="2400" b="1">
                <a:latin typeface="+mj-ea"/>
                <a:ea typeface="+mj-ea"/>
                <a:cs typeface="+mj-ea"/>
              </a:rPr>
              <a:t>도핑이 리튬 음극의 수명 향상에 결정적인 역할을 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92B7CF-1696-5352-4D3C-8DD4DDAE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09" y="8751500"/>
            <a:ext cx="1112405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Cao, W., Wu, Z., Yang, Y., Chen, Z., Wu, J., Zhao, D., &amp; Gao, X. (2024). </a:t>
            </a:r>
            <a:r>
              <a:rPr sz="1400" i="1"/>
              <a:t>Field-assisted regulation induced by cobalt-doped </a:t>
            </a:r>
            <a:r>
              <a:rPr sz="1400" i="1"/>
              <a:t>ZnO</a:t>
            </a:r>
            <a:r>
              <a:rPr sz="1400" i="1"/>
              <a:t> for dendrite-free lithium metal anodes</a:t>
            </a:r>
            <a:r>
              <a:rPr sz="1400"/>
              <a:t>. Chemistry – A European Journal, 30(26), e202302867. https://doi.org/10.1002/chem.202302867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6AC739-486A-479F-D37B-4FD9DC29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30" y="8569194"/>
            <a:ext cx="9792928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Fig. 6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307722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3D417DD-2BF4-3884-575D-5AA6ACBF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06</a:t>
            </a:r>
          </a:p>
        </p:txBody>
      </p:sp>
      <p:pic>
        <p:nvPicPr>
          <p:cNvPr id="2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120f7e0254e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6282D6-47D4-50D3-76F6-3913F55B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56083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>
                <a:solidFill>
                  <a:srgbClr val="7E8C8A"/>
                </a:solidFill>
              </a:rPr>
              <a:t>Expected</a:t>
            </a:r>
            <a:r>
              <a:rPr sz="7200">
                <a:solidFill>
                  <a:srgbClr val="7E8C8A"/>
                </a:solidFill>
              </a:rPr>
              <a:t> </a:t>
            </a:r>
            <a:r>
              <a:rPr sz="7200">
                <a:solidFill>
                  <a:srgbClr val="7E8C8A"/>
                </a:solidFill>
              </a:rPr>
              <a:t>Results</a:t>
            </a:r>
            <a:endParaRPr sz="7200" b="0" i="0" u="none">
              <a:solidFill>
                <a:srgbClr val="7E8C8A"/>
              </a:solidFill>
            </a:endParaRPr>
          </a:p>
        </p:txBody>
      </p:sp>
      <p:graphicFrame>
        <p:nvGraphicFramePr>
          <p:cNvPr id="27" name="표 6"/>
          <p:cNvGraphicFramePr/>
          <p:nvPr/>
        </p:nvGraphicFramePr>
        <p:xfrm>
          <a:off xmlns:a="http://schemas.openxmlformats.org/drawingml/2006/main" x="942110" y="2281794"/>
          <a:ext xmlns:a="http://schemas.openxmlformats.org/drawingml/2006/main" cx="7453745" cy="432641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399"/>
                <a:gridCol w="3131127"/>
                <a:gridCol w="1884219"/>
              </a:tblGrid>
              <a:tr h="498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구분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000" b="1">
                          <a:latin typeface="+mn-ea"/>
                          <a:ea typeface="+mn-ea"/>
                          <a:cs typeface="+mn-ea"/>
                        </a:rPr>
                        <a:t>측정 조건</a:t>
                      </a:r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측정</a:t>
                      </a: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 </a:t>
                      </a: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값</a:t>
                      </a:r>
                    </a:p>
                  </a:txBody>
                  <a:tcPr marL="91440" marR="91440" marT="45720" marB="45720" anchor="ctr"/>
                </a:tc>
              </a:tr>
              <a:tr h="498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CNT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𝟓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r>
                        <a:rPr sz="2400" b="1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𝟏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𝒎𝑨𝒉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endParaRPr sz="2000" b="1"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60h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996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GZCNT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𝟓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r>
                        <a:rPr sz="2400" b="1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𝟏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𝒉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120h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996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ZnO@Cu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r>
                        <a:rPr sz="2400" b="1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𝟏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𝒉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780h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  <a:tr h="9962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C0-ZnO@Cu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r>
                        <a:rPr sz="2400" b="1"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sSup>
                              <m:e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𝟏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𝒎𝑨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𝒉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 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𝒄𝒎</m:t>
                                </m:r>
                              </m:e>
                              <m:sup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xmlns:a="http://schemas.openxmlformats.org/drawingml/2006/main" lang="en-US" sz="2400" b="1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𝟐</m:t>
                                </m:r>
                              </m:sup>
                            </m:sSup>
                          </m:oMath>
                        </m:oMathPara>
                      </a14:m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latin typeface="+mj-ea"/>
                          <a:ea typeface="+mj-ea"/>
                          <a:cs typeface="+mj-ea"/>
                        </a:rPr>
                        <a:t>1200h</a:t>
                      </a:r>
                      <a:endParaRPr sz="2400" b="1"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C3CF7C-F21C-01BE-BB50-5F74178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353" y="2728287"/>
            <a:ext cx="3592137" cy="8086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𝐅</m:t>
                      </m:r>
                    </m:e>
                    <m:sub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𝐆𝐙𝐂𝐍𝐓</m:t>
                      </m:r>
                    </m:sub>
                  </m:sSub>
                  <m:r>
                    <a:rPr xmlns:a="http://schemas.openxmlformats.org/drawingml/2006/main" lang="en-US" sz="3600" b="1" i="0">
                      <a:latin typeface="Cambria Math"/>
                      <a:ea typeface="Cambria Math"/>
                      <a:cs typeface="Cambria Math"/>
                    </a:rPr>
                    <m:t xml:space="preserve">= </m:t>
                  </m:r>
                  <m:f>
                    <m:num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𝟏𝟐𝟎𝐡</m:t>
                      </m:r>
                    </m:num>
                    <m:den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𝟔𝟎𝐡</m:t>
                      </m:r>
                    </m:den>
                  </m:f>
                </m:oMath>
              </m:oMathPara>
            </a14:m>
            <a:r>
              <a:rPr sz="3600" b="1">
                <a:latin typeface="+mn-ea"/>
                <a:ea typeface="+mn-ea"/>
                <a:cs typeface="+mn-ea"/>
              </a:rPr>
              <a:t> </a:t>
            </a:r>
            <a:r>
              <a:rPr sz="3600" b="1">
                <a:latin typeface="Calibri"/>
                <a:ea typeface="Calibri"/>
                <a:cs typeface="Calibri"/>
              </a:rPr>
              <a:t>≈ </a:t>
            </a:r>
            <a:r>
              <a:rPr sz="2800" b="1">
                <a:latin typeface="+mn-ea"/>
                <a:ea typeface="+mn-ea"/>
                <a:cs typeface="+mn-ea"/>
              </a:rPr>
              <a:t>2</a:t>
            </a:r>
            <a:endParaRPr sz="3600" b="1">
              <a:latin typeface="+mn-ea"/>
              <a:ea typeface="+mn-ea"/>
              <a:cs typeface="+mn-ea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E0B721-CC05-D36D-B4AA-8DA0D36F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935" y="4360499"/>
            <a:ext cx="3571299" cy="8088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𝐅</m:t>
                      </m:r>
                    </m:e>
                    <m:sub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𝐂𝐨</m:t>
                      </m:r>
                    </m:sub>
                  </m:sSub>
                  <m:r>
                    <a:rPr xmlns:a="http://schemas.openxmlformats.org/drawingml/2006/main" lang="en-US" sz="3600" b="1" i="0">
                      <a:latin typeface="Cambria Math"/>
                      <a:ea typeface="Cambria Math"/>
                      <a:cs typeface="Cambria Math"/>
                    </a:rPr>
                    <m:t xml:space="preserve">= </m:t>
                  </m:r>
                  <m:f>
                    <m:num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𝟏𝟐𝟎𝟎𝐡</m:t>
                      </m:r>
                    </m:num>
                    <m:den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𝟕𝟖𝟎𝐡</m:t>
                      </m:r>
                    </m:den>
                  </m:f>
                </m:oMath>
              </m:oMathPara>
            </a14:m>
            <a:r>
              <a:rPr sz="3600" b="1">
                <a:latin typeface="+mn-ea"/>
                <a:ea typeface="+mn-ea"/>
                <a:cs typeface="+mn-ea"/>
              </a:rPr>
              <a:t> </a:t>
            </a:r>
            <a:r>
              <a:rPr sz="3600" b="1">
                <a:latin typeface="Calibri"/>
                <a:ea typeface="Calibri"/>
                <a:cs typeface="Calibri"/>
              </a:rPr>
              <a:t>≈ </a:t>
            </a:r>
            <a:r>
              <a:rPr sz="2800" b="1">
                <a:latin typeface="+mn-ea"/>
                <a:ea typeface="+mn-ea"/>
                <a:cs typeface="+mn-ea"/>
              </a:rPr>
              <a:t>1.54</a:t>
            </a:r>
            <a:endParaRPr sz="3600" b="1">
              <a:latin typeface="+mn-ea"/>
              <a:ea typeface="+mn-ea"/>
              <a:cs typeface="+mn-ea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99BBF84-6500-C4A8-FA90-2931247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935" y="5956426"/>
            <a:ext cx="7949381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𝐅</m:t>
                      </m:r>
                    </m:e>
                    <m:sub>
                      <m:r>
                        <a:rPr xmlns:a="http://schemas.openxmlformats.org/drawingml/2006/main" lang="en-US" sz="3600" b="1" i="0">
                          <a:latin typeface="Cambria Math"/>
                          <a:ea typeface="Cambria Math"/>
                          <a:cs typeface="Cambria Math"/>
                        </a:rPr>
                        <m:t>𝐭𝐨𝐭𝐚𝐥</m:t>
                      </m:r>
                    </m:sub>
                  </m:sSub>
                  <m:r>
                    <a:rPr xmlns:a="http://schemas.openxmlformats.org/drawingml/2006/main" lang="en-US" sz="3600" b="1" i="0"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3600" b="1">
                          <a:latin typeface="Cambria Math"/>
                          <a:ea typeface="Cambria Math"/>
                          <a:cs typeface="Cambria Math"/>
                        </a:rPr>
                        <m:t>𝐅</m:t>
                      </m:r>
                    </m:e>
                    <m:sub>
                      <m:r>
                        <a:rPr xmlns:a="http://schemas.openxmlformats.org/drawingml/2006/main" lang="en-US" sz="3600" b="1" i="1">
                          <a:latin typeface="Cambria Math"/>
                          <a:ea typeface="Cambria Math"/>
                          <a:cs typeface="Cambria Math"/>
                        </a:rPr>
                        <m:t>𝑮𝒁𝑪𝑵𝑻</m:t>
                      </m:r>
                    </m:sub>
                  </m:sSub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×</m:t>
                  </m:r>
                  <m:sSub>
                    <m:e>
                      <m:r>
                        <a:rPr xmlns:a="http://schemas.openxmlformats.org/drawingml/2006/main" lang="en-US" sz="3600" b="1">
                          <a:latin typeface="Cambria Math"/>
                          <a:ea typeface="Cambria Math"/>
                          <a:cs typeface="Cambria Math"/>
                        </a:rPr>
                        <m:t>𝐅</m:t>
                      </m:r>
                    </m:e>
                    <m:sub>
                      <m:r>
                        <a:rPr xmlns:a="http://schemas.openxmlformats.org/drawingml/2006/main" lang="en-US" sz="3600" b="1" i="1">
                          <a:latin typeface="Cambria Math"/>
                          <a:ea typeface="Cambria Math"/>
                          <a:cs typeface="Cambria Math"/>
                        </a:rPr>
                        <m:t>𝑪𝒐</m:t>
                      </m:r>
                    </m:sub>
                  </m:sSub>
                </m:oMath>
              </m:oMathPara>
            </a14:m>
            <a:r>
              <a:rPr sz="3600" b="1">
                <a:latin typeface="+mn-ea"/>
                <a:ea typeface="+mn-ea"/>
                <a:cs typeface="+mn-ea"/>
              </a:rPr>
              <a:t>≈ </a:t>
            </a:r>
            <a:r>
              <a:rPr sz="2800" b="1">
                <a:latin typeface="+mn-ea"/>
                <a:ea typeface="+mn-ea"/>
                <a:cs typeface="+mn-ea"/>
              </a:rPr>
              <a:t>2.0</a:t>
            </a:r>
            <a:r>
              <a:rPr sz="2800" b="1">
                <a:latin typeface="+mn-ea"/>
                <a:ea typeface="+mn-ea"/>
                <a:cs typeface="+mn-ea"/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2800" b="1" i="1">
                      <a:latin typeface="Cambria Math"/>
                      <a:ea typeface="Cambria Math"/>
                      <a:cs typeface="Cambria Math"/>
                    </a:rPr>
                    <m:t>×</m:t>
                  </m:r>
                </m:oMath>
              </m:oMathPara>
            </a14:m>
            <a:r>
              <a:rPr sz="2800" b="1">
                <a:latin typeface="+mn-ea"/>
                <a:ea typeface="+mn-ea"/>
                <a:cs typeface="+mn-ea"/>
              </a:rPr>
              <a:t>1.54</a:t>
            </a:r>
            <a:r>
              <a:rPr sz="2800" b="1">
                <a:latin typeface="+mn-ea"/>
                <a:ea typeface="+mn-ea"/>
                <a:cs typeface="+mn-ea"/>
              </a:rPr>
              <a:t> ≈ </a:t>
            </a:r>
            <a:r>
              <a:rPr sz="2800" b="1">
                <a:latin typeface="+mn-ea"/>
                <a:ea typeface="+mn-ea"/>
                <a:cs typeface="+mn-ea"/>
              </a:rPr>
              <a:t>3.18</a:t>
            </a:r>
            <a:endParaRPr sz="3600" b="1">
              <a:latin typeface="+mn-ea"/>
              <a:ea typeface="+mn-ea"/>
              <a:cs typeface="+mn-ea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02A9BA-A933-DBEF-0920-6E46F071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478" y="6989224"/>
            <a:ext cx="10381635" cy="4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2400" b="1">
                <a:latin typeface="+mj-ea"/>
                <a:ea typeface="+mj-ea"/>
                <a:cs typeface="+mj-ea"/>
              </a:rPr>
              <a:t>대칭셀</a:t>
            </a:r>
            <a:r>
              <a:rPr sz="2400" b="1">
                <a:latin typeface="+mj-ea"/>
                <a:ea typeface="+mj-ea"/>
                <a:cs typeface="+mj-ea"/>
              </a:rPr>
              <a:t>(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𝒎𝑨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𝒄𝒎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p>
                  </m:sSup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 , </a:t>
            </a: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𝒎𝑨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𝒄𝒎</m:t>
                      </m:r>
                    </m:e>
                    <m:sup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p>
                  </m:sSup>
                  <m:r>
                    <a:rPr xmlns:a="http://schemas.openxmlformats.org/drawingml/2006/main" lang="en-US" sz="2400" b="1" i="1">
                      <a:latin typeface="Cambria Math"/>
                      <a:ea typeface="Cambria Math"/>
                      <a:cs typeface="Cambria Math"/>
                    </a:rPr>
                    <m:t xml:space="preserve">) </m:t>
                  </m:r>
                </m:oMath>
              </m:oMathPara>
            </a14:m>
            <a:r>
              <a:rPr sz="2400" b="1">
                <a:latin typeface="+mj-ea"/>
                <a:ea typeface="+mj-ea"/>
                <a:cs typeface="+mj-ea"/>
              </a:rPr>
              <a:t>에서 </a:t>
            </a:r>
            <a:r>
              <a:rPr sz="2400" b="1">
                <a:latin typeface="+mj-ea"/>
                <a:ea typeface="+mj-ea"/>
                <a:cs typeface="+mj-ea"/>
              </a:rPr>
              <a:t>CNT </a:t>
            </a:r>
            <a:r>
              <a:rPr sz="2400" b="1">
                <a:latin typeface="+mj-ea"/>
                <a:ea typeface="+mj-ea"/>
                <a:cs typeface="+mj-ea"/>
              </a:rPr>
              <a:t>사용시 </a:t>
            </a:r>
            <a:r>
              <a:rPr sz="2400" b="1">
                <a:latin typeface="+mj-ea"/>
                <a:ea typeface="+mj-ea"/>
                <a:cs typeface="+mj-ea"/>
              </a:rPr>
              <a:t>520cycle </a:t>
            </a:r>
            <a:endParaRPr sz="2400" b="1">
              <a:latin typeface="+mj-ea"/>
              <a:ea typeface="+mj-ea"/>
              <a:cs typeface="+mj-ea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BEA6890-F0F5-302E-6359-A89BAEC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955" y="2281794"/>
            <a:ext cx="312665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v"/>
            </a:pPr>
            <a:r>
              <a:rPr sz="2400" b="1">
                <a:latin typeface="+mn-ea"/>
                <a:ea typeface="+mn-ea"/>
                <a:cs typeface="+mn-ea"/>
              </a:rPr>
              <a:t> CNT → GZCNT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93E71E1-4689-BF54-2069-F86642E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955" y="3909514"/>
            <a:ext cx="312665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v"/>
            </a:pPr>
            <a:r>
              <a:rPr sz="2400" b="1">
                <a:latin typeface="+mn-ea"/>
                <a:ea typeface="+mn-ea"/>
                <a:cs typeface="+mn-ea"/>
              </a:rPr>
              <a:t> 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r>
              <a:rPr sz="2400" b="1">
                <a:latin typeface="+mn-ea"/>
                <a:ea typeface="+mn-ea"/>
                <a:cs typeface="+mn-ea"/>
              </a:rPr>
              <a:t> → Co-</a:t>
            </a:r>
            <a:r>
              <a:rPr sz="2400" b="1">
                <a:latin typeface="+mn-ea"/>
                <a:ea typeface="+mn-ea"/>
                <a:cs typeface="+mn-ea"/>
              </a:rPr>
              <a:t>ZnO</a:t>
            </a:r>
            <a:endParaRPr sz="2400" b="1">
              <a:latin typeface="+mn-ea"/>
              <a:ea typeface="+mn-ea"/>
              <a:cs typeface="+mn-ea"/>
            </a:endParaRPr>
          </a:p>
        </p:txBody>
      </p:sp>
      <p:sp>
        <p:nvSpPr>
          <p:cNvPr id="17" name="화살표: 아래쪽 16">
            <a:extLst xmlns:a="http://schemas.openxmlformats.org/drawingml/2006/main">
              <a:ext uri="{FF2B5EF4-FFF2-40B4-BE49-F238E27FC236}">
                <a16:creationId xmlns:a16="http://schemas.microsoft.com/office/drawing/2014/main" id="{151975E1-0FFF-3478-88C3-7BC1A856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257" y="5366527"/>
            <a:ext cx="316054" cy="439838"/>
          </a:xfrm>
          <a:prstGeom xmlns:a="http://schemas.openxmlformats.org/drawingml/2006/main" prst="downArrow">
            <a:avLst/>
          </a:prstGeom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F301E4F-B475-C213-8583-7473C3C7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07" y="7745870"/>
            <a:ext cx="10381635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𝟓𝟐𝟎</m:t>
                  </m:r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𝒄𝒚𝒄𝒍𝒆</m:t>
                  </m:r>
                  <m:d>
                    <m:dPr>
                      <m:grow m:val="off"/>
                    </m:dPr>
                    <m:e>
                      <m:r>
                        <a:rPr xmlns:a="http://schemas.openxmlformats.org/drawingml/2006/main" lang="en-US" sz="3600" b="1" i="1">
                          <a:latin typeface="Cambria Math"/>
                          <a:ea typeface="Cambria Math"/>
                          <a:cs typeface="Cambria Math"/>
                        </a:rPr>
                        <m:t>𝑪𝑵𝑻</m:t>
                      </m:r>
                    </m:e>
                  </m:d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×</m:t>
                  </m:r>
                  <m:sSub>
                    <m:e>
                      <m:r>
                        <a:rPr xmlns:a="http://schemas.openxmlformats.org/drawingml/2006/main" lang="en-US" sz="3600" b="1">
                          <a:latin typeface="Cambria Math"/>
                          <a:ea typeface="Cambria Math"/>
                          <a:cs typeface="Cambria Math"/>
                        </a:rPr>
                        <m:t>𝐅</m:t>
                      </m:r>
                    </m:e>
                    <m:sub>
                      <m:r>
                        <a:rPr xmlns:a="http://schemas.openxmlformats.org/drawingml/2006/main" lang="en-US" sz="3600" b="1" i="1">
                          <a:latin typeface="Cambria Math"/>
                          <a:ea typeface="Cambria Math"/>
                          <a:cs typeface="Cambria Math"/>
                        </a:rPr>
                        <m:t>𝒕𝒐𝒕𝒂𝒍</m:t>
                      </m:r>
                    </m:sub>
                  </m:sSub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≈</m:t>
                  </m:r>
                  <m:r>
                    <a:rPr xmlns:a="http://schemas.openxmlformats.org/drawingml/2006/main" lang="en-US" sz="3600" b="1" i="0">
                      <a:latin typeface="Cambria Math"/>
                      <a:ea typeface="Cambria Math"/>
                      <a:cs typeface="Cambria Math"/>
                    </a:rPr>
                    <m:t>𝟏𝟔𝟎𝟎</m:t>
                  </m:r>
                  <m:r>
                    <a:rPr xmlns:a="http://schemas.openxmlformats.org/drawingml/2006/main" lang="en-US" sz="3600" b="1" i="1">
                      <a:latin typeface="Cambria Math"/>
                      <a:ea typeface="Cambria Math"/>
                      <a:cs typeface="Cambria Math"/>
                    </a:rPr>
                    <m:t>𝒄𝒚𝒄𝒍𝒆</m:t>
                  </m:r>
                </m:oMath>
              </m:oMathPara>
            </a14:m>
            <a:endParaRPr sz="3600" b="1">
              <a:latin typeface="+mn-ea"/>
              <a:ea typeface="+mn-ea"/>
              <a:cs typeface="+mn-ea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C1B865E-84A0-8E20-12ED-D3D57E3D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10" y="7588842"/>
            <a:ext cx="6327309" cy="83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sz="2400" b="1" i="0">
                      <a:latin typeface="Cambria Math"/>
                      <a:ea typeface="Cambria Math"/>
                      <a:cs typeface="Cambria Math"/>
                    </a:rPr>
                    <m:t>𝐅</m:t>
                  </m:r>
                  <m:r>
                    <a:rPr xmlns:a="http://schemas.openxmlformats.org/drawingml/2006/main" lang="en-US" sz="2400" b="1" i="0">
                      <a:latin typeface="Cambria Math"/>
                      <a:ea typeface="Cambria Math"/>
                      <a:cs typeface="Cambria Math"/>
                    </a:rPr>
                    <m:t xml:space="preserve">= </m:t>
                  </m:r>
                  <m:f>
                    <m:num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개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된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구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조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의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수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명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또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는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시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간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사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이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클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수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기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존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구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조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의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수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명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또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는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시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간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 xml:space="preserve">,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사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이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클</m:t>
                      </m:r>
                      <m:r>
                        <a:rPr xmlns:a="http://schemas.openxmlformats.org/drawingml/2006/main" lang="en-US" sz="2400" b="1" i="1">
                          <a:latin typeface="Cambria Math"/>
                          <a:ea typeface="Cambria Math"/>
                          <a:cs typeface="Cambria Math"/>
                        </a:rPr>
                        <m:t xml:space="preserve"> </m:t>
                      </m:r>
                      <m:r>
                        <a:rPr xmlns:a="http://schemas.openxmlformats.org/drawingml/2006/main" lang="ko-KR" sz="2400" b="1" i="1">
                          <a:latin typeface="Cambria Math"/>
                          <a:ea typeface="Cambria Math"/>
                          <a:cs typeface="Cambria Math"/>
                        </a:rPr>
                        <m:t>수</m:t>
                      </m:r>
                      <m:r>
                        <a:rPr xmlns:a="http://schemas.openxmlformats.org/drawingml/2006/main" lang="en-US" sz="2400" b="1" i="0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den>
                  </m:f>
                </m:oMath>
              </m:oMathPara>
            </a14:m>
            <a:endParaRPr sz="2400" b="1">
              <a:latin typeface="+mj-ea"/>
              <a:ea typeface="+mj-ea"/>
              <a:cs typeface="+mj-ea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08DDA8D-5074-F88C-C1F4-12F456C4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76" y="6999219"/>
            <a:ext cx="10381635" cy="4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§"/>
            </a:pPr>
            <a:r>
              <a:rPr sz="2400" b="1">
                <a:latin typeface="+mj-ea"/>
                <a:ea typeface="+mj-ea"/>
                <a:cs typeface="+mj-ea"/>
              </a:rPr>
              <a:t>성능 향상 계수</a:t>
            </a:r>
            <a:r>
              <a:rPr sz="2400" b="1">
                <a:latin typeface="+mj-ea"/>
                <a:ea typeface="+mj-ea"/>
                <a:cs typeface="+mj-ea"/>
              </a:rPr>
              <a:t>(performance enhancement factor)</a:t>
            </a:r>
            <a:endParaRPr sz="2400" b="1"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388815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4599A4B-CD17-BCA6-5078-4A7768FA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07</a:t>
            </a:r>
          </a:p>
        </p:txBody>
      </p:sp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1b6a743714f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92395A7-1CB7-9305-1AE1-E927B25F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86487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>
                <a:solidFill>
                  <a:srgbClr val="7E8C8A"/>
                </a:solidFill>
              </a:rPr>
              <a:t>References</a:t>
            </a:r>
            <a:endParaRPr sz="7200" i="0" u="none">
              <a:solidFill>
                <a:srgbClr val="7E8C8A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C03C5A-D5B3-8622-1B2D-F98525D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04" y="2112065"/>
            <a:ext cx="15544800" cy="88639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buFontTx/>
              <a:buAutoNum type="arabicPeriod"/>
            </a:pPr>
            <a:r>
              <a:rPr sz="1900" b="1"/>
              <a:t>Song, H., Lee, J., Sagong, M., Jeon, J., Han, Y., Kim, J., Jung, H.-G., Yu, J.-S., Lee, J., &amp; Kim, I.-D. (2024).</a:t>
            </a:r>
            <a:br/>
            <a:r>
              <a:rPr sz="1900"/>
              <a:t>Overcoming chemical and mechanical instabilities in lithium metal anodes with sustainable and eco-friendly artificial SEI layer. </a:t>
            </a:r>
            <a:r>
              <a:rPr sz="1900" i="1"/>
              <a:t>Advanced Materials, 36</a:t>
            </a:r>
            <a:r>
              <a:rPr sz="1900"/>
              <a:t>(20), 2407381. </a:t>
            </a:r>
            <a:r>
              <a:rPr sz="1900">
                <a:hlinkClick xmlns:r="http://schemas.openxmlformats.org/officeDocument/2006/relationships" r:id="R28b2c5754c4746c7"/>
              </a:rPr>
              <a:t>https://doi.org/10.1002/adma.202407381</a:t>
            </a:r>
            <a:endParaRPr sz="1900"/>
          </a:p>
          <a:p xmlns:a="http://schemas.openxmlformats.org/drawingml/2006/main">
            <a:pPr marL="457200" indent="-4572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r>
              <a:rPr sz="1900"/>
              <a:t>  </a:t>
            </a:r>
            <a:r>
              <a:rPr sz="1900" b="1"/>
              <a:t>Zhang, Z., Yang, J., Huang, W., Wang, H., Zhou, W., Li, Y., Li, Y., Xu, J., Huang, W., Chiu, W., &amp; Cui, Y. (2021).</a:t>
            </a:r>
            <a:br/>
            <a:r>
              <a:rPr sz="1900"/>
              <a:t>Cathode-electrolyte interphase in lithium batteries revealed by cryogenic electron microscopy. </a:t>
            </a:r>
            <a:r>
              <a:rPr sz="1900" i="1"/>
              <a:t>Matter, 4</a:t>
            </a:r>
            <a:r>
              <a:rPr sz="1900"/>
              <a:t>(1), 302–312. </a:t>
            </a:r>
            <a:r>
              <a:rPr sz="1900">
                <a:hlinkClick xmlns:r="http://schemas.openxmlformats.org/officeDocument/2006/relationships" r:id="Ra412af8e9ab24041"/>
              </a:rPr>
              <a:t>https://doi.org/10.1016/j.matt.2020.10.021</a:t>
            </a: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r>
              <a:rPr sz="1900" b="1"/>
              <a:t> </a:t>
            </a:r>
            <a:r>
              <a:rPr sz="1900" b="1"/>
              <a:t>Khezraqa</a:t>
            </a:r>
            <a:r>
              <a:rPr sz="1900" b="1"/>
              <a:t>, H., Golshan, M., &amp; Salami-</a:t>
            </a:r>
            <a:r>
              <a:rPr sz="1900" b="1"/>
              <a:t>Kalajahi</a:t>
            </a:r>
            <a:r>
              <a:rPr sz="1900" b="1"/>
              <a:t>, M. (2025).</a:t>
            </a:r>
            <a:br/>
            <a:r>
              <a:rPr sz="1900"/>
              <a:t>Solid/electrolyte and cathode/electrolyte interphases in rechargeable ion batteries: Challenges and perspectives. </a:t>
            </a:r>
            <a:r>
              <a:rPr sz="1900" i="1"/>
              <a:t>Applied Energy, 384</a:t>
            </a:r>
            <a:r>
              <a:rPr sz="1900"/>
              <a:t>, 125509. https://doi.org/10.1016/j.apenergy.2025.125509</a:t>
            </a:r>
            <a:endParaRPr sz="1900"/>
          </a:p>
          <a:p xmlns:a="http://schemas.openxmlformats.org/drawingml/2006/main">
            <a:pPr marL="342900" indent="-342900">
              <a:buAutoNum type="arabicPeriod"/>
            </a:pPr>
            <a:r>
              <a:rPr sz="1900"/>
              <a:t>  </a:t>
            </a:r>
            <a:r>
              <a:rPr sz="1900" b="1"/>
              <a:t>Mao, C., Luo, Z., Sun, L., &amp; Li, W. (2018).</a:t>
            </a:r>
            <a:br/>
            <a:r>
              <a:rPr sz="1900"/>
              <a:t>Selecting the best graphite for long-life, high-energy Li-ion batteries. </a:t>
            </a:r>
            <a:r>
              <a:rPr sz="1900" i="1"/>
              <a:t>Journal of The Electrochemical Society, 165</a:t>
            </a:r>
            <a:r>
              <a:rPr sz="1900"/>
              <a:t>(9), A1837–A1845. </a:t>
            </a:r>
            <a:r>
              <a:rPr sz="1900">
                <a:hlinkClick xmlns:r="http://schemas.openxmlformats.org/officeDocument/2006/relationships" r:id="Rfee2ef6c1dcd475d"/>
              </a:rPr>
              <a:t>https://doi.org/10.1149/2.1111809jes</a:t>
            </a: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r>
              <a:rPr sz="1900" b="1"/>
              <a:t> Yan, L., Feng, X., Wang, H., Chen, Y., Wang, L., &amp; Xue, S. (2025).</a:t>
            </a:r>
            <a:br/>
            <a:r>
              <a:rPr sz="1900"/>
              <a:t>Preparation of PEI-modified PI separators for advanced lithium ion batteries. </a:t>
            </a:r>
            <a:r>
              <a:rPr sz="1900" i="1"/>
              <a:t>Ionics, 31</a:t>
            </a:r>
            <a:r>
              <a:rPr sz="1900"/>
              <a:t>(1), 453–465. </a:t>
            </a:r>
            <a:r>
              <a:rPr sz="1900">
                <a:hlinkClick xmlns:r="http://schemas.openxmlformats.org/officeDocument/2006/relationships" r:id="R87e1e94417584f30"/>
              </a:rPr>
              <a:t>https://doi.org/10.1007/s11581-024-05919-1</a:t>
            </a: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r>
              <a:rPr sz="1900" b="1"/>
              <a:t> Song, H., Lee, J., Sagong, M., Jeon, J., Han, Y., Kim, J., Jung, H.-G., Yu, J.-S., Lee, J., &amp; Kim, I.-D. (2024).</a:t>
            </a:r>
            <a:br/>
            <a:r>
              <a:rPr sz="1900" b="1"/>
              <a:t> Overcoming chemical and mechanical instabilities in lithium metal anodes with sustainable and eco-friendly artificial SEI layer.</a:t>
            </a:r>
            <a:br/>
            <a:r>
              <a:rPr sz="1900" b="1"/>
              <a:t> </a:t>
            </a:r>
            <a:r>
              <a:rPr sz="1900" i="1"/>
              <a:t>Advanced Materials</a:t>
            </a:r>
            <a:r>
              <a:rPr sz="1900"/>
              <a:t>, 36(20), 2407381. </a:t>
            </a:r>
            <a:r>
              <a:rPr sz="1900">
                <a:hlinkClick xmlns:r="http://schemas.openxmlformats.org/officeDocument/2006/relationships" r:id="R8bd177ce0ce447ad"/>
              </a:rPr>
              <a:t>https://doi.org/10.1002/adma.202407381</a:t>
            </a: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r>
              <a:rPr sz="1900" b="1">
                <a:solidFill>
                  <a:srgbClr val="1F1F1F"/>
                </a:solidFill>
              </a:rPr>
              <a:t>  Wang, Y., Zhang, Y., Zhao, Y., &amp; Wang, C. (2023).</a:t>
            </a:r>
            <a:br/>
            <a:r>
              <a:rPr sz="1900" b="1">
                <a:solidFill>
                  <a:srgbClr val="1F1F1F"/>
                </a:solidFill>
              </a:rPr>
              <a:t> A review on lithium dendrite growth in lithium metal batteries: Mechanisms, characterization, and strategies.</a:t>
            </a:r>
            <a:br/>
            <a:r>
              <a:rPr sz="1900" b="1">
                <a:solidFill>
                  <a:srgbClr val="1F1F1F"/>
                </a:solidFill>
              </a:rPr>
              <a:t> </a:t>
            </a:r>
            <a:r>
              <a:rPr sz="1900" i="1">
                <a:solidFill>
                  <a:srgbClr val="1F1F1F"/>
                </a:solidFill>
              </a:rPr>
              <a:t>Electrochimica</a:t>
            </a:r>
            <a:r>
              <a:rPr sz="1900" i="1">
                <a:solidFill>
                  <a:srgbClr val="1F1F1F"/>
                </a:solidFill>
              </a:rPr>
              <a:t> Acta</a:t>
            </a:r>
            <a:r>
              <a:rPr sz="1900">
                <a:solidFill>
                  <a:srgbClr val="1F1F1F"/>
                </a:solidFill>
              </a:rPr>
              <a:t>, 456, 142559. </a:t>
            </a:r>
            <a:r>
              <a:rPr sz="1900">
                <a:hlinkClick xmlns:r="http://schemas.openxmlformats.org/officeDocument/2006/relationships" r:id="R6d430af596b94416"/>
              </a:rPr>
              <a:t>https://doi.org/10.1016/j.electacta.2023.142559</a:t>
            </a: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  <a:p xmlns:a="http://schemas.openxmlformats.org/drawingml/2006/main">
            <a:pPr marL="342900" indent="-342900">
              <a:buAutoNum type="arabicPeriod"/>
            </a:pP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8716491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0F3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8A5318F-2B6C-26D5-397B-F2843F2C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700" y="723900"/>
            <a:ext cx="10160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3900" b="0" i="0" u="none">
                <a:solidFill>
                  <a:srgbClr val="7E8C8A"/>
                </a:solidFill>
                <a:latin typeface="Pretendard ExtraBold"/>
                <a:ea typeface="Pretendard ExtraBold"/>
                <a:cs typeface="Pretendard ExtraBold"/>
              </a:rPr>
              <a:t>07</a:t>
            </a:r>
          </a:p>
        </p:txBody>
      </p:sp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207312ce14d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7700" y="1579306"/>
            <a:ext cx="19583400" cy="254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5705CD2-BDD9-C9C4-E459-44D4DE61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8648700" cy="128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l">
              <a:lnSpc>
                <a:spcPct val="82170"/>
              </a:lnSpc>
              <a:buNone/>
            </a:pPr>
            <a:r>
              <a:rPr sz="7200">
                <a:solidFill>
                  <a:srgbClr val="7E8C8A"/>
                </a:solidFill>
              </a:rPr>
              <a:t>References</a:t>
            </a:r>
            <a:endParaRPr sz="7200" i="0" u="none">
              <a:solidFill>
                <a:srgbClr val="7E8C8A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8198E4-8CA6-4FEF-727D-78F3EE1D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38" y="1873869"/>
            <a:ext cx="15544800" cy="94179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endParaRPr sz="1900" b="0" i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 sz="1900" b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8. Hao</a:t>
            </a:r>
            <a:r>
              <a:rPr sz="1900" b="1">
                <a:solidFill>
                  <a:srgbClr val="1F1F1F"/>
                </a:solidFill>
              </a:rPr>
              <a:t>, F., Verma, A., &amp; Mukherjee, P. P. (2018).</a:t>
            </a:r>
            <a:br/>
            <a:r>
              <a:rPr sz="1900" b="1">
                <a:solidFill>
                  <a:srgbClr val="1F1F1F"/>
                </a:solidFill>
              </a:rPr>
              <a:t> </a:t>
            </a:r>
            <a:r>
              <a:rPr sz="1900" b="1" i="0">
                <a:solidFill>
                  <a:srgbClr val="1F1F1F"/>
                </a:solidFill>
              </a:rPr>
              <a:t>Mechanistic insight into dendrite–SEI interactions for lithium metal electrodes</a:t>
            </a:r>
            <a:r>
              <a:rPr sz="1900" b="1">
                <a:solidFill>
                  <a:srgbClr val="1F1F1F"/>
                </a:solidFill>
              </a:rPr>
              <a:t>.</a:t>
            </a:r>
            <a:br/>
            <a:r>
              <a:rPr sz="1900" b="1">
                <a:solidFill>
                  <a:srgbClr val="1F1F1F"/>
                </a:solidFill>
              </a:rPr>
              <a:t> </a:t>
            </a:r>
            <a:r>
              <a:rPr sz="1900" i="1">
                <a:solidFill>
                  <a:srgbClr val="1F1F1F"/>
                </a:solidFill>
              </a:rPr>
              <a:t>Journal of Materials Chemistry A</a:t>
            </a:r>
            <a:r>
              <a:rPr sz="1900">
                <a:solidFill>
                  <a:srgbClr val="1F1F1F"/>
                </a:solidFill>
              </a:rPr>
              <a:t>, 6(40), 19664–19671. </a:t>
            </a:r>
            <a:r>
              <a:rPr sz="1900" b="0" i="0">
                <a:solidFill>
                  <a:srgbClr val="1F1F1F"/>
                </a:solidFill>
                <a:hlinkClick xmlns:r="http://schemas.openxmlformats.org/officeDocument/2006/relationships" r:id="Rd1bd1867922e4a5b"/>
              </a:rPr>
              <a:t>https://</a:t>
            </a:r>
            <a:r>
              <a:rPr sz="1900">
                <a:solidFill>
                  <a:srgbClr val="1F1F1F"/>
                </a:solidFill>
                <a:hlinkClick xmlns:r="http://schemas.openxmlformats.org/officeDocument/2006/relationships" r:id="Rd3fa1df41959469a"/>
              </a:rPr>
              <a:t>doi</a:t>
            </a:r>
            <a:r>
              <a:rPr sz="1900" b="0" i="0">
                <a:solidFill>
                  <a:srgbClr val="1F1F1F"/>
                </a:solidFill>
                <a:hlinkClick xmlns:r="http://schemas.openxmlformats.org/officeDocument/2006/relationships" r:id="R812a6034c3b64d9a"/>
              </a:rPr>
              <a:t>.org/</a:t>
            </a:r>
            <a:r>
              <a:rPr sz="1900">
                <a:solidFill>
                  <a:srgbClr val="1F1F1F"/>
                </a:solidFill>
                <a:hlinkClick xmlns:r="http://schemas.openxmlformats.org/officeDocument/2006/relationships" r:id="R669289198bba4ba3"/>
              </a:rPr>
              <a:t>10.1039</a:t>
            </a:r>
            <a:r>
              <a:rPr sz="1900" b="0" i="0">
                <a:solidFill>
                  <a:srgbClr val="1F1F1F"/>
                </a:solidFill>
                <a:hlinkClick xmlns:r="http://schemas.openxmlformats.org/officeDocument/2006/relationships" r:id="R38d299f9af3d4edb"/>
              </a:rPr>
              <a:t>/</a:t>
            </a:r>
            <a:r>
              <a:rPr sz="1900">
                <a:solidFill>
                  <a:srgbClr val="1F1F1F"/>
                </a:solidFill>
                <a:hlinkClick xmlns:r="http://schemas.openxmlformats.org/officeDocument/2006/relationships" r:id="R127414d6bf914baa"/>
              </a:rPr>
              <a:t>C8TA07997H</a:t>
            </a:r>
          </a:p>
          <a:p xmlns:a="http://schemas.openxmlformats.org/drawingml/2006/main">
            <a:endParaRPr sz="1900">
              <a:solidFill>
                <a:srgbClr val="1F1F1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 sz="190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9</a:t>
            </a:r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. </a:t>
            </a:r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비균질</a:t>
            </a:r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 </a:t>
            </a:r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핵생성</a:t>
            </a:r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 </a:t>
            </a:r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덴드라이트</a:t>
            </a:r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 사진</a:t>
            </a:r>
            <a:br/>
            <a:r>
              <a:rPr sz="1900" b="0" i="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  <a:hlinkClick xmlns:r="http://schemas.openxmlformats.org/officeDocument/2006/relationships" r:id="R4c035616f903496c"/>
              </a:rPr>
              <a:t>https://www.researchgate.net/figure/SEM-images-of-the-surface-of-the-lithium-showing-isles-SEM-images-a-at-high_fig5_337290873</a:t>
            </a:r>
            <a:endParaRPr sz="1900" b="0" i="0">
              <a:solidFill>
                <a:srgbClr val="1F1F1F"/>
              </a:solidFill>
              <a:latin typeface="ElsevierGulliver"/>
              <a:ea typeface="ElsevierGulliver"/>
              <a:cs typeface="ElsevierGulliver"/>
            </a:endParaRPr>
          </a:p>
          <a:p xmlns:a="http://schemas.openxmlformats.org/drawingml/2006/main">
            <a:endParaRPr sz="1900" b="0" i="0">
              <a:solidFill>
                <a:srgbClr val="1F1F1F"/>
              </a:solidFill>
              <a:latin typeface="ElsevierGulliver"/>
              <a:ea typeface="ElsevierGulliver"/>
              <a:cs typeface="ElsevierGulliver"/>
            </a:endParaRPr>
          </a:p>
          <a:p xmlns:a="http://schemas.openxmlformats.org/drawingml/2006/main">
            <a:r>
              <a:rPr sz="1900">
                <a:solidFill>
                  <a:srgbClr val="1F1F1F"/>
                </a:solidFill>
                <a:latin typeface="ElsevierGulliver"/>
                <a:ea typeface="ElsevierGulliver"/>
                <a:cs typeface="ElsevierGulliver"/>
              </a:rPr>
              <a:t>10. </a:t>
            </a:r>
            <a:r>
              <a:rPr sz="1900" b="1">
                <a:solidFill>
                  <a:srgbClr val="1F1F1F"/>
                </a:solidFill>
              </a:rPr>
              <a:t>Zhang, H. et al. (2018).</a:t>
            </a:r>
            <a:br/>
            <a:r>
              <a:rPr sz="1900" b="1">
                <a:solidFill>
                  <a:srgbClr val="1F1F1F"/>
                </a:solidFill>
              </a:rPr>
              <a:t> </a:t>
            </a:r>
            <a:r>
              <a:rPr sz="1900" b="1">
                <a:solidFill>
                  <a:srgbClr val="1F1F1F"/>
                </a:solidFill>
              </a:rPr>
              <a:t>Lithiophilic-lithiophobic</a:t>
            </a:r>
            <a:r>
              <a:rPr sz="1900" b="1">
                <a:solidFill>
                  <a:srgbClr val="1F1F1F"/>
                </a:solidFill>
              </a:rPr>
              <a:t> gradient interfacial layer for a highly stable lithium metal anode.</a:t>
            </a:r>
            <a:br/>
            <a:r>
              <a:rPr sz="1900" b="1">
                <a:solidFill>
                  <a:srgbClr val="1F1F1F"/>
                </a:solidFill>
              </a:rPr>
              <a:t> </a:t>
            </a:r>
            <a:r>
              <a:rPr sz="1900" i="1">
                <a:solidFill>
                  <a:srgbClr val="1F1F1F"/>
                </a:solidFill>
              </a:rPr>
              <a:t>Nature Communications</a:t>
            </a:r>
            <a:r>
              <a:rPr sz="1900">
                <a:solidFill>
                  <a:srgbClr val="1F1F1F"/>
                </a:solidFill>
              </a:rPr>
              <a:t>, 9, 3729. </a:t>
            </a:r>
            <a:r>
              <a:rPr sz="1900">
                <a:solidFill>
                  <a:srgbClr val="1F1F1F"/>
                </a:solidFill>
                <a:hlinkClick xmlns:r="http://schemas.openxmlformats.org/officeDocument/2006/relationships" r:id="Rca88fb2c232f42c7"/>
              </a:rPr>
              <a:t>https://doi.org/10.1038/s41467-018-06126-z</a:t>
            </a:r>
            <a:endParaRPr sz="1900">
              <a:solidFill>
                <a:srgbClr val="1F1F1F"/>
              </a:solidFill>
              <a:latin typeface="ElsevierGulliver"/>
              <a:ea typeface="ElsevierGulliver"/>
              <a:cs typeface="ElsevierGulliver"/>
            </a:endParaRPr>
          </a:p>
          <a:p xmlns:a="http://schemas.openxmlformats.org/drawingml/2006/main">
            <a:endParaRPr sz="1900">
              <a:solidFill>
                <a:srgbClr val="1F1F1F"/>
              </a:solidFill>
            </a:endParaRPr>
          </a:p>
          <a:p xmlns:a="http://schemas.openxmlformats.org/drawingml/2006/main">
            <a:r>
              <a:rPr sz="1900"/>
              <a:t>11. </a:t>
            </a:r>
            <a:r>
              <a:rPr sz="1900"/>
              <a:t>Huang,</a:t>
            </a:r>
            <a:r>
              <a:rPr sz="1900"/>
              <a:t> </a:t>
            </a:r>
            <a:r>
              <a:rPr sz="1900"/>
              <a:t>Y.,</a:t>
            </a:r>
            <a:r>
              <a:rPr sz="1900"/>
              <a:t> </a:t>
            </a:r>
            <a:r>
              <a:rPr sz="1900"/>
              <a:t>Yang,</a:t>
            </a:r>
            <a:r>
              <a:rPr sz="1900"/>
              <a:t> </a:t>
            </a:r>
            <a:r>
              <a:rPr sz="1900"/>
              <a:t>H.,</a:t>
            </a:r>
            <a:r>
              <a:rPr sz="1900"/>
              <a:t> </a:t>
            </a:r>
            <a:r>
              <a:rPr sz="1900"/>
              <a:t>Gao,</a:t>
            </a:r>
            <a:r>
              <a:rPr sz="1900"/>
              <a:t> </a:t>
            </a:r>
            <a:r>
              <a:rPr sz="1900"/>
              <a:t>Y.,</a:t>
            </a:r>
            <a:r>
              <a:rPr sz="1900"/>
              <a:t> </a:t>
            </a:r>
            <a:r>
              <a:rPr sz="1900"/>
              <a:t>Chen,</a:t>
            </a:r>
            <a:r>
              <a:rPr sz="1900"/>
              <a:t> </a:t>
            </a:r>
            <a:r>
              <a:rPr sz="1900"/>
              <a:t>G.,</a:t>
            </a:r>
            <a:r>
              <a:rPr sz="1900"/>
              <a:t> </a:t>
            </a:r>
            <a:r>
              <a:rPr sz="1900"/>
              <a:t>Li,</a:t>
            </a:r>
            <a:r>
              <a:rPr sz="1900"/>
              <a:t> </a:t>
            </a:r>
            <a:r>
              <a:rPr sz="1900"/>
              <a:t>Y.,</a:t>
            </a:r>
            <a:r>
              <a:rPr sz="1900"/>
              <a:t> </a:t>
            </a:r>
            <a:r>
              <a:rPr sz="1900"/>
              <a:t>Shi,</a:t>
            </a:r>
            <a:r>
              <a:rPr sz="1900"/>
              <a:t> </a:t>
            </a:r>
            <a:r>
              <a:rPr sz="1900"/>
              <a:t>L.,</a:t>
            </a:r>
            <a:r>
              <a:rPr sz="1900"/>
              <a:t> </a:t>
            </a:r>
            <a:r>
              <a:rPr sz="1900"/>
              <a:t>&amp;</a:t>
            </a:r>
            <a:r>
              <a:rPr sz="1900"/>
              <a:t> </a:t>
            </a:r>
            <a:r>
              <a:rPr sz="1900"/>
              <a:t>Zhang,</a:t>
            </a:r>
            <a:r>
              <a:rPr sz="1900"/>
              <a:t> </a:t>
            </a:r>
            <a:r>
              <a:rPr sz="1900"/>
              <a:t>D.</a:t>
            </a:r>
            <a:r>
              <a:rPr sz="1900"/>
              <a:t> </a:t>
            </a:r>
            <a:r>
              <a:rPr sz="1900"/>
              <a:t>(2024).</a:t>
            </a:r>
            <a:r>
              <a:rPr sz="1900"/>
              <a:t> </a:t>
            </a:r>
            <a:r>
              <a:rPr sz="1900" i="1"/>
              <a:t>Mechanism</a:t>
            </a:r>
            <a:r>
              <a:rPr sz="1900" i="1"/>
              <a:t> </a:t>
            </a:r>
            <a:r>
              <a:rPr sz="1900" i="1"/>
              <a:t>and</a:t>
            </a:r>
            <a:r>
              <a:rPr sz="1900" i="1"/>
              <a:t> </a:t>
            </a:r>
            <a:r>
              <a:rPr sz="1900" i="1"/>
              <a:t>solutions</a:t>
            </a:r>
            <a:r>
              <a:rPr sz="1900" i="1"/>
              <a:t> </a:t>
            </a:r>
            <a:r>
              <a:rPr sz="1900" i="1"/>
              <a:t>of</a:t>
            </a:r>
            <a:r>
              <a:rPr sz="1900" i="1"/>
              <a:t> </a:t>
            </a:r>
            <a:r>
              <a:rPr sz="1900" i="1"/>
              <a:t>lithium</a:t>
            </a:r>
            <a:r>
              <a:rPr sz="1900" i="1"/>
              <a:t> </a:t>
            </a:r>
            <a:r>
              <a:rPr sz="1900" i="1"/>
              <a:t>dendrite</a:t>
            </a:r>
            <a:r>
              <a:rPr sz="1900" i="1"/>
              <a:t> </a:t>
            </a:r>
            <a:r>
              <a:rPr sz="1900" i="1"/>
              <a:t>growth</a:t>
            </a:r>
            <a:r>
              <a:rPr sz="1900" i="1"/>
              <a:t> </a:t>
            </a:r>
            <a:r>
              <a:rPr sz="1900" i="1"/>
              <a:t>in</a:t>
            </a:r>
            <a:r>
              <a:rPr sz="1900" i="1"/>
              <a:t> </a:t>
            </a:r>
            <a:r>
              <a:rPr sz="1900" i="1"/>
              <a:t>lithium</a:t>
            </a:r>
            <a:r>
              <a:rPr sz="1900" i="1"/>
              <a:t> </a:t>
            </a:r>
            <a:r>
              <a:rPr sz="1900" i="1"/>
              <a:t>metal</a:t>
            </a:r>
            <a:r>
              <a:rPr sz="1900" i="1"/>
              <a:t> </a:t>
            </a:r>
            <a:r>
              <a:rPr sz="1900" i="1"/>
              <a:t>batteries</a:t>
            </a:r>
            <a:r>
              <a:rPr sz="1900"/>
              <a:t>.</a:t>
            </a:r>
            <a:r>
              <a:rPr sz="1900"/>
              <a:t> </a:t>
            </a:r>
            <a:r>
              <a:rPr sz="1900" b="1"/>
              <a:t>Materials</a:t>
            </a:r>
            <a:r>
              <a:rPr sz="1900" b="1"/>
              <a:t> </a:t>
            </a:r>
            <a:r>
              <a:rPr sz="1900" b="1"/>
              <a:t>Chemistry</a:t>
            </a:r>
            <a:r>
              <a:rPr sz="1900" b="1"/>
              <a:t> </a:t>
            </a:r>
            <a:r>
              <a:rPr sz="1900" b="1"/>
              <a:t>Frontiers</a:t>
            </a:r>
            <a:r>
              <a:rPr sz="1900"/>
              <a:t>,</a:t>
            </a:r>
            <a:r>
              <a:rPr sz="1900"/>
              <a:t> </a:t>
            </a:r>
            <a:r>
              <a:rPr sz="1900"/>
              <a:t>8(5),</a:t>
            </a:r>
            <a:r>
              <a:rPr sz="1900"/>
              <a:t> </a:t>
            </a:r>
            <a:r>
              <a:rPr sz="1900"/>
              <a:t>1282–1299.</a:t>
            </a:r>
            <a:r>
              <a:rPr sz="1900"/>
              <a:t> </a:t>
            </a:r>
            <a:r>
              <a:rPr sz="1900">
                <a:hlinkClick xmlns:r="http://schemas.openxmlformats.org/officeDocument/2006/relationships" r:id="R26cc5b59abfa46ef"/>
              </a:rPr>
              <a:t>https://doi.org/10.1039/D3QM01151H</a:t>
            </a:r>
            <a:endParaRPr sz="1900"/>
          </a:p>
          <a:p xmlns:a="http://schemas.openxmlformats.org/drawingml/2006/main">
            <a:endParaRPr sz="1900"/>
          </a:p>
          <a:p xmlns:a="http://schemas.openxmlformats.org/drawingml/2006/main">
            <a:r>
              <a:rPr sz="1900"/>
              <a:t>12. </a:t>
            </a:r>
            <a:r>
              <a:rPr sz="1900" b="1"/>
              <a:t>Dachraoui</a:t>
            </a:r>
            <a:r>
              <a:rPr sz="1900" b="1"/>
              <a:t>, W., Kühnel, R.-S., Battaglia, C., &amp; Erni, R.</a:t>
            </a:r>
            <a:r>
              <a:rPr sz="1900"/>
              <a:t> (2024).</a:t>
            </a:r>
            <a:br/>
            <a:r>
              <a:rPr sz="1900"/>
              <a:t> </a:t>
            </a:r>
            <a:r>
              <a:rPr sz="1900" b="1"/>
              <a:t>Nucleation, growth and dissolution of Li metal dendrites and the formation of dead Li in Li-ion batteries investigated by operando electrochemical liquid cell scanning transmission electron microscopy</a:t>
            </a:r>
            <a:r>
              <a:rPr sz="1900"/>
              <a:t>. </a:t>
            </a:r>
            <a:r>
              <a:rPr sz="1900" i="1"/>
              <a:t>Nano Energy</a:t>
            </a:r>
            <a:r>
              <a:rPr sz="1900"/>
              <a:t>, </a:t>
            </a:r>
            <a:r>
              <a:rPr sz="1900" b="1"/>
              <a:t>130</a:t>
            </a:r>
            <a:r>
              <a:rPr sz="1900"/>
              <a:t>, 110086.</a:t>
            </a:r>
            <a:br/>
            <a:r>
              <a:rPr sz="1900"/>
              <a:t> </a:t>
            </a:r>
            <a:r>
              <a:rPr sz="1900">
                <a:hlinkClick xmlns:r="http://schemas.openxmlformats.org/officeDocument/2006/relationships" r:id="R631aa09174ba4d2c"/>
              </a:rPr>
              <a:t>https://doi.org/10.1016/j.nanoen.2024.110086</a:t>
            </a:r>
            <a:endParaRPr sz="1900"/>
          </a:p>
          <a:p xmlns:a="http://schemas.openxmlformats.org/drawingml/2006/main">
            <a:endParaRPr sz="1900"/>
          </a:p>
          <a:p xmlns:a="http://schemas.openxmlformats.org/drawingml/2006/main">
            <a:r>
              <a:rPr sz="1800"/>
              <a:t>13. </a:t>
            </a:r>
            <a:r>
              <a:rPr sz="1800" b="1"/>
              <a:t>Zhang, H., Liao, X., Guan, Y., Xiang, Y., Li, M., Zhang, W., Zhu, X., Ming, H., Lu, L., </a:t>
            </a:r>
            <a:r>
              <a:rPr sz="1800" b="1"/>
              <a:t>Qiu</a:t>
            </a:r>
            <a:r>
              <a:rPr sz="1800" b="1"/>
              <a:t>, J., Huang, Y., Cao, G., Yang, Y., Mai, L., Zhao, Y., &amp; Zhang, H.</a:t>
            </a:r>
            <a:r>
              <a:rPr sz="1800"/>
              <a:t> (2018). </a:t>
            </a:r>
            <a:r>
              <a:rPr sz="1800"/>
              <a:t>Lithiophilic</a:t>
            </a:r>
            <a:r>
              <a:rPr sz="1800"/>
              <a:t>–</a:t>
            </a:r>
            <a:r>
              <a:rPr sz="1800"/>
              <a:t>lithiophobic</a:t>
            </a:r>
            <a:r>
              <a:rPr sz="1800"/>
              <a:t> gradient interfacial layer for a highly stable lithium metal anode. </a:t>
            </a:r>
            <a:r>
              <a:rPr sz="1800" i="1"/>
              <a:t>Nature Communications, 9</a:t>
            </a:r>
            <a:r>
              <a:rPr sz="1800"/>
              <a:t>, Article 3729. </a:t>
            </a:r>
            <a:r>
              <a:rPr sz="1800">
                <a:hlinkClick xmlns:r="http://schemas.openxmlformats.org/officeDocument/2006/relationships" r:id="R4e734f0b7bd34818"/>
              </a:rPr>
              <a:t>https://doi.org/10.1038/s41467-018-06126-z</a:t>
            </a:r>
            <a:endParaRPr sz="1800"/>
          </a:p>
          <a:p xmlns:a="http://schemas.openxmlformats.org/drawingml/2006/main">
            <a:endParaRPr sz="1800"/>
          </a:p>
          <a:p xmlns:a="http://schemas.openxmlformats.org/drawingml/2006/main">
            <a:r>
              <a:t>14. </a:t>
            </a:r>
            <a:r>
              <a:rPr sz="2000"/>
              <a:t>Cao, W., Wu, Z., Yang, Y., Chen, Z., Wu, J., Zhao, D., &amp; Gao, X. (2024). </a:t>
            </a:r>
            <a:r>
              <a:rPr sz="2000" i="1"/>
              <a:t>Field-assisted regulation induced by cobalt-doped </a:t>
            </a:r>
            <a:r>
              <a:rPr sz="2000" i="1"/>
              <a:t>ZnO</a:t>
            </a:r>
            <a:r>
              <a:rPr sz="2000" i="1"/>
              <a:t> for dendrite-free lithium metal anodes</a:t>
            </a:r>
            <a:r>
              <a:rPr sz="2000"/>
              <a:t>. Chemistry – A European Journal, 30(26), e202302867. </a:t>
            </a:r>
            <a:r>
              <a:rPr sz="2000">
                <a:hlinkClick xmlns:r="http://schemas.openxmlformats.org/officeDocument/2006/relationships" r:id="R4e591b101d834569"/>
              </a:rPr>
              <a:t>https://doi.org/10.1002/chem.202302867</a:t>
            </a:r>
            <a:endParaRPr sz="2000"/>
          </a:p>
          <a:p xmlns:a="http://schemas.openxmlformats.org/drawingml/2006/main">
            <a:endParaRPr sz="2000"/>
          </a:p>
          <a:p xmlns:a="http://schemas.openxmlformats.org/drawingml/2006/main">
            <a:endParaRPr sz="1900"/>
          </a:p>
          <a:p xmlns:a="http://schemas.openxmlformats.org/drawingml/2006/main">
            <a:endParaRPr/>
          </a:p>
          <a:p xmlns:a="http://schemas.openxmlformats.org/drawingml/2006/main">
            <a:endParaRPr sz="1900"/>
          </a:p>
          <a:p xmlns:a="http://schemas.openxmlformats.org/drawingml/2006/main">
            <a:endParaRPr sz="1900"/>
          </a:p>
          <a:p xmlns:a="http://schemas.openxmlformats.org/drawingml/2006/main">
            <a:endParaRPr sz="1900"/>
          </a:p>
        </p:txBody>
      </p:sp>
    </p:spTree>
    <p:extLst>
      <p:ext uri="{BB962C8B-B14F-4D97-AF65-F5344CB8AC3E}">
        <p14:creationId xmlns:p14="http://schemas.microsoft.com/office/powerpoint/2010/main" val="26214465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2026-09-29T00:23:58.5660000Z</dcterms:created>
  <dcterms:modified xsi:type="dcterms:W3CDTF">2026-09-29T00:23:58.5660000Z</dcterms:modified>
</coreProperties>
</file>