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4908" autoAdjust="0"/>
  </p:normalViewPr>
  <p:slideViewPr>
    <p:cSldViewPr snapToGrid="0" snapToObjects="1">
      <p:cViewPr varScale="1">
        <p:scale>
          <a:sx n="43" d="100"/>
          <a:sy n="43" d="100"/>
        </p:scale>
        <p:origin x="11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58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선박 도장 결함 자동 분류 시스템 개발 프로젝트 발표를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정의와 데이터 레이블 매핑 체계입니다.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코드에는 원래 이렇게 준비되어 있습니다.</a:t>
            </a:r>
          </a:p>
          <a:p>
            <a:pPr lvl="0"/>
            <a:r>
              <a:rPr lang="ko-KR" altLang="ko-KR" dirty="0" err="1"/>
              <a:t>GPU가</a:t>
            </a:r>
            <a:r>
              <a:rPr lang="ko-KR" altLang="ko-KR" dirty="0"/>
              <a:t> 있으면: </a:t>
            </a:r>
            <a:r>
              <a:rPr lang="ko-KR" altLang="ko-KR" dirty="0" err="1"/>
              <a:t>ConvNeXt-Tiny</a:t>
            </a:r>
            <a:r>
              <a:rPr lang="ko-KR" altLang="ko-KR" dirty="0"/>
              <a:t> + EfficientNet-B0 + ResNet-50</a:t>
            </a:r>
          </a:p>
          <a:p>
            <a:pPr lvl="0"/>
            <a:r>
              <a:rPr lang="ko-KR" altLang="ko-KR" dirty="0" err="1"/>
              <a:t>GPU가</a:t>
            </a:r>
            <a:r>
              <a:rPr lang="ko-KR" altLang="ko-KR" dirty="0"/>
              <a:t> 없으면: EfficientNet-B0만 사용</a:t>
            </a:r>
          </a:p>
          <a:p>
            <a:r>
              <a:rPr lang="en-US" dirty="0"/>
              <a:t>=&gt;</a:t>
            </a:r>
            <a:r>
              <a:rPr lang="ko-KR" altLang="ko-KR" dirty="0"/>
              <a:t>이 기록으로 보면 실제 실행은 </a:t>
            </a:r>
            <a:r>
              <a:rPr lang="ko-KR" altLang="ko-KR" dirty="0" err="1"/>
              <a:t>CPU에서</a:t>
            </a:r>
            <a:r>
              <a:rPr lang="ko-KR" altLang="ko-KR" dirty="0"/>
              <a:t> 했고, </a:t>
            </a:r>
            <a:r>
              <a:rPr lang="ko-KR" altLang="ko-KR" b="1" dirty="0"/>
              <a:t>EfficientNet-B0 하나만 사용했습니다.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모델의 한계를 극복하는 3각 백본 협력 아키텍처입니다.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레이어 설계 및 Inception 철학의 현대적 수용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하이퍼파라미터 튜닝과 불균형 해소 전략입니다.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 세트 예측 결과 및 분포 분석입니다.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심사위원 주요 평가 포인트에 대한 기술 방어입니다.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및 실무 비즈니스 기대 효과입니다.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514975" y="-714375"/>
            <a:ext cx="6029326" cy="4762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7500"/>
              </a:lnSpc>
              <a:buNone/>
            </a:pPr>
            <a:r>
              <a:rPr lang="en-US" sz="37467" b="1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7467" dirty="0"/>
          </a:p>
        </p:txBody>
      </p:sp>
      <p:sp>
        <p:nvSpPr>
          <p:cNvPr id="4" name="Shape 2"/>
          <p:cNvSpPr/>
          <p:nvPr/>
        </p:nvSpPr>
        <p:spPr>
          <a:xfrm>
            <a:off x="762000" y="0"/>
            <a:ext cx="114300" cy="68580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381000" cy="381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42060" y="1524000"/>
            <a:ext cx="748666" cy="323851"/>
          </a:xfrm>
          <a:prstGeom prst="rect">
            <a:avLst/>
          </a:prstGeom>
          <a:solidFill>
            <a:srgbClr val="111111"/>
          </a:solidFill>
          <a:ln/>
        </p:spPr>
        <p:txBody>
          <a:bodyPr wrap="none" lIns="91440" tIns="0" rIns="91440" bIns="0" rtlCol="0" anchor="ctr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1868627" y="1562100"/>
            <a:ext cx="3200400" cy="2476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MINI COMPETITION: AI MODELING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1242060" y="2228851"/>
            <a:ext cx="6678930" cy="8001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6300"/>
              </a:lnSpc>
              <a:spcAft>
                <a:spcPts val="751"/>
              </a:spcAft>
              <a:buNone/>
            </a:pPr>
            <a:r>
              <a:rPr lang="en-US" sz="5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선박 도장 표면 결함</a:t>
            </a:r>
            <a:endParaRPr lang="en-US" sz="5067" dirty="0"/>
          </a:p>
        </p:txBody>
      </p:sp>
      <p:sp>
        <p:nvSpPr>
          <p:cNvPr id="9" name="Text 7"/>
          <p:cNvSpPr/>
          <p:nvPr/>
        </p:nvSpPr>
        <p:spPr>
          <a:xfrm>
            <a:off x="1242060" y="3124200"/>
            <a:ext cx="6678930" cy="8001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6300"/>
              </a:lnSpc>
              <a:spcAft>
                <a:spcPts val="751"/>
              </a:spcAft>
              <a:buNone/>
            </a:pPr>
            <a:r>
              <a:rPr lang="en-US" sz="5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분류 AI</a:t>
            </a:r>
            <a:endParaRPr lang="en-US" sz="5067" dirty="0"/>
          </a:p>
        </p:txBody>
      </p:sp>
      <p:sp>
        <p:nvSpPr>
          <p:cNvPr id="10" name="Text 8"/>
          <p:cNvSpPr/>
          <p:nvPr/>
        </p:nvSpPr>
        <p:spPr>
          <a:xfrm>
            <a:off x="1242060" y="4019549"/>
            <a:ext cx="6678930" cy="6096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33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SHIP COATING SURFACE DEFECT CLASSIFICATION AI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820025" y="442912"/>
            <a:ext cx="3609975" cy="2057400"/>
          </a:xfrm>
          <a:prstGeom prst="rect">
            <a:avLst/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829549" y="452437"/>
            <a:ext cx="38100" cy="20383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42911" y="757237"/>
            <a:ext cx="3462337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과제 목표</a:t>
            </a:r>
            <a:endParaRPr lang="en-US" sz="933" dirty="0"/>
          </a:p>
        </p:txBody>
      </p:sp>
      <p:sp>
        <p:nvSpPr>
          <p:cNvPr id="15" name="Text 13"/>
          <p:cNvSpPr/>
          <p:nvPr/>
        </p:nvSpPr>
        <p:spPr>
          <a:xfrm>
            <a:off x="8042911" y="1062037"/>
            <a:ext cx="3462337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정밀 자동 분류 시스템 구축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2911" y="1443037"/>
            <a:ext cx="3462337" cy="7429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및 4대 결함(스크래치, 도막떨어짐, 부풀음, 이물질)에 대한 고도화된 식별 알고리즘 개발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20025" y="2728912"/>
            <a:ext cx="3609975" cy="1809751"/>
          </a:xfrm>
          <a:prstGeom prst="rect">
            <a:avLst/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829549" y="2738437"/>
            <a:ext cx="38100" cy="17907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042911" y="3043237"/>
            <a:ext cx="3462337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핵심 전략</a:t>
            </a:r>
            <a:endParaRPr lang="en-US" sz="933" dirty="0"/>
          </a:p>
        </p:txBody>
      </p:sp>
      <p:sp>
        <p:nvSpPr>
          <p:cNvPr id="20" name="Text 18"/>
          <p:cNvSpPr/>
          <p:nvPr/>
        </p:nvSpPr>
        <p:spPr>
          <a:xfrm>
            <a:off x="8042911" y="3348037"/>
            <a:ext cx="3462337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앙상블 모델링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2911" y="3729037"/>
            <a:ext cx="3462337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ConvNeXt, EfficientNet, ResNet 기반의 앙상블 및 도메인 특화 데이터 증강 기법 적용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20025" y="4767263"/>
            <a:ext cx="3609975" cy="1647825"/>
          </a:xfrm>
          <a:prstGeom prst="rect">
            <a:avLst/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829549" y="4776788"/>
            <a:ext cx="38100" cy="1628775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042911" y="5043488"/>
            <a:ext cx="3462337" cy="18097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검증 체계</a:t>
            </a:r>
            <a:endParaRPr lang="en-US" sz="933" dirty="0"/>
          </a:p>
        </p:txBody>
      </p:sp>
      <p:sp>
        <p:nvSpPr>
          <p:cNvPr id="25" name="Text 23"/>
          <p:cNvSpPr/>
          <p:nvPr/>
        </p:nvSpPr>
        <p:spPr>
          <a:xfrm>
            <a:off x="8042911" y="5338763"/>
            <a:ext cx="3462337" cy="3048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신뢰도 극대화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42911" y="5719763"/>
            <a:ext cx="3462337" cy="4191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651"/>
              </a:lnSpc>
              <a:buNone/>
            </a:pPr>
            <a:r>
              <a:rPr lang="en-US" sz="1067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5-Fold Stratified Cross Validation 및 4-View TTA 기반의 최고 수준 예측 신뢰도 확보</a:t>
            </a:r>
            <a:endParaRPr lang="en-US" sz="1067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0"/>
            <a:ext cx="4953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500688" y="-285750"/>
            <a:ext cx="5107306" cy="400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467" b="1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1467" dirty="0"/>
          </a:p>
        </p:txBody>
      </p:sp>
      <p:sp>
        <p:nvSpPr>
          <p:cNvPr id="4" name="Shape 2"/>
          <p:cNvSpPr/>
          <p:nvPr/>
        </p:nvSpPr>
        <p:spPr>
          <a:xfrm>
            <a:off x="762000" y="0"/>
            <a:ext cx="114300" cy="68580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571500" cy="381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42060" y="571500"/>
            <a:ext cx="748666" cy="323851"/>
          </a:xfrm>
          <a:prstGeom prst="rect">
            <a:avLst/>
          </a:prstGeom>
          <a:solidFill>
            <a:srgbClr val="111111"/>
          </a:solidFill>
          <a:ln/>
        </p:spPr>
        <p:txBody>
          <a:bodyPr wrap="none" lIns="91440" tIns="0" rIns="91440" bIns="0" rtlCol="0" anchor="ctr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1870711" y="600075"/>
            <a:ext cx="4960620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 OVERVIEW &amp; PROBLEM FORMULATION</a:t>
            </a:r>
            <a:endParaRPr lang="en-US" sz="1330" b="1" dirty="0"/>
          </a:p>
        </p:txBody>
      </p:sp>
      <p:sp>
        <p:nvSpPr>
          <p:cNvPr id="8" name="Text 6"/>
          <p:cNvSpPr/>
          <p:nvPr/>
        </p:nvSpPr>
        <p:spPr>
          <a:xfrm>
            <a:off x="1242060" y="1085851"/>
            <a:ext cx="11289030" cy="6096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4800"/>
              </a:lnSpc>
              <a:spcAft>
                <a:spcPts val="300"/>
              </a:spcAft>
              <a:buNone/>
            </a:pPr>
            <a:r>
              <a:rPr lang="en-US" sz="38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개요 및 문제 정의</a:t>
            </a:r>
            <a:endParaRPr lang="en-US" sz="3867" dirty="0"/>
          </a:p>
        </p:txBody>
      </p:sp>
      <p:sp>
        <p:nvSpPr>
          <p:cNvPr id="9" name="Text 7"/>
          <p:cNvSpPr/>
          <p:nvPr/>
        </p:nvSpPr>
        <p:spPr>
          <a:xfrm>
            <a:off x="1240497" y="2305051"/>
            <a:ext cx="3609022" cy="6667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BACKGROUND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600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</a:t>
            </a: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배경 및 필요성</a:t>
            </a:r>
            <a:endParaRPr lang="en-US" sz="933" dirty="0"/>
          </a:p>
        </p:txBody>
      </p:sp>
      <p:sp>
        <p:nvSpPr>
          <p:cNvPr id="10" name="Shape 8"/>
          <p:cNvSpPr/>
          <p:nvPr/>
        </p:nvSpPr>
        <p:spPr>
          <a:xfrm>
            <a:off x="1333500" y="3295651"/>
            <a:ext cx="57151" cy="571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430997" y="3200400"/>
            <a:ext cx="3399472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선박 표면 도장은 해양 염분 환경으로부터 선체 부식을 방어하는 핵심 품질 공정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33500" y="3962400"/>
            <a:ext cx="57151" cy="571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430997" y="3867149"/>
            <a:ext cx="3399472" cy="7429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검사관 피로도에 따른 결함 누락 방지 및 객관적 품질 지표 확보를 위한 고정밀 자동 검사 시스템 필수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33500" y="4876800"/>
            <a:ext cx="57151" cy="571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430997" y="4781551"/>
            <a:ext cx="3399472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결함 방치 시 선박 안전 위협 및 막대한 </a:t>
            </a: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재도장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ts val="1951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비용 발생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3047" y="2305051"/>
            <a:ext cx="3609022" cy="6667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CHALLENGES</a:t>
            </a: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600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기술적 난제</a:t>
            </a:r>
            <a:endParaRPr lang="en-US" sz="933" dirty="0"/>
          </a:p>
        </p:txBody>
      </p:sp>
      <p:sp>
        <p:nvSpPr>
          <p:cNvPr id="17" name="Shape 15"/>
          <p:cNvSpPr/>
          <p:nvPr/>
        </p:nvSpPr>
        <p:spPr>
          <a:xfrm>
            <a:off x="4826049" y="3295651"/>
            <a:ext cx="57151" cy="571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23547" y="3200400"/>
            <a:ext cx="3399472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 간 </a:t>
            </a: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불균형 (Imbalance) </a:t>
            </a: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ts val="1951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26049" y="3962400"/>
            <a:ext cx="57151" cy="571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923547" y="3867151"/>
            <a:ext cx="3399472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야외 도크 조명, 강한 반사광 및 </a:t>
            </a: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ts val="1951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각도에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따른 노이즈 대응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26049" y="4629151"/>
            <a:ext cx="57151" cy="571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923547" y="4533900"/>
            <a:ext cx="3399472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미세 스크래치와 국소 도막 박리 간의 </a:t>
            </a: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시각적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ts val="1951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경계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모호성 극복 필요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5523" y="2305051"/>
            <a:ext cx="3609022" cy="6667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LABEL MAPPING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600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</a:t>
            </a: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클래스 정제 체계</a:t>
            </a:r>
            <a:endParaRPr lang="en-US" sz="933" dirty="0"/>
          </a:p>
        </p:txBody>
      </p:sp>
      <p:sp>
        <p:nvSpPr>
          <p:cNvPr id="24" name="Shape 22"/>
          <p:cNvSpPr/>
          <p:nvPr/>
        </p:nvSpPr>
        <p:spPr>
          <a:xfrm>
            <a:off x="8316963" y="3238500"/>
            <a:ext cx="3114675" cy="39052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318599" y="3390900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417659" y="3333751"/>
            <a:ext cx="1230630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양품</a:t>
            </a:r>
            <a:endParaRPr lang="en-US" sz="933" dirty="0"/>
          </a:p>
        </p:txBody>
      </p:sp>
      <p:sp>
        <p:nvSpPr>
          <p:cNvPr id="27" name="Text 25"/>
          <p:cNvSpPr/>
          <p:nvPr/>
        </p:nvSpPr>
        <p:spPr>
          <a:xfrm>
            <a:off x="9368523" y="3333751"/>
            <a:ext cx="2351722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Normal: 선수/외판 정상 도장면</a:t>
            </a:r>
            <a:endParaRPr lang="en-US" sz="933" dirty="0"/>
          </a:p>
        </p:txBody>
      </p:sp>
      <p:sp>
        <p:nvSpPr>
          <p:cNvPr id="28" name="Shape 26"/>
          <p:cNvSpPr/>
          <p:nvPr/>
        </p:nvSpPr>
        <p:spPr>
          <a:xfrm>
            <a:off x="8316963" y="3629025"/>
            <a:ext cx="3114675" cy="39052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318599" y="3781425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417659" y="3724275"/>
            <a:ext cx="1230630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스크래치</a:t>
            </a:r>
            <a:endParaRPr lang="en-US" sz="933" dirty="0"/>
          </a:p>
        </p:txBody>
      </p:sp>
      <p:sp>
        <p:nvSpPr>
          <p:cNvPr id="31" name="Text 29"/>
          <p:cNvSpPr/>
          <p:nvPr/>
        </p:nvSpPr>
        <p:spPr>
          <a:xfrm>
            <a:off x="9368523" y="3724275"/>
            <a:ext cx="2351722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Scratch: 선형 도막 긁힘 손상</a:t>
            </a:r>
            <a:endParaRPr lang="en-US" sz="933" dirty="0"/>
          </a:p>
        </p:txBody>
      </p:sp>
      <p:sp>
        <p:nvSpPr>
          <p:cNvPr id="32" name="Shape 30"/>
          <p:cNvSpPr/>
          <p:nvPr/>
        </p:nvSpPr>
        <p:spPr>
          <a:xfrm>
            <a:off x="8316963" y="4019551"/>
            <a:ext cx="3114675" cy="39052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318599" y="4171949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417659" y="4114800"/>
            <a:ext cx="1230630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도막떨어짐</a:t>
            </a:r>
            <a:endParaRPr lang="en-US" sz="933" dirty="0"/>
          </a:p>
        </p:txBody>
      </p:sp>
      <p:sp>
        <p:nvSpPr>
          <p:cNvPr id="35" name="Text 33"/>
          <p:cNvSpPr/>
          <p:nvPr/>
        </p:nvSpPr>
        <p:spPr>
          <a:xfrm>
            <a:off x="9368523" y="4114800"/>
            <a:ext cx="2351722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Peeling: 표면 박리 및 도막 탈락</a:t>
            </a:r>
            <a:endParaRPr lang="en-US" sz="933" dirty="0"/>
          </a:p>
        </p:txBody>
      </p:sp>
      <p:sp>
        <p:nvSpPr>
          <p:cNvPr id="36" name="Shape 34"/>
          <p:cNvSpPr/>
          <p:nvPr/>
        </p:nvSpPr>
        <p:spPr>
          <a:xfrm>
            <a:off x="8316963" y="4410075"/>
            <a:ext cx="3114675" cy="39052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8318599" y="4562475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417659" y="4505325"/>
            <a:ext cx="1230630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부풀음</a:t>
            </a:r>
            <a:endParaRPr lang="en-US" sz="933" dirty="0"/>
          </a:p>
        </p:txBody>
      </p:sp>
      <p:sp>
        <p:nvSpPr>
          <p:cNvPr id="39" name="Text 37"/>
          <p:cNvSpPr/>
          <p:nvPr/>
        </p:nvSpPr>
        <p:spPr>
          <a:xfrm>
            <a:off x="9368523" y="4505325"/>
            <a:ext cx="2351722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Blister: 수분/기포로 인한 팽창</a:t>
            </a:r>
            <a:endParaRPr lang="en-US" sz="933" dirty="0"/>
          </a:p>
        </p:txBody>
      </p:sp>
      <p:sp>
        <p:nvSpPr>
          <p:cNvPr id="40" name="Shape 38"/>
          <p:cNvSpPr/>
          <p:nvPr/>
        </p:nvSpPr>
        <p:spPr>
          <a:xfrm>
            <a:off x="8316963" y="4800600"/>
            <a:ext cx="3114675" cy="39052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318599" y="4953000"/>
            <a:ext cx="76200" cy="76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417659" y="4895851"/>
            <a:ext cx="1230630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이물질포함</a:t>
            </a:r>
            <a:endParaRPr lang="en-US" sz="933" dirty="0"/>
          </a:p>
        </p:txBody>
      </p:sp>
      <p:sp>
        <p:nvSpPr>
          <p:cNvPr id="43" name="Text 41"/>
          <p:cNvSpPr/>
          <p:nvPr/>
        </p:nvSpPr>
        <p:spPr>
          <a:xfrm>
            <a:off x="9368523" y="4895851"/>
            <a:ext cx="2351722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Inclusion: 도막 내 분진/입자 혼입</a:t>
            </a:r>
            <a:endParaRPr lang="en-US" sz="933" dirty="0"/>
          </a:p>
        </p:txBody>
      </p:sp>
      <p:sp>
        <p:nvSpPr>
          <p:cNvPr id="52" name="Text 42"/>
          <p:cNvSpPr/>
          <p:nvPr/>
        </p:nvSpPr>
        <p:spPr>
          <a:xfrm>
            <a:off x="11452860" y="6286500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500688" y="-285750"/>
            <a:ext cx="5107306" cy="400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467" b="1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1467" dirty="0"/>
          </a:p>
        </p:txBody>
      </p:sp>
      <p:sp>
        <p:nvSpPr>
          <p:cNvPr id="4" name="Shape 2"/>
          <p:cNvSpPr/>
          <p:nvPr/>
        </p:nvSpPr>
        <p:spPr>
          <a:xfrm>
            <a:off x="762000" y="0"/>
            <a:ext cx="114300" cy="68580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571500" cy="381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42060" y="571500"/>
            <a:ext cx="748666" cy="323851"/>
          </a:xfrm>
          <a:prstGeom prst="rect">
            <a:avLst/>
          </a:prstGeom>
          <a:solidFill>
            <a:srgbClr val="111111"/>
          </a:solidFill>
          <a:ln/>
        </p:spPr>
        <p:txBody>
          <a:bodyPr wrap="none" lIns="91440" tIns="0" rIns="91440" bIns="0" rtlCol="0" anchor="ctr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1870711" y="600075"/>
            <a:ext cx="4447222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5-STAGE AI ARCHITECTURE WORKFLOW</a:t>
            </a:r>
            <a:endParaRPr lang="en-US" sz="1330" b="1" dirty="0"/>
          </a:p>
        </p:txBody>
      </p:sp>
      <p:sp>
        <p:nvSpPr>
          <p:cNvPr id="8" name="Text 6"/>
          <p:cNvSpPr/>
          <p:nvPr/>
        </p:nvSpPr>
        <p:spPr>
          <a:xfrm>
            <a:off x="1242060" y="1085851"/>
            <a:ext cx="11289030" cy="6096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엔드투엔드 파이프라인 구조도</a:t>
            </a:r>
            <a:endParaRPr lang="en-US" sz="3867" dirty="0"/>
          </a:p>
        </p:txBody>
      </p:sp>
      <p:sp>
        <p:nvSpPr>
          <p:cNvPr id="9" name="Shape 7"/>
          <p:cNvSpPr/>
          <p:nvPr/>
        </p:nvSpPr>
        <p:spPr>
          <a:xfrm>
            <a:off x="1334468" y="2171700"/>
            <a:ext cx="1933575" cy="3924300"/>
          </a:xfrm>
          <a:prstGeom prst="rect">
            <a:avLst/>
          </a:prstGeom>
          <a:solidFill>
            <a:srgbClr val="F8F9FA"/>
          </a:solidFill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52552" y="2181225"/>
            <a:ext cx="2288857" cy="638175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01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 Data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04952" y="3009900"/>
            <a:ext cx="1953577" cy="27622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 및 검증</a:t>
            </a:r>
            <a:endParaRPr lang="en-US" sz="1067" dirty="0"/>
          </a:p>
        </p:txBody>
      </p:sp>
      <p:sp>
        <p:nvSpPr>
          <p:cNvPr id="12" name="Shape 10"/>
          <p:cNvSpPr/>
          <p:nvPr/>
        </p:nvSpPr>
        <p:spPr>
          <a:xfrm>
            <a:off x="1495425" y="353377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519252" y="3457575"/>
            <a:ext cx="1827847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타겟 폴더 자동 수집</a:t>
            </a:r>
            <a:endParaRPr lang="en-US" sz="933" dirty="0"/>
          </a:p>
        </p:txBody>
      </p:sp>
      <p:sp>
        <p:nvSpPr>
          <p:cNvPr id="14" name="Shape 12"/>
          <p:cNvSpPr/>
          <p:nvPr/>
        </p:nvSpPr>
        <p:spPr>
          <a:xfrm>
            <a:off x="1495425" y="381952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519252" y="374332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PIL verify 결함 파일 사전 필터링</a:t>
            </a:r>
            <a:endParaRPr lang="en-US" sz="933" dirty="0"/>
          </a:p>
        </p:txBody>
      </p:sp>
      <p:sp>
        <p:nvSpPr>
          <p:cNvPr id="16" name="Shape 14"/>
          <p:cNvSpPr/>
          <p:nvPr/>
        </p:nvSpPr>
        <p:spPr>
          <a:xfrm>
            <a:off x="1495425" y="429577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519252" y="421957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224×224 RGB 규격화 및 정규화</a:t>
            </a:r>
            <a:endParaRPr lang="en-US" sz="933" dirty="0"/>
          </a:p>
        </p:txBody>
      </p:sp>
      <p:sp>
        <p:nvSpPr>
          <p:cNvPr id="18" name="Shape 16"/>
          <p:cNvSpPr/>
          <p:nvPr/>
        </p:nvSpPr>
        <p:spPr>
          <a:xfrm>
            <a:off x="3422377" y="2171700"/>
            <a:ext cx="1933575" cy="3924300"/>
          </a:xfrm>
          <a:prstGeom prst="rect">
            <a:avLst/>
          </a:prstGeom>
          <a:solidFill>
            <a:srgbClr val="F8F9FA"/>
          </a:solidFill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340463" y="2181225"/>
            <a:ext cx="2288857" cy="638175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02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Augmentation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92863" y="3009900"/>
            <a:ext cx="1953577" cy="27622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특화 증강</a:t>
            </a:r>
            <a:endParaRPr lang="en-US" sz="1067" dirty="0"/>
          </a:p>
        </p:txBody>
      </p:sp>
      <p:sp>
        <p:nvSpPr>
          <p:cNvPr id="21" name="Shape 19"/>
          <p:cNvSpPr/>
          <p:nvPr/>
        </p:nvSpPr>
        <p:spPr>
          <a:xfrm>
            <a:off x="3583335" y="353377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07163" y="345757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RandAugment 무작위 기하 변환</a:t>
            </a:r>
            <a:endParaRPr lang="en-US" sz="933" dirty="0"/>
          </a:p>
        </p:txBody>
      </p:sp>
      <p:sp>
        <p:nvSpPr>
          <p:cNvPr id="23" name="Shape 21"/>
          <p:cNvSpPr/>
          <p:nvPr/>
        </p:nvSpPr>
        <p:spPr>
          <a:xfrm>
            <a:off x="3583335" y="401002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07163" y="393382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ColorJitter 야외 조도 편차 모사</a:t>
            </a:r>
            <a:endParaRPr lang="en-US" sz="933" dirty="0"/>
          </a:p>
        </p:txBody>
      </p:sp>
      <p:sp>
        <p:nvSpPr>
          <p:cNvPr id="25" name="Shape 23"/>
          <p:cNvSpPr/>
          <p:nvPr/>
        </p:nvSpPr>
        <p:spPr>
          <a:xfrm>
            <a:off x="3583335" y="448627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07163" y="441007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Mixup (p=0.5) 결정 경계 완화</a:t>
            </a:r>
            <a:endParaRPr lang="en-US" sz="933" dirty="0"/>
          </a:p>
        </p:txBody>
      </p:sp>
      <p:sp>
        <p:nvSpPr>
          <p:cNvPr id="27" name="Shape 25"/>
          <p:cNvSpPr/>
          <p:nvPr/>
        </p:nvSpPr>
        <p:spPr>
          <a:xfrm>
            <a:off x="5510287" y="2171700"/>
            <a:ext cx="1933575" cy="3924300"/>
          </a:xfrm>
          <a:prstGeom prst="rect">
            <a:avLst/>
          </a:prstGeom>
          <a:solidFill>
            <a:srgbClr val="F8F9FA"/>
          </a:solidFill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28372" y="2181225"/>
            <a:ext cx="2288857" cy="638175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03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3-Backbones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80772" y="3009900"/>
            <a:ext cx="1953577" cy="27622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백본</a:t>
            </a:r>
            <a:endParaRPr lang="en-US" sz="1067" dirty="0"/>
          </a:p>
        </p:txBody>
      </p:sp>
      <p:sp>
        <p:nvSpPr>
          <p:cNvPr id="30" name="Shape 28"/>
          <p:cNvSpPr/>
          <p:nvPr/>
        </p:nvSpPr>
        <p:spPr>
          <a:xfrm>
            <a:off x="5671244" y="353377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695072" y="345757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ConvNeXt-Tiny (거시 맥락 포착)</a:t>
            </a:r>
            <a:endParaRPr lang="en-US" sz="933" dirty="0"/>
          </a:p>
        </p:txBody>
      </p:sp>
      <p:sp>
        <p:nvSpPr>
          <p:cNvPr id="32" name="Shape 30"/>
          <p:cNvSpPr/>
          <p:nvPr/>
        </p:nvSpPr>
        <p:spPr>
          <a:xfrm>
            <a:off x="5671244" y="401002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695072" y="393382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EfficientNet-B0 (미세 특징 추출)</a:t>
            </a:r>
            <a:endParaRPr lang="en-US" sz="933" dirty="0"/>
          </a:p>
        </p:txBody>
      </p:sp>
      <p:sp>
        <p:nvSpPr>
          <p:cNvPr id="34" name="Shape 32"/>
          <p:cNvSpPr/>
          <p:nvPr/>
        </p:nvSpPr>
        <p:spPr>
          <a:xfrm>
            <a:off x="5671244" y="448627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695072" y="441007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ResNet-50 (안정적 베이스라인)</a:t>
            </a:r>
            <a:endParaRPr lang="en-US" sz="933" dirty="0"/>
          </a:p>
        </p:txBody>
      </p:sp>
      <p:sp>
        <p:nvSpPr>
          <p:cNvPr id="36" name="Shape 34"/>
          <p:cNvSpPr/>
          <p:nvPr/>
        </p:nvSpPr>
        <p:spPr>
          <a:xfrm>
            <a:off x="7598197" y="2171700"/>
            <a:ext cx="1933575" cy="3924300"/>
          </a:xfrm>
          <a:prstGeom prst="rect">
            <a:avLst/>
          </a:prstGeom>
          <a:solidFill>
            <a:srgbClr val="F8F9FA"/>
          </a:solidFill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516281" y="2181225"/>
            <a:ext cx="2288857" cy="638175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04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Classifier Head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68681" y="3009900"/>
            <a:ext cx="1953577" cy="27622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분류기 및 최적화</a:t>
            </a:r>
            <a:endParaRPr lang="en-US" sz="1067" dirty="0"/>
          </a:p>
        </p:txBody>
      </p:sp>
      <p:sp>
        <p:nvSpPr>
          <p:cNvPr id="39" name="Shape 37"/>
          <p:cNvSpPr/>
          <p:nvPr/>
        </p:nvSpPr>
        <p:spPr>
          <a:xfrm>
            <a:off x="7759155" y="353377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782981" y="345757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Dropout (p=0.3) 과적합 방어</a:t>
            </a:r>
            <a:endParaRPr lang="en-US" sz="933" dirty="0"/>
          </a:p>
        </p:txBody>
      </p:sp>
      <p:sp>
        <p:nvSpPr>
          <p:cNvPr id="41" name="Shape 39"/>
          <p:cNvSpPr/>
          <p:nvPr/>
        </p:nvSpPr>
        <p:spPr>
          <a:xfrm>
            <a:off x="7759155" y="401002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782981" y="393382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Class-Weighted CE 손실함수</a:t>
            </a:r>
            <a:endParaRPr lang="en-US" sz="933" dirty="0"/>
          </a:p>
        </p:txBody>
      </p:sp>
      <p:sp>
        <p:nvSpPr>
          <p:cNvPr id="43" name="Shape 41"/>
          <p:cNvSpPr/>
          <p:nvPr/>
        </p:nvSpPr>
        <p:spPr>
          <a:xfrm>
            <a:off x="7759155" y="448627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782981" y="441007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OneCycleLR 안정적 수렴 최적화</a:t>
            </a:r>
            <a:endParaRPr lang="en-US" sz="933" dirty="0"/>
          </a:p>
        </p:txBody>
      </p:sp>
      <p:sp>
        <p:nvSpPr>
          <p:cNvPr id="45" name="Shape 43"/>
          <p:cNvSpPr/>
          <p:nvPr/>
        </p:nvSpPr>
        <p:spPr>
          <a:xfrm>
            <a:off x="9686032" y="2171700"/>
            <a:ext cx="1933575" cy="3924300"/>
          </a:xfrm>
          <a:prstGeom prst="rect">
            <a:avLst/>
          </a:prstGeom>
          <a:solidFill>
            <a:srgbClr val="F8F9FA"/>
          </a:solidFill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9604117" y="2181225"/>
            <a:ext cx="2288857" cy="638175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05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Inference &amp; OOF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756517" y="3009900"/>
            <a:ext cx="1953577" cy="27622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추론 및 앙상블</a:t>
            </a:r>
            <a:endParaRPr lang="en-US" sz="1067" dirty="0"/>
          </a:p>
        </p:txBody>
      </p:sp>
      <p:sp>
        <p:nvSpPr>
          <p:cNvPr id="48" name="Shape 46"/>
          <p:cNvSpPr/>
          <p:nvPr/>
        </p:nvSpPr>
        <p:spPr>
          <a:xfrm>
            <a:off x="9847064" y="353377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870817" y="3457575"/>
            <a:ext cx="1827847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5-Fold Stratified CV 검증</a:t>
            </a:r>
            <a:endParaRPr lang="en-US" sz="933" dirty="0"/>
          </a:p>
        </p:txBody>
      </p:sp>
      <p:sp>
        <p:nvSpPr>
          <p:cNvPr id="50" name="Shape 48"/>
          <p:cNvSpPr/>
          <p:nvPr/>
        </p:nvSpPr>
        <p:spPr>
          <a:xfrm>
            <a:off x="9847064" y="381952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9870817" y="374332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4-View TTA 대칭 불변성 확보</a:t>
            </a:r>
            <a:endParaRPr lang="en-US" sz="933" dirty="0"/>
          </a:p>
        </p:txBody>
      </p:sp>
      <p:sp>
        <p:nvSpPr>
          <p:cNvPr id="52" name="Shape 50"/>
          <p:cNvSpPr/>
          <p:nvPr/>
        </p:nvSpPr>
        <p:spPr>
          <a:xfrm>
            <a:off x="9847064" y="4295775"/>
            <a:ext cx="381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9870817" y="4219575"/>
            <a:ext cx="1827847" cy="3810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Macro F1 가중 소프트 보팅</a:t>
            </a:r>
            <a:endParaRPr lang="en-US" sz="933" dirty="0"/>
          </a:p>
        </p:txBody>
      </p:sp>
      <p:sp>
        <p:nvSpPr>
          <p:cNvPr id="63" name="Text 52"/>
          <p:cNvSpPr/>
          <p:nvPr/>
        </p:nvSpPr>
        <p:spPr>
          <a:xfrm>
            <a:off x="11452860" y="6286500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500688" y="-285750"/>
            <a:ext cx="5107306" cy="400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467" b="1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1467" dirty="0"/>
          </a:p>
        </p:txBody>
      </p:sp>
      <p:sp>
        <p:nvSpPr>
          <p:cNvPr id="4" name="Shape 2"/>
          <p:cNvSpPr/>
          <p:nvPr/>
        </p:nvSpPr>
        <p:spPr>
          <a:xfrm>
            <a:off x="762000" y="0"/>
            <a:ext cx="114300" cy="68580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571500" cy="381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333500" y="6781800"/>
            <a:ext cx="22860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42060" y="571500"/>
            <a:ext cx="748666" cy="323851"/>
          </a:xfrm>
          <a:prstGeom prst="rect">
            <a:avLst/>
          </a:prstGeom>
          <a:solidFill>
            <a:srgbClr val="111111"/>
          </a:solidFill>
          <a:ln/>
        </p:spPr>
        <p:txBody>
          <a:bodyPr wrap="none" lIns="91440" tIns="0" rIns="91440" bIns="0" rtlCol="0" anchor="ctr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1870711" y="600075"/>
            <a:ext cx="6710362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ADVANCED PREPROCESSING &amp; AUGMENTATION STRATEGIES</a:t>
            </a:r>
            <a:endParaRPr lang="en-US" sz="1330" b="1" dirty="0"/>
          </a:p>
        </p:txBody>
      </p:sp>
      <p:sp>
        <p:nvSpPr>
          <p:cNvPr id="9" name="Text 7"/>
          <p:cNvSpPr/>
          <p:nvPr/>
        </p:nvSpPr>
        <p:spPr>
          <a:xfrm>
            <a:off x="1242060" y="1085851"/>
            <a:ext cx="6082114" cy="58779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ko-KR" altLang="en-US" sz="38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</a:t>
            </a:r>
            <a:r>
              <a:rPr lang="en-US" sz="38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전처리 및 </a:t>
            </a:r>
            <a:r>
              <a:rPr lang="ko-KR" altLang="en-US" sz="38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증강</a:t>
            </a:r>
            <a:endParaRPr lang="en-US" sz="3867" dirty="0"/>
          </a:p>
        </p:txBody>
      </p:sp>
      <p:sp>
        <p:nvSpPr>
          <p:cNvPr id="10" name="Text 8"/>
          <p:cNvSpPr/>
          <p:nvPr/>
        </p:nvSpPr>
        <p:spPr>
          <a:xfrm>
            <a:off x="1243623" y="2266951"/>
            <a:ext cx="3546157" cy="7048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067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PIPELINE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733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전처리</a:t>
            </a:r>
            <a:r>
              <a:rPr 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파이프라인</a:t>
            </a:r>
            <a:endParaRPr lang="en-US" sz="1067" dirty="0"/>
          </a:p>
        </p:txBody>
      </p:sp>
      <p:sp>
        <p:nvSpPr>
          <p:cNvPr id="11" name="Shape 9"/>
          <p:cNvSpPr/>
          <p:nvPr/>
        </p:nvSpPr>
        <p:spPr>
          <a:xfrm>
            <a:off x="1333500" y="3276600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72223" y="3238500"/>
            <a:ext cx="3294697" cy="8001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해상도 </a:t>
            </a: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224×224 규격화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및 ImageNet 통계 기반 정규화로 수렴 가속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1333500" y="4286249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72223" y="4248151"/>
            <a:ext cx="3294697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PIL </a:t>
            </a: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im.verify()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필터링을 통해 손상 데이터로 인한 크래시 방지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1333500" y="5029200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472223" y="4991100"/>
            <a:ext cx="3294697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왜곡 없는 측정을 위해 </a:t>
            </a:r>
            <a:r>
              <a:rPr lang="en-US" sz="1333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CenterCrop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33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</a:t>
            </a:r>
            <a:r>
              <a:rPr lang="ko-KR" alt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</a:t>
            </a:r>
            <a:endParaRPr lang="en-US" sz="1333" dirty="0">
              <a:solidFill>
                <a:srgbClr val="334155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sz="1333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추론 파이프라인 구성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4761548" y="2266951"/>
            <a:ext cx="3546157" cy="7048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067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DATA AUG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ko-KR" alt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</a:t>
            </a:r>
            <a:r>
              <a:rPr lang="en-US" sz="1733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증강</a:t>
            </a:r>
            <a:endParaRPr lang="en-US" sz="1067" dirty="0"/>
          </a:p>
        </p:txBody>
      </p:sp>
      <p:sp>
        <p:nvSpPr>
          <p:cNvPr id="18" name="Shape 16"/>
          <p:cNvSpPr/>
          <p:nvPr/>
        </p:nvSpPr>
        <p:spPr>
          <a:xfrm>
            <a:off x="4851351" y="3276600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990148" y="3238500"/>
            <a:ext cx="3294697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기하 변환 조합으로 선박 외판 </a:t>
            </a: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 각도 및 시점 편차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극복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4851351" y="4019551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90148" y="3981451"/>
            <a:ext cx="3294697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RandAugment로 야외 도크의 </a:t>
            </a: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직사광선 및 노출 변화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모사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4851351" y="4762500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90148" y="4724400"/>
            <a:ext cx="3294697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RandomErasing으로 장비 </a:t>
            </a: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그림자 및 국소 가림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대응력 강화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8279472" y="2266951"/>
            <a:ext cx="3546157" cy="7048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067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REGULARIZATION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733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Mixup</a:t>
            </a:r>
            <a:r>
              <a:rPr 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&amp; 결정 </a:t>
            </a:r>
            <a:r>
              <a:rPr lang="en-US" sz="1733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경계</a:t>
            </a:r>
            <a:r>
              <a:rPr 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33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완화</a:t>
            </a:r>
            <a:endParaRPr lang="en-US" sz="1067" dirty="0"/>
          </a:p>
        </p:txBody>
      </p:sp>
      <p:sp>
        <p:nvSpPr>
          <p:cNvPr id="25" name="Shape 23"/>
          <p:cNvSpPr/>
          <p:nvPr/>
        </p:nvSpPr>
        <p:spPr>
          <a:xfrm>
            <a:off x="8369349" y="3276600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508072" y="3238500"/>
            <a:ext cx="3294697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Mixup (p=0.5)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적용으로 모델의 </a:t>
            </a:r>
            <a:r>
              <a:rPr lang="en-US" sz="1333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과도한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33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확신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(Overconfidence) 방지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8369349" y="4019551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508072" y="3981451"/>
            <a:ext cx="3294697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 결함의 </a:t>
            </a: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경계 모호성 완화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및 이상치에 강건한 결정 경계 형성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8369349" y="4762500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508072" y="4724400"/>
            <a:ext cx="3294697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희소 영역 보간으로 </a:t>
            </a:r>
            <a:r>
              <a:rPr lang="en-US" sz="1333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미학습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33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테스트셋에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대한 </a:t>
            </a: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일반화 능력</a:t>
            </a:r>
            <a:r>
              <a:rPr lang="en-US" sz="1333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</a:t>
            </a:r>
            <a:endParaRPr lang="en-US" sz="1333" dirty="0"/>
          </a:p>
        </p:txBody>
      </p:sp>
      <p:sp>
        <p:nvSpPr>
          <p:cNvPr id="34" name="Text 29"/>
          <p:cNvSpPr/>
          <p:nvPr/>
        </p:nvSpPr>
        <p:spPr>
          <a:xfrm>
            <a:off x="11452860" y="6286500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500688" y="-285750"/>
            <a:ext cx="5107306" cy="400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467" b="1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31467" dirty="0"/>
          </a:p>
        </p:txBody>
      </p:sp>
      <p:sp>
        <p:nvSpPr>
          <p:cNvPr id="4" name="Shape 2"/>
          <p:cNvSpPr/>
          <p:nvPr/>
        </p:nvSpPr>
        <p:spPr>
          <a:xfrm>
            <a:off x="762000" y="0"/>
            <a:ext cx="114300" cy="68580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952500"/>
            <a:ext cx="571500" cy="381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42060" y="428625"/>
            <a:ext cx="748666" cy="323851"/>
          </a:xfrm>
          <a:prstGeom prst="rect">
            <a:avLst/>
          </a:prstGeom>
          <a:solidFill>
            <a:srgbClr val="111111"/>
          </a:solidFill>
          <a:ln/>
        </p:spPr>
        <p:txBody>
          <a:bodyPr wrap="none" lIns="91440" tIns="0" rIns="91440" bIns="0" rtlCol="0" anchor="ctr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1869296" y="476249"/>
            <a:ext cx="4426267" cy="2286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3-BACKBONE COMPLEMENTARY SPECTRUM</a:t>
            </a:r>
            <a:endParaRPr lang="en-US" sz="1333" b="1" dirty="0"/>
          </a:p>
        </p:txBody>
      </p:sp>
      <p:sp>
        <p:nvSpPr>
          <p:cNvPr id="8" name="Text 6"/>
          <p:cNvSpPr/>
          <p:nvPr/>
        </p:nvSpPr>
        <p:spPr>
          <a:xfrm>
            <a:off x="1242060" y="866775"/>
            <a:ext cx="11289030" cy="5334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아키텍처: 다중 백본 앙상블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333053" y="1588740"/>
            <a:ext cx="5276851" cy="1381125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89264" y="1743075"/>
            <a:ext cx="5505450" cy="152400"/>
          </a:xfrm>
          <a:prstGeom prst="rect">
            <a:avLst/>
          </a:prstGeom>
          <a:ln/>
        </p:spPr>
        <p:txBody>
          <a:bodyPr wrap="square" lIns="91440" tIns="0" rIns="9144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MACRO CONTEXT</a:t>
            </a:r>
            <a:br/>
            <a:r>
              <a:rPr lang="en-US" sz="667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IN SCOPE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89264" y="1933575"/>
            <a:ext cx="5505450" cy="27622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151"/>
              </a:spcAft>
              <a:buNone/>
            </a:pPr>
            <a:r>
              <a:rPr lang="en-US" sz="14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ConvNeXt-Tiny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1489264" y="2226915"/>
            <a:ext cx="550545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471"/>
              </a:lnSpc>
              <a:spcAft>
                <a:spcPts val="600"/>
              </a:spcAft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7×7 대형 Depthwise Conv 기반의 광역 수용영역으로 도막결함 맥락을 포착</a:t>
            </a:r>
            <a:endParaRPr lang="en-US" sz="933" dirty="0"/>
          </a:p>
        </p:txBody>
      </p:sp>
      <p:sp>
        <p:nvSpPr>
          <p:cNvPr id="13" name="Shape 11"/>
          <p:cNvSpPr/>
          <p:nvPr/>
        </p:nvSpPr>
        <p:spPr>
          <a:xfrm>
            <a:off x="1580704" y="2491680"/>
            <a:ext cx="4838700" cy="323851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91124" y="2596456"/>
            <a:ext cx="1869757" cy="1428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67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인식</a:t>
            </a:r>
            <a:endParaRPr lang="en-US" sz="667" dirty="0"/>
          </a:p>
        </p:txBody>
      </p:sp>
      <p:sp>
        <p:nvSpPr>
          <p:cNvPr id="15" name="Shape 13"/>
          <p:cNvSpPr/>
          <p:nvPr/>
        </p:nvSpPr>
        <p:spPr>
          <a:xfrm>
            <a:off x="1582564" y="2777431"/>
            <a:ext cx="1533525" cy="381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582192" y="2777431"/>
            <a:ext cx="1457325" cy="381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141851" y="2596456"/>
            <a:ext cx="1869757" cy="1428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67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미세 검출</a:t>
            </a:r>
            <a:endParaRPr lang="en-US" sz="667" dirty="0"/>
          </a:p>
        </p:txBody>
      </p:sp>
      <p:sp>
        <p:nvSpPr>
          <p:cNvPr id="18" name="Shape 16"/>
          <p:cNvSpPr/>
          <p:nvPr/>
        </p:nvSpPr>
        <p:spPr>
          <a:xfrm>
            <a:off x="3233291" y="2777431"/>
            <a:ext cx="1533525" cy="381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230909" y="2777431"/>
            <a:ext cx="1200151" cy="381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92579" y="2596456"/>
            <a:ext cx="1869757" cy="1428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67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 안정</a:t>
            </a:r>
            <a:endParaRPr lang="en-US" sz="667" dirty="0"/>
          </a:p>
        </p:txBody>
      </p:sp>
      <p:sp>
        <p:nvSpPr>
          <p:cNvPr id="21" name="Shape 19"/>
          <p:cNvSpPr/>
          <p:nvPr/>
        </p:nvSpPr>
        <p:spPr>
          <a:xfrm>
            <a:off x="4884019" y="2777431"/>
            <a:ext cx="1533525" cy="381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83795" y="2777431"/>
            <a:ext cx="1257300" cy="381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333053" y="3083124"/>
            <a:ext cx="5276851" cy="15621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489264" y="3234631"/>
            <a:ext cx="5505450" cy="152400"/>
          </a:xfrm>
          <a:prstGeom prst="rect">
            <a:avLst/>
          </a:prstGeom>
          <a:ln/>
        </p:spPr>
        <p:txBody>
          <a:bodyPr wrap="square" lIns="91440" tIns="0" rIns="9144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 SCALES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89264" y="3425131"/>
            <a:ext cx="5505450" cy="27622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151"/>
              </a:spcAft>
              <a:buNone/>
            </a:pPr>
            <a:r>
              <a:rPr lang="en-US" sz="14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EfficientNet-B0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1489264" y="3721299"/>
            <a:ext cx="5505450" cy="37147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471"/>
              </a:lnSpc>
              <a:spcAft>
                <a:spcPts val="600"/>
              </a:spcAft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Compound Scaling 기반 고효율 특징 추출로 미세 스크래치 및 국소 이물질 정밀 식별</a:t>
            </a:r>
            <a:endParaRPr lang="en-US" sz="933" dirty="0"/>
          </a:p>
        </p:txBody>
      </p:sp>
      <p:sp>
        <p:nvSpPr>
          <p:cNvPr id="27" name="Shape 25"/>
          <p:cNvSpPr/>
          <p:nvPr/>
        </p:nvSpPr>
        <p:spPr>
          <a:xfrm>
            <a:off x="1580704" y="4169867"/>
            <a:ext cx="4838700" cy="323851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491124" y="4274641"/>
            <a:ext cx="1869757" cy="1428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67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인식</a:t>
            </a:r>
            <a:endParaRPr lang="en-US" sz="667" dirty="0"/>
          </a:p>
        </p:txBody>
      </p:sp>
      <p:sp>
        <p:nvSpPr>
          <p:cNvPr id="29" name="Shape 27"/>
          <p:cNvSpPr/>
          <p:nvPr/>
        </p:nvSpPr>
        <p:spPr>
          <a:xfrm>
            <a:off x="1582564" y="4455616"/>
            <a:ext cx="1533525" cy="381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580704" y="4455616"/>
            <a:ext cx="1076325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141851" y="4274641"/>
            <a:ext cx="1869757" cy="1428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67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미세 검출</a:t>
            </a:r>
            <a:endParaRPr lang="en-US" sz="667" dirty="0"/>
          </a:p>
        </p:txBody>
      </p:sp>
      <p:sp>
        <p:nvSpPr>
          <p:cNvPr id="32" name="Shape 30"/>
          <p:cNvSpPr/>
          <p:nvPr/>
        </p:nvSpPr>
        <p:spPr>
          <a:xfrm>
            <a:off x="3233291" y="4455616"/>
            <a:ext cx="1533525" cy="381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231133" y="4455616"/>
            <a:ext cx="1476375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792579" y="4274641"/>
            <a:ext cx="1869757" cy="1428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67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 안정</a:t>
            </a:r>
            <a:endParaRPr lang="en-US" sz="667" dirty="0"/>
          </a:p>
        </p:txBody>
      </p:sp>
      <p:sp>
        <p:nvSpPr>
          <p:cNvPr id="35" name="Shape 33"/>
          <p:cNvSpPr/>
          <p:nvPr/>
        </p:nvSpPr>
        <p:spPr>
          <a:xfrm>
            <a:off x="4884019" y="4455616"/>
            <a:ext cx="1533525" cy="381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882456" y="4455616"/>
            <a:ext cx="1152525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333053" y="4758481"/>
            <a:ext cx="5276851" cy="138112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489264" y="4912816"/>
            <a:ext cx="5505450" cy="152400"/>
          </a:xfrm>
          <a:prstGeom prst="rect">
            <a:avLst/>
          </a:prstGeom>
          <a:ln/>
        </p:spPr>
        <p:txBody>
          <a:bodyPr wrap="square" lIns="91440" tIns="0" rIns="9144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STABLE BASELINE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489264" y="5103316"/>
            <a:ext cx="5505450" cy="27622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151"/>
              </a:spcAft>
              <a:buNone/>
            </a:pPr>
            <a:r>
              <a:rPr lang="en-US" sz="14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ResNet-50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1489264" y="5396656"/>
            <a:ext cx="550545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471"/>
              </a:lnSpc>
              <a:spcAft>
                <a:spcPts val="600"/>
              </a:spcAft>
              <a:buNone/>
            </a:pPr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Skip Connection으로 금속 텍스처를 보존하며 전체 추론의 베이스라인 안정화</a:t>
            </a:r>
            <a:endParaRPr lang="en-US" sz="933" dirty="0"/>
          </a:p>
        </p:txBody>
      </p:sp>
      <p:sp>
        <p:nvSpPr>
          <p:cNvPr id="41" name="Shape 39"/>
          <p:cNvSpPr/>
          <p:nvPr/>
        </p:nvSpPr>
        <p:spPr>
          <a:xfrm>
            <a:off x="1580704" y="5661421"/>
            <a:ext cx="4838700" cy="323851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491124" y="5766197"/>
            <a:ext cx="1869757" cy="1428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67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인식</a:t>
            </a:r>
            <a:endParaRPr lang="en-US" sz="667" dirty="0"/>
          </a:p>
        </p:txBody>
      </p:sp>
      <p:sp>
        <p:nvSpPr>
          <p:cNvPr id="43" name="Shape 41"/>
          <p:cNvSpPr/>
          <p:nvPr/>
        </p:nvSpPr>
        <p:spPr>
          <a:xfrm>
            <a:off x="1582564" y="5947172"/>
            <a:ext cx="1533525" cy="381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581299" y="5947172"/>
            <a:ext cx="1228725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141851" y="5766197"/>
            <a:ext cx="1869757" cy="1428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67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미세 검출</a:t>
            </a:r>
            <a:endParaRPr lang="en-US" sz="667" dirty="0"/>
          </a:p>
        </p:txBody>
      </p:sp>
      <p:sp>
        <p:nvSpPr>
          <p:cNvPr id="46" name="Shape 44"/>
          <p:cNvSpPr/>
          <p:nvPr/>
        </p:nvSpPr>
        <p:spPr>
          <a:xfrm>
            <a:off x="3233291" y="5947172"/>
            <a:ext cx="1533525" cy="381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233068" y="5947172"/>
            <a:ext cx="12573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792579" y="5766197"/>
            <a:ext cx="1869757" cy="142875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67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 안정</a:t>
            </a:r>
            <a:endParaRPr lang="en-US" sz="667" dirty="0"/>
          </a:p>
        </p:txBody>
      </p:sp>
      <p:sp>
        <p:nvSpPr>
          <p:cNvPr id="49" name="Shape 47"/>
          <p:cNvSpPr/>
          <p:nvPr/>
        </p:nvSpPr>
        <p:spPr>
          <a:xfrm>
            <a:off x="4884019" y="5947172"/>
            <a:ext cx="1533525" cy="381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880744" y="5947172"/>
            <a:ext cx="1447800" cy="381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6895653" y="1590675"/>
            <a:ext cx="4533900" cy="4981575"/>
          </a:xfrm>
          <a:prstGeom prst="rect">
            <a:avLst/>
          </a:prstGeom>
          <a:solidFill>
            <a:srgbClr val="F8F9FA"/>
          </a:solidFill>
          <a:ln w="7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7042339" y="1828800"/>
            <a:ext cx="4646296" cy="3238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ARCHITECTURAL SYNERGY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133779" y="2303264"/>
            <a:ext cx="4057651" cy="3305175"/>
          </a:xfrm>
          <a:prstGeom prst="rect">
            <a:avLst/>
          </a:prstGeom>
          <a:solidFill>
            <a:srgbClr val="FFFFFF"/>
          </a:solidFill>
          <a:ln w="7144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553" y="3017639"/>
            <a:ext cx="3848100" cy="1876425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7042339" y="5760839"/>
            <a:ext cx="4257032" cy="57150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91440" tIns="0" rIns="91440" bIns="0" rtlCol="0" anchor="ctr">
            <a:normAutofit/>
          </a:bodyPr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결론: </a:t>
            </a:r>
          </a:p>
          <a:p>
            <a:pPr marL="0" indent="0" algn="l">
              <a:lnSpc>
                <a:spcPts val="1365"/>
              </a:lnSpc>
              <a:buNone/>
            </a:pPr>
            <a:r>
              <a:rPr lang="en-US" sz="933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거시·미세·안정성의</a:t>
            </a:r>
            <a:r>
              <a:rPr lang="en-US" sz="9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3각 균형을 맞춘 협력 아키텍처를 통한 검출 성능 최적화</a:t>
            </a:r>
            <a:endParaRPr lang="en-US" sz="933" dirty="0"/>
          </a:p>
        </p:txBody>
      </p:sp>
      <p:sp>
        <p:nvSpPr>
          <p:cNvPr id="63" name="Text 53"/>
          <p:cNvSpPr/>
          <p:nvPr/>
        </p:nvSpPr>
        <p:spPr>
          <a:xfrm>
            <a:off x="11452860" y="6381751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500688" y="-285750"/>
            <a:ext cx="5107306" cy="400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467" b="1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31467" dirty="0"/>
          </a:p>
        </p:txBody>
      </p:sp>
      <p:sp>
        <p:nvSpPr>
          <p:cNvPr id="4" name="Shape 2"/>
          <p:cNvSpPr/>
          <p:nvPr/>
        </p:nvSpPr>
        <p:spPr>
          <a:xfrm>
            <a:off x="762000" y="0"/>
            <a:ext cx="114300" cy="68580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47625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333500" y="6762751"/>
            <a:ext cx="2857500" cy="952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42060" y="571500"/>
            <a:ext cx="748666" cy="323851"/>
          </a:xfrm>
          <a:prstGeom prst="rect">
            <a:avLst/>
          </a:prstGeom>
          <a:solidFill>
            <a:srgbClr val="111111"/>
          </a:solidFill>
          <a:ln/>
        </p:spPr>
        <p:txBody>
          <a:bodyPr wrap="none" lIns="91440" tIns="0" rIns="91440" bIns="0" rtlCol="0" anchor="ctr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1870711" y="600075"/>
            <a:ext cx="6940867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 RATIONALE AND STRUCTURAL PARAMETERS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1242060" y="1085851"/>
            <a:ext cx="11289030" cy="6096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레이어 및 아키텍처 파라미터 근거</a:t>
            </a:r>
            <a:endParaRPr lang="en-US" sz="3867" dirty="0"/>
          </a:p>
        </p:txBody>
      </p:sp>
      <p:sp>
        <p:nvSpPr>
          <p:cNvPr id="10" name="Text 8"/>
          <p:cNvSpPr/>
          <p:nvPr/>
        </p:nvSpPr>
        <p:spPr>
          <a:xfrm>
            <a:off x="1240497" y="2266951"/>
            <a:ext cx="3609022" cy="7239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CLASSIFICATION HEAD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733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</a:t>
            </a:r>
            <a:r>
              <a:rPr 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헤드 재설계 및 규제</a:t>
            </a:r>
            <a:endParaRPr lang="en-US" sz="933" dirty="0"/>
          </a:p>
        </p:txBody>
      </p:sp>
      <p:sp>
        <p:nvSpPr>
          <p:cNvPr id="11" name="Shape 9"/>
          <p:cNvSpPr/>
          <p:nvPr/>
        </p:nvSpPr>
        <p:spPr>
          <a:xfrm>
            <a:off x="1333500" y="3352800"/>
            <a:ext cx="95251" cy="952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69097" y="3295651"/>
            <a:ext cx="3357562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Dropout(p=0.3)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헤드 직전에 배치하여 </a:t>
            </a: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뉴런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의존성을 원천 차단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33500" y="4076700"/>
            <a:ext cx="95251" cy="952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69097" y="4019551"/>
            <a:ext cx="3357562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고차원 임베딩을 </a:t>
            </a: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클래스 로짓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</a:t>
            </a: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사상하는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경량화 구조 설계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33500" y="4800600"/>
            <a:ext cx="95251" cy="952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469097" y="4743451"/>
            <a:ext cx="3357562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LayerNorm 적용을 통한 레이어 간 </a:t>
            </a: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공변량 변화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안정화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3047" y="2266951"/>
            <a:ext cx="3609022" cy="7239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MODERN INCEPTION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Inception 철학의 현대화</a:t>
            </a:r>
            <a:endParaRPr lang="en-US" sz="933" dirty="0"/>
          </a:p>
        </p:txBody>
      </p:sp>
      <p:sp>
        <p:nvSpPr>
          <p:cNvPr id="18" name="Shape 16"/>
          <p:cNvSpPr/>
          <p:nvPr/>
        </p:nvSpPr>
        <p:spPr>
          <a:xfrm>
            <a:off x="4826049" y="3352800"/>
            <a:ext cx="95251" cy="952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961647" y="3295651"/>
            <a:ext cx="3357562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[Scratch 패턴]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ConvNeXt의 7×7 커널이 비대칭 도막 손상 특징을 추출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26049" y="4076700"/>
            <a:ext cx="95251" cy="952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61647" y="4019551"/>
            <a:ext cx="3357562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[Isotropic 특징]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EfficientNet의 Depthwise Conv가 미세 결함을 포착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26049" y="4800600"/>
            <a:ext cx="95251" cy="952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61647" y="4743451"/>
            <a:ext cx="3357562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멀티스케일 수용영역 철학을 </a:t>
            </a: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백본 앙상블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구조로 계승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5523" y="2266951"/>
            <a:ext cx="3609022" cy="7239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PARAMETER EFFICIENCY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733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파라미터</a:t>
            </a:r>
            <a:r>
              <a:rPr 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경량성 및 실시간성</a:t>
            </a:r>
            <a:endParaRPr lang="en-US" sz="933" dirty="0"/>
          </a:p>
        </p:txBody>
      </p:sp>
      <p:sp>
        <p:nvSpPr>
          <p:cNvPr id="25" name="Shape 23"/>
          <p:cNvSpPr/>
          <p:nvPr/>
        </p:nvSpPr>
        <p:spPr>
          <a:xfrm>
            <a:off x="8318599" y="3352800"/>
            <a:ext cx="95251" cy="952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454123" y="3295651"/>
            <a:ext cx="3357562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ViT-Large(304M) 대비 </a:t>
            </a: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80% 가벼운 연산량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리소스 최적화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18599" y="4076700"/>
            <a:ext cx="95251" cy="952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454123" y="4019551"/>
            <a:ext cx="3357562" cy="533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도크 현장 엣지 디바이스의 </a:t>
            </a: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판독 지연시간(Latency)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요구사항 충족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11452860" y="6286500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500688" y="-285750"/>
            <a:ext cx="5107306" cy="400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467" b="1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31467" dirty="0"/>
          </a:p>
        </p:txBody>
      </p:sp>
      <p:sp>
        <p:nvSpPr>
          <p:cNvPr id="4" name="Shape 2"/>
          <p:cNvSpPr/>
          <p:nvPr/>
        </p:nvSpPr>
        <p:spPr>
          <a:xfrm>
            <a:off x="762000" y="0"/>
            <a:ext cx="114300" cy="68580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47625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42060" y="571500"/>
            <a:ext cx="748666" cy="323851"/>
          </a:xfrm>
          <a:prstGeom prst="rect">
            <a:avLst/>
          </a:prstGeom>
          <a:solidFill>
            <a:srgbClr val="111111"/>
          </a:solidFill>
          <a:ln/>
        </p:spPr>
        <p:txBody>
          <a:bodyPr wrap="none" lIns="91440" tIns="0" rIns="91440" bIns="0" rtlCol="0" anchor="ctr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1870711" y="600075"/>
            <a:ext cx="10597516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67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HYPERPARAMETER TUNING RATIONALE &amp; OPTIMIZATION STRATEGY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1242060" y="1085851"/>
            <a:ext cx="11289030" cy="6096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파라미터 조절 이유 및 최적화 전략</a:t>
            </a:r>
            <a:endParaRPr lang="en-US" sz="3867" dirty="0"/>
          </a:p>
        </p:txBody>
      </p:sp>
      <p:sp>
        <p:nvSpPr>
          <p:cNvPr id="9" name="Text 7"/>
          <p:cNvSpPr/>
          <p:nvPr/>
        </p:nvSpPr>
        <p:spPr>
          <a:xfrm>
            <a:off x="1240497" y="2266951"/>
            <a:ext cx="3609022" cy="7048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SCHEDULER STRATEGY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ADAMW &amp; ONECYCLELR</a:t>
            </a:r>
            <a:endParaRPr lang="en-US" sz="933" dirty="0"/>
          </a:p>
        </p:txBody>
      </p:sp>
      <p:sp>
        <p:nvSpPr>
          <p:cNvPr id="10" name="Text 8"/>
          <p:cNvSpPr/>
          <p:nvPr/>
        </p:nvSpPr>
        <p:spPr>
          <a:xfrm>
            <a:off x="1240497" y="3200400"/>
            <a:ext cx="3609022" cy="7429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AdamW (WD=1e-4): 가중치 감쇠의 완전 </a:t>
            </a: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분리로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ts val="1951"/>
              </a:lnSpc>
              <a:buNone/>
            </a:pP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백본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가중치 파괴(Catastrophic Forgetting) 방지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40497" y="4114800"/>
            <a:ext cx="3609022" cy="7429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OneCycleLR (pct=0.25): 초기 워밍업 후 코사인 감쇠로 손실 지형의 평탄한 최적점(Flat Minima) 수렴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0497" y="5029200"/>
            <a:ext cx="3609022" cy="2476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일반화 성능 대폭 극대화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33047" y="2266951"/>
            <a:ext cx="3609022" cy="7048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IMBALANCE CONTROL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CLASS-WEIGHTED CE</a:t>
            </a:r>
            <a:endParaRPr lang="en-US" sz="933" dirty="0"/>
          </a:p>
        </p:txBody>
      </p:sp>
      <p:sp>
        <p:nvSpPr>
          <p:cNvPr id="14" name="Text 12"/>
          <p:cNvSpPr/>
          <p:nvPr/>
        </p:nvSpPr>
        <p:spPr>
          <a:xfrm>
            <a:off x="4733047" y="3200400"/>
            <a:ext cx="3609022" cy="2476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가중치 산출 공식: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3047" y="3542332"/>
            <a:ext cx="3291280" cy="628651"/>
          </a:xfrm>
          <a:prstGeom prst="rect">
            <a:avLst/>
          </a:prstGeom>
          <a:solidFill>
            <a:srgbClr val="F8F9FA"/>
          </a:solidFill>
          <a:ln w="7144">
            <a:solidFill>
              <a:srgbClr val="E5E7EB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733" b="1" i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wc = Ntotal / (C × Nc)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4733047" y="4379565"/>
            <a:ext cx="3609022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부풀음(88건), 이물질(77건) 등 희소 결함에 지수적 패널티를 부여하여 Macro F1 직접 견인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3047" y="5046315"/>
            <a:ext cx="3609022" cy="2476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다수 클래스(스크래치 357건) 안주 현상 차단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5523" y="2266951"/>
            <a:ext cx="3609022" cy="7048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NOISE ROBUSTNESS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LABEL SMOOTHING (0.05)</a:t>
            </a:r>
            <a:endParaRPr lang="en-US" sz="933" dirty="0"/>
          </a:p>
        </p:txBody>
      </p:sp>
      <p:sp>
        <p:nvSpPr>
          <p:cNvPr id="19" name="Text 17"/>
          <p:cNvSpPr/>
          <p:nvPr/>
        </p:nvSpPr>
        <p:spPr>
          <a:xfrm>
            <a:off x="8225523" y="3200400"/>
            <a:ext cx="3609022" cy="2476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</a:t>
            </a: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라벨의</a:t>
            </a: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소프트화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5523" y="4124325"/>
            <a:ext cx="3609022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도장 결함 라벨링의 주관적 오분류 노이즈에 대한 허용 한계(Margin) 형성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5523" y="4791075"/>
            <a:ext cx="3609022" cy="4953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로짓 극단값 발산 억제 및 모델의 보정(Calibration) 성능 개선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452860" y="6286500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500688" y="-285750"/>
            <a:ext cx="5107306" cy="400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467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31467" dirty="0"/>
          </a:p>
        </p:txBody>
      </p:sp>
      <p:sp>
        <p:nvSpPr>
          <p:cNvPr id="4" name="Shape 2"/>
          <p:cNvSpPr/>
          <p:nvPr/>
        </p:nvSpPr>
        <p:spPr>
          <a:xfrm>
            <a:off x="762000" y="0"/>
            <a:ext cx="114300" cy="68580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952500"/>
            <a:ext cx="762000" cy="47625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42060" y="381000"/>
            <a:ext cx="748666" cy="323851"/>
          </a:xfrm>
          <a:prstGeom prst="rect">
            <a:avLst/>
          </a:prstGeom>
          <a:solidFill>
            <a:srgbClr val="111111"/>
          </a:solidFill>
          <a:ln/>
        </p:spPr>
        <p:txBody>
          <a:bodyPr wrap="none" lIns="91440" tIns="0" rIns="91440" bIns="0" rtlCol="0" anchor="ctr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1870711" y="409575"/>
            <a:ext cx="10597516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VALIDATION &amp; TEST SET PREDICTION ANALYSIS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1242060" y="819151"/>
            <a:ext cx="11289030" cy="514351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4051"/>
              </a:lnSpc>
              <a:buNone/>
            </a:pPr>
            <a:r>
              <a:rPr lang="en-US" sz="3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검증 및 테스트 세트 예측 분석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333500" y="1524000"/>
            <a:ext cx="4953000" cy="178117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42060" y="1676400"/>
            <a:ext cx="5631180" cy="18097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INFERENCE STRATEGY</a:t>
            </a:r>
            <a:endParaRPr lang="en-US" sz="933" dirty="0"/>
          </a:p>
        </p:txBody>
      </p:sp>
      <p:sp>
        <p:nvSpPr>
          <p:cNvPr id="11" name="Text 9"/>
          <p:cNvSpPr/>
          <p:nvPr/>
        </p:nvSpPr>
        <p:spPr>
          <a:xfrm>
            <a:off x="1242060" y="1933575"/>
            <a:ext cx="5631180" cy="2857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4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추론 신뢰도 극대화 듀얼 기법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1333500" y="2409825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413509" y="2333625"/>
            <a:ext cx="5442583" cy="4381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151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4-View TTA (Test-Time Augmentation)</a:t>
            </a:r>
            <a:br/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4방향 회전/반전 조합을 통해 예측 분산을 최소화하고 선박 회전 불변성 확보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33500" y="2943225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413509" y="2867025"/>
            <a:ext cx="5442583" cy="4381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151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OOF F1 기반 가중 소프트 보팅</a:t>
            </a:r>
            <a:br/>
            <a:r>
              <a:rPr lang="en-US" sz="933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모델의 검증 F1 점수를 가중치로 부여하여 우수 모델의 결정력을 우선 반영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33500" y="3495675"/>
            <a:ext cx="4953000" cy="2619375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242060" y="3648075"/>
            <a:ext cx="5631180" cy="180975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CLASS DISTRIBUTION</a:t>
            </a:r>
            <a:endParaRPr lang="en-US" sz="933" dirty="0"/>
          </a:p>
        </p:txBody>
      </p:sp>
      <p:sp>
        <p:nvSpPr>
          <p:cNvPr id="18" name="Text 16"/>
          <p:cNvSpPr/>
          <p:nvPr/>
        </p:nvSpPr>
        <p:spPr>
          <a:xfrm>
            <a:off x="1242060" y="3905251"/>
            <a:ext cx="5631180" cy="2857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4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테스트셋 (N=1,000) 최종 예측 분포</a:t>
            </a:r>
            <a:endParaRPr lang="en-US" sz="1467" dirty="0"/>
          </a:p>
        </p:txBody>
      </p:sp>
      <p:sp>
        <p:nvSpPr>
          <p:cNvPr id="20" name="Text 17"/>
          <p:cNvSpPr/>
          <p:nvPr/>
        </p:nvSpPr>
        <p:spPr>
          <a:xfrm>
            <a:off x="3756660" y="4305300"/>
            <a:ext cx="2865120" cy="552451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91440" tIns="0" rIns="91440" bIns="0" rtlCol="0" anchor="ctr"/>
          <a:lstStyle/>
          <a:p>
            <a:pPr marL="0" indent="0" algn="l">
              <a:spcAft>
                <a:spcPts val="151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도막떨어짐 (Peeling)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310건 (31.0%)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242060" y="4933951"/>
            <a:ext cx="2865120" cy="552451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91440" tIns="0" rIns="91440" bIns="0" rtlCol="0" anchor="ctr"/>
          <a:lstStyle/>
          <a:p>
            <a:pPr marL="0" indent="0" algn="l">
              <a:spcAft>
                <a:spcPts val="151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양품 (Normal)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168건 (16.8%)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756660" y="4933951"/>
            <a:ext cx="2865120" cy="552451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91440" tIns="0" rIns="91440" bIns="0" rtlCol="0" anchor="ctr"/>
          <a:lstStyle/>
          <a:p>
            <a:pPr marL="0" indent="0" algn="l">
              <a:spcAft>
                <a:spcPts val="151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부풀음 (Blister)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88건 (8.8%)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242060" y="5562600"/>
            <a:ext cx="2865120" cy="552451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91440" tIns="0" rIns="91440" bIns="0" rtlCol="0" anchor="ctr"/>
          <a:lstStyle/>
          <a:p>
            <a:pPr marL="0" indent="0" algn="l">
              <a:spcAft>
                <a:spcPts val="151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이물질 (Inclusion)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77건 (7.7%)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198620" y="5743501"/>
            <a:ext cx="2865120" cy="552451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151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 Samples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667500" y="1524000"/>
            <a:ext cx="4762500" cy="3848100"/>
          </a:xfrm>
          <a:prstGeom prst="rect">
            <a:avLst/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275" y="2314500"/>
            <a:ext cx="4552949" cy="2266951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576060" y="5514975"/>
            <a:ext cx="5421630" cy="962025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91440" tIns="0" rIns="91440" bIns="0" rtlCol="0" anchor="ctr"/>
          <a:lstStyle/>
          <a:p>
            <a:pPr marL="0" indent="0" algn="l">
              <a:spcAft>
                <a:spcPts val="451"/>
              </a:spcAft>
              <a:buNone/>
            </a:pPr>
            <a:r>
              <a:rPr lang="en-US" sz="80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INSIGHT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외부 마찰에 의한 '스크래치/도막떨어짐'이 66.7%를 차지하며, Class-Weighted CE 적용으로 부풀음/이물질 등 소수 클래스도 정밀하게 검출됨. </a:t>
            </a:r>
            <a:endParaRPr lang="en-US" sz="800" dirty="0"/>
          </a:p>
        </p:txBody>
      </p:sp>
      <p:sp>
        <p:nvSpPr>
          <p:cNvPr id="35" name="Text 24"/>
          <p:cNvSpPr/>
          <p:nvPr/>
        </p:nvSpPr>
        <p:spPr>
          <a:xfrm>
            <a:off x="11452860" y="6381751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33" dirty="0"/>
          </a:p>
        </p:txBody>
      </p:sp>
      <p:sp>
        <p:nvSpPr>
          <p:cNvPr id="86" name="Scratch Tile"/>
          <p:cNvSpPr/>
          <p:nvPr/>
        </p:nvSpPr>
        <p:spPr>
          <a:xfrm>
            <a:off x="1333500" y="4305300"/>
            <a:ext cx="2438400" cy="55245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Scratch Accent"/>
          <p:cNvSpPr/>
          <p:nvPr/>
        </p:nvSpPr>
        <p:spPr>
          <a:xfrm>
            <a:off x="1333500" y="4305300"/>
            <a:ext cx="38100" cy="5524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Scratch Label"/>
          <p:cNvSpPr/>
          <p:nvPr/>
        </p:nvSpPr>
        <p:spPr>
          <a:xfrm>
            <a:off x="1485900" y="4381500"/>
            <a:ext cx="2159000" cy="114300"/>
          </a:xfrm>
          <a:prstGeom prst="rect">
            <a:avLst/>
          </a:prstGeom>
          <a:ln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ko-KR"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스크래치 (Scratch)</a:t>
            </a:r>
          </a:p>
        </p:txBody>
      </p:sp>
      <p:sp>
        <p:nvSpPr>
          <p:cNvPr id="89" name="Scratch Count"/>
          <p:cNvSpPr/>
          <p:nvPr/>
        </p:nvSpPr>
        <p:spPr>
          <a:xfrm>
            <a:off x="1485900" y="4500000"/>
            <a:ext cx="2159000" cy="180000"/>
          </a:xfrm>
          <a:prstGeom prst="rect">
            <a:avLst/>
          </a:prstGeom>
          <a:ln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ko-KR"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357건 (35.7%)</a:t>
            </a:r>
          </a:p>
        </p:txBody>
      </p:sp>
      <p:sp>
        <p:nvSpPr>
          <p:cNvPr id="90" name="Text 90"/>
          <p:cNvSpPr/>
          <p:nvPr/>
        </p:nvSpPr>
        <p:spPr>
          <a:xfrm>
            <a:off x="6772275" y="5067300"/>
            <a:ext cx="4552949" cy="285750"/>
          </a:xfrm>
          <a:prstGeom prst="rect">
            <a:avLst/>
          </a:prstGeom>
          <a:ln/>
        </p:spPr>
        <p:txBody>
          <a:bodyPr wrap="none" lIns="0" tIns="0" rIns="0" bIns="0" anchor="ctr">
            <a:spAutoFit/>
          </a:bodyPr>
          <a:lstStyle/>
          <a:p>
            <a:pPr algn="ctr">
              <a:buNone/>
            </a:pPr>
            <a:r>
              <a:rPr lang="ko-KR" sz="1400" b="1">
                <a:solidFill>
                  <a:srgbClr val="E8000D"/>
                </a:solidFill>
                <a:latin typeface="Pretendard"/>
                <a:ea typeface="Pretendard"/>
                <a:cs typeface="Pretendard"/>
              </a:rPr>
              <a:t>실제 제출 총점  0.970905</a:t>
            </a:r>
            <a:endParaRPr lang="ko-KR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500688" y="-285750"/>
            <a:ext cx="5107306" cy="400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467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31467" dirty="0"/>
          </a:p>
        </p:txBody>
      </p:sp>
      <p:sp>
        <p:nvSpPr>
          <p:cNvPr id="4" name="Shape 2"/>
          <p:cNvSpPr/>
          <p:nvPr/>
        </p:nvSpPr>
        <p:spPr>
          <a:xfrm>
            <a:off x="762000" y="0"/>
            <a:ext cx="114300" cy="68580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1047751"/>
            <a:ext cx="762000" cy="47625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42060" y="476251"/>
            <a:ext cx="748666" cy="323851"/>
          </a:xfrm>
          <a:prstGeom prst="rect">
            <a:avLst/>
          </a:prstGeom>
          <a:solidFill>
            <a:srgbClr val="111111"/>
          </a:solidFill>
          <a:ln/>
        </p:spPr>
        <p:txBody>
          <a:bodyPr wrap="none" lIns="91440" tIns="0" rIns="91440" bIns="0" rtlCol="0" anchor="ctr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1870711" y="504825"/>
            <a:ext cx="10597516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STRATEGIC DEFENSE FOR KEY EVALUATION POINTS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1242060" y="914400"/>
            <a:ext cx="3058851" cy="550215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</a:t>
            </a:r>
            <a:r>
              <a:rPr lang="en-US" sz="3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질의응답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333500" y="1771651"/>
            <a:ext cx="4933951" cy="218122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527811" y="2000251"/>
            <a:ext cx="5044440" cy="65722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</a:t>
            </a:r>
            <a:br>
              <a:rPr dirty="0"/>
            </a:b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거대 Vision Transformer(ViT) 대신 경량·중형 </a:t>
            </a:r>
            <a:r>
              <a:rPr lang="en-US" sz="1333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앙상블을</a:t>
            </a: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333" b="1" dirty="0" err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택했는가</a:t>
            </a: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527811" y="2809875"/>
            <a:ext cx="4663438" cy="914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A.</a:t>
            </a:r>
            <a:br>
              <a:rPr dirty="0"/>
            </a:b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수천 장 규모의 특화 데이터셋에서 거대 모델은 치명적인 과적합을 유발합니다. 이종 모델 3종 결합은 파라미터 58M 수준으로 메모리 지연시간을 방어하며, 최고 수준의 Macro F1을 안정적으로 달성합니다.</a:t>
            </a:r>
            <a:endParaRPr lang="en-US" sz="1733" dirty="0"/>
          </a:p>
        </p:txBody>
      </p:sp>
      <p:sp>
        <p:nvSpPr>
          <p:cNvPr id="12" name="Shape 10"/>
          <p:cNvSpPr/>
          <p:nvPr/>
        </p:nvSpPr>
        <p:spPr>
          <a:xfrm>
            <a:off x="6496049" y="1771651"/>
            <a:ext cx="4933951" cy="218122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90360" y="2000251"/>
            <a:ext cx="5044440" cy="65722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</a:t>
            </a:r>
            <a:br>
              <a:rPr dirty="0"/>
            </a:b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소수 결함 클래스의 예측 정확도를 어떻게 담보했는가?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6690360" y="2809875"/>
            <a:ext cx="4646334" cy="914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A.</a:t>
            </a:r>
            <a:br>
              <a:rPr dirty="0"/>
            </a:b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3중 방어 메커니즘을 적용했습니다. StratifiedKFold로 불균형 비율 보존, 손실함수에 역빈도 가중치 부여로 오분류 페널티를 강화했으며, 모든 모델 선정 기준을 Macro F1으로 일원화했습니다.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1333500" y="4181475"/>
            <a:ext cx="4933951" cy="218122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527811" y="4410075"/>
            <a:ext cx="5044440" cy="65722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Q3.</a:t>
            </a:r>
            <a:br/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조명 및 노이즈 강건성에 어떻게 대응하는가?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1527811" y="5219700"/>
            <a:ext cx="4663438" cy="914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A.</a:t>
            </a:r>
            <a:br>
              <a:rPr dirty="0"/>
            </a:b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단계에서 RandAugment와 ColorJitter로 다양한 노출 왜곡을 사전 학습시켰으며, 추론 시 4-View TTA를 적용하여 선박 시점 불변성을 확보하고 예측 분산을 최소화하여 강건함을 확보했습니다.</a:t>
            </a:r>
            <a:endParaRPr lang="en-US" sz="1733" dirty="0"/>
          </a:p>
        </p:txBody>
      </p:sp>
      <p:sp>
        <p:nvSpPr>
          <p:cNvPr id="18" name="Shape 16"/>
          <p:cNvSpPr/>
          <p:nvPr/>
        </p:nvSpPr>
        <p:spPr>
          <a:xfrm>
            <a:off x="6496049" y="4181475"/>
            <a:ext cx="4933951" cy="218122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690360" y="4410075"/>
            <a:ext cx="5044440" cy="65722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Q4.</a:t>
            </a:r>
            <a:br/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도장 검사 현장에서의 즉시 배포 가능성은?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6690360" y="5219700"/>
            <a:ext cx="4646334" cy="9144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A.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ko-KR" altLang="en-US" sz="1070" dirty="0">
                <a:solidFill>
                  <a:srgbClr val="111111"/>
                </a:solidFill>
                <a:latin typeface="Pretendard" pitchFamily="34" charset="0"/>
              </a:rPr>
              <a:t>현장에서는 </a:t>
            </a:r>
            <a:r>
              <a:rPr lang="en-US" altLang="ko-KR" sz="1070" dirty="0">
                <a:solidFill>
                  <a:srgbClr val="111111"/>
                </a:solidFill>
                <a:latin typeface="Pretendard" pitchFamily="34" charset="0"/>
              </a:rPr>
              <a:t>AI</a:t>
            </a:r>
            <a:r>
              <a:rPr lang="ko-KR" altLang="en-US" sz="1070" dirty="0">
                <a:solidFill>
                  <a:srgbClr val="111111"/>
                </a:solidFill>
                <a:latin typeface="Pretendard" pitchFamily="34" charset="0"/>
              </a:rPr>
              <a:t>가 결함이 의심되는 사진을 먼저 찾아주고</a:t>
            </a:r>
            <a:r>
              <a:rPr lang="en-US" altLang="ko-KR" sz="1070" dirty="0">
                <a:solidFill>
                  <a:srgbClr val="111111"/>
                </a:solidFill>
                <a:latin typeface="Pretendard" pitchFamily="34" charset="0"/>
              </a:rPr>
              <a:t>, </a:t>
            </a:r>
            <a:r>
              <a:rPr lang="ko-KR" altLang="en-US" sz="1070" dirty="0">
                <a:solidFill>
                  <a:srgbClr val="111111"/>
                </a:solidFill>
                <a:latin typeface="Pretendard" pitchFamily="34" charset="0"/>
              </a:rPr>
              <a:t>검사자가 최종 확인하는 검사 보조 방식으로 적용 가능합니다</a:t>
            </a:r>
            <a:r>
              <a:rPr lang="en-US" altLang="ko-KR" sz="1070" dirty="0">
                <a:solidFill>
                  <a:srgbClr val="111111"/>
                </a:solidFill>
                <a:latin typeface="Pretendard" pitchFamily="34" charset="0"/>
              </a:rPr>
              <a:t>. </a:t>
            </a:r>
            <a:r>
              <a:rPr lang="ko-KR" altLang="en-US" sz="1070" dirty="0">
                <a:solidFill>
                  <a:srgbClr val="111111"/>
                </a:solidFill>
                <a:latin typeface="Pretendard" pitchFamily="34" charset="0"/>
              </a:rPr>
              <a:t>다만</a:t>
            </a:r>
            <a:r>
              <a:rPr lang="en-US" altLang="ko-KR" sz="1070" dirty="0">
                <a:solidFill>
                  <a:srgbClr val="111111"/>
                </a:solidFill>
                <a:latin typeface="Pretendard" pitchFamily="34" charset="0"/>
              </a:rPr>
              <a:t>, </a:t>
            </a:r>
            <a:r>
              <a:rPr lang="ko-KR" altLang="en-US" sz="1070" dirty="0">
                <a:solidFill>
                  <a:srgbClr val="111111"/>
                </a:solidFill>
                <a:latin typeface="Pretendard" pitchFamily="34" charset="0"/>
              </a:rPr>
              <a:t>실제 카메라와 조명 환경에서 정확도</a:t>
            </a:r>
            <a:r>
              <a:rPr lang="en-US" altLang="ko-KR" sz="1070" dirty="0">
                <a:solidFill>
                  <a:srgbClr val="111111"/>
                </a:solidFill>
                <a:latin typeface="Pretendard" pitchFamily="34" charset="0"/>
              </a:rPr>
              <a:t>/</a:t>
            </a:r>
            <a:r>
              <a:rPr lang="ko-KR" altLang="en-US" sz="1070" dirty="0">
                <a:solidFill>
                  <a:srgbClr val="111111"/>
                </a:solidFill>
                <a:latin typeface="Pretendard" pitchFamily="34" charset="0"/>
              </a:rPr>
              <a:t>처리 속도 추가검증이 필요합니다</a:t>
            </a:r>
            <a:r>
              <a:rPr lang="en-US" altLang="ko-KR" sz="1070" dirty="0">
                <a:solidFill>
                  <a:srgbClr val="111111"/>
                </a:solidFill>
                <a:latin typeface="Pretendard" pitchFamily="34" charset="0"/>
              </a:rPr>
              <a:t>.</a:t>
            </a:r>
            <a:br>
              <a:rPr dirty="0"/>
            </a:br>
            <a:endParaRPr lang="en-US" sz="1733" dirty="0"/>
          </a:p>
        </p:txBody>
      </p:sp>
      <p:sp>
        <p:nvSpPr>
          <p:cNvPr id="29" name="Text 19"/>
          <p:cNvSpPr/>
          <p:nvPr/>
        </p:nvSpPr>
        <p:spPr>
          <a:xfrm>
            <a:off x="11452860" y="6286500"/>
            <a:ext cx="266700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3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500688" y="-285750"/>
            <a:ext cx="5107306" cy="400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spAutoFit/>
          </a:bodyPr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467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31467" dirty="0"/>
          </a:p>
        </p:txBody>
      </p:sp>
      <p:sp>
        <p:nvSpPr>
          <p:cNvPr id="4" name="Shape 2"/>
          <p:cNvSpPr/>
          <p:nvPr/>
        </p:nvSpPr>
        <p:spPr>
          <a:xfrm>
            <a:off x="762000" y="0"/>
            <a:ext cx="114300" cy="68580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2000" y="1047751"/>
            <a:ext cx="952500" cy="57151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42060" y="476251"/>
            <a:ext cx="748666" cy="323851"/>
          </a:xfrm>
          <a:prstGeom prst="rect">
            <a:avLst/>
          </a:prstGeom>
          <a:solidFill>
            <a:srgbClr val="111111"/>
          </a:solidFill>
          <a:ln/>
        </p:spPr>
        <p:txBody>
          <a:bodyPr wrap="none" lIns="91440" tIns="0" rIns="91440" bIns="0" rtlCol="0" anchor="ctr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1870711" y="504825"/>
            <a:ext cx="10597516" cy="266700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30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 &amp; STRATEGIC KEY TAKEAWAYS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1242060" y="914400"/>
            <a:ext cx="11289030" cy="609600"/>
          </a:xfrm>
          <a:prstGeom prst="rect">
            <a:avLst/>
          </a:prstGeom>
          <a:ln/>
        </p:spPr>
        <p:txBody>
          <a:bodyPr wrap="none" lIns="91440" tIns="0" rIns="91440" bIns="0" rtlCol="0" anchor="t">
            <a:sp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및 프로젝트 성과 요약</a:t>
            </a:r>
            <a:endParaRPr lang="en-US" sz="3867" dirty="0"/>
          </a:p>
        </p:txBody>
      </p:sp>
      <p:sp>
        <p:nvSpPr>
          <p:cNvPr id="9" name="Shape 7"/>
          <p:cNvSpPr/>
          <p:nvPr/>
        </p:nvSpPr>
        <p:spPr>
          <a:xfrm>
            <a:off x="1335659" y="1905000"/>
            <a:ext cx="5191125" cy="3905251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44219" y="2105025"/>
            <a:ext cx="5893117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Aft>
                <a:spcPts val="751"/>
              </a:spcAft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TECHNICAL EXCELLENCE</a:t>
            </a:r>
            <a:endParaRPr lang="en-US" sz="933" dirty="0"/>
          </a:p>
        </p:txBody>
      </p:sp>
      <p:sp>
        <p:nvSpPr>
          <p:cNvPr id="11" name="Text 9"/>
          <p:cNvSpPr/>
          <p:nvPr/>
        </p:nvSpPr>
        <p:spPr>
          <a:xfrm>
            <a:off x="1244219" y="2390775"/>
            <a:ext cx="5893117" cy="33337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7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기술 성과 요약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1244219" y="2914651"/>
            <a:ext cx="5893117" cy="247651"/>
          </a:xfrm>
          <a:prstGeom prst="rect">
            <a:avLst/>
          </a:prstGeom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FFFFFF"/>
                </a:solidFill>
                <a:highlight>
                  <a:srgbClr val="111111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및 모델 최적화</a:t>
            </a:r>
            <a:endParaRPr lang="en-US" sz="933" dirty="0"/>
          </a:p>
        </p:txBody>
      </p:sp>
      <p:sp>
        <p:nvSpPr>
          <p:cNvPr id="13" name="Shape 11"/>
          <p:cNvSpPr/>
          <p:nvPr/>
        </p:nvSpPr>
        <p:spPr>
          <a:xfrm>
            <a:off x="1333500" y="3352800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34719" y="3276600"/>
            <a:ext cx="5683567" cy="4572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조명 및 반사광 왜곡 대응 </a:t>
            </a:r>
            <a:r>
              <a:rPr lang="en-US" sz="1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강건 전처리 파이프라인</a:t>
            </a: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정립 (RandAugment, ColorJitter)</a:t>
            </a:r>
            <a:endParaRPr lang="en-US" sz="1067" dirty="0"/>
          </a:p>
        </p:txBody>
      </p:sp>
      <p:sp>
        <p:nvSpPr>
          <p:cNvPr id="15" name="Shape 13"/>
          <p:cNvSpPr/>
          <p:nvPr/>
        </p:nvSpPr>
        <p:spPr>
          <a:xfrm>
            <a:off x="1333500" y="3924300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434719" y="3848100"/>
            <a:ext cx="5683567" cy="2286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ConvNeXt-Tiny, EfficientNet, ResNet-50 </a:t>
            </a:r>
            <a:r>
              <a:rPr lang="en-US" sz="1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3각 상호보완 앙상블</a:t>
            </a: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결함 감지 극대화</a:t>
            </a:r>
            <a:endParaRPr lang="en-US" sz="1067" dirty="0"/>
          </a:p>
        </p:txBody>
      </p:sp>
      <p:sp>
        <p:nvSpPr>
          <p:cNvPr id="17" name="Shape 15"/>
          <p:cNvSpPr/>
          <p:nvPr/>
        </p:nvSpPr>
        <p:spPr>
          <a:xfrm>
            <a:off x="1333500" y="4267200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434719" y="4191000"/>
            <a:ext cx="5683567" cy="2286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Label Smoothing 및 </a:t>
            </a:r>
            <a:r>
              <a:rPr lang="en-US" sz="1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Class-Weighted CE</a:t>
            </a: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적용으로 소수 결함 오분류 원천 방지</a:t>
            </a:r>
            <a:endParaRPr lang="en-US" sz="1067" dirty="0"/>
          </a:p>
        </p:txBody>
      </p:sp>
      <p:sp>
        <p:nvSpPr>
          <p:cNvPr id="19" name="Text 17"/>
          <p:cNvSpPr/>
          <p:nvPr/>
        </p:nvSpPr>
        <p:spPr>
          <a:xfrm>
            <a:off x="1244219" y="4648200"/>
            <a:ext cx="5893117" cy="247651"/>
          </a:xfrm>
          <a:prstGeom prst="rect">
            <a:avLst/>
          </a:prstGeom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FFFFFF"/>
                </a:solidFill>
                <a:highlight>
                  <a:srgbClr val="111111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 기반의 최종 추론 산출</a:t>
            </a:r>
            <a:endParaRPr lang="en-US" sz="933" dirty="0"/>
          </a:p>
        </p:txBody>
      </p:sp>
      <p:sp>
        <p:nvSpPr>
          <p:cNvPr id="20" name="Shape 18"/>
          <p:cNvSpPr/>
          <p:nvPr/>
        </p:nvSpPr>
        <p:spPr>
          <a:xfrm>
            <a:off x="1333500" y="5086351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434719" y="5010151"/>
            <a:ext cx="5683567" cy="2286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테스트셋 1,000건 이미지 대상 </a:t>
            </a:r>
            <a:r>
              <a:rPr lang="en-US" sz="1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고신뢰성 예측 데이터 생성</a:t>
            </a: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및 판정 완수</a:t>
            </a:r>
            <a:endParaRPr lang="en-US" sz="1067" dirty="0"/>
          </a:p>
        </p:txBody>
      </p:sp>
      <p:sp>
        <p:nvSpPr>
          <p:cNvPr id="22" name="Shape 20"/>
          <p:cNvSpPr/>
          <p:nvPr/>
        </p:nvSpPr>
        <p:spPr>
          <a:xfrm>
            <a:off x="1333500" y="5429251"/>
            <a:ext cx="76200" cy="76200"/>
          </a:xfrm>
          <a:prstGeom prst="rect">
            <a:avLst/>
          </a:prstGeom>
          <a:solidFill>
            <a:srgbClr val="E800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434719" y="5353051"/>
            <a:ext cx="5683567" cy="2286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67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4-View TTA 및 OOF 신뢰도 가중 보팅</a:t>
            </a:r>
            <a:r>
              <a:rPr lang="en-US" sz="1067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통한 탁월한 일반화 성능 확보</a:t>
            </a:r>
            <a:endParaRPr lang="en-US" sz="1067" dirty="0"/>
          </a:p>
        </p:txBody>
      </p:sp>
      <p:sp>
        <p:nvSpPr>
          <p:cNvPr id="24" name="Shape 22"/>
          <p:cNvSpPr/>
          <p:nvPr/>
        </p:nvSpPr>
        <p:spPr>
          <a:xfrm>
            <a:off x="7098283" y="1905000"/>
            <a:ext cx="4333875" cy="4038600"/>
          </a:xfrm>
          <a:prstGeom prst="rect">
            <a:avLst/>
          </a:prstGeom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006843" y="2105025"/>
            <a:ext cx="4950142" cy="190500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spcAft>
                <a:spcPts val="751"/>
              </a:spcAft>
              <a:buNone/>
            </a:pPr>
            <a:r>
              <a:rPr lang="en-US" sz="933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VALUE</a:t>
            </a:r>
            <a:endParaRPr lang="en-US" sz="933" dirty="0"/>
          </a:p>
        </p:txBody>
      </p:sp>
      <p:sp>
        <p:nvSpPr>
          <p:cNvPr id="26" name="Text 24"/>
          <p:cNvSpPr/>
          <p:nvPr/>
        </p:nvSpPr>
        <p:spPr>
          <a:xfrm>
            <a:off x="7006843" y="2390775"/>
            <a:ext cx="4950142" cy="33337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ko-KR" altLang="en-US" sz="1733" b="1" dirty="0">
                <a:solidFill>
                  <a:srgbClr val="111111"/>
                </a:solidFill>
                <a:latin typeface="Pretendard" pitchFamily="34" charset="0"/>
              </a:rPr>
              <a:t>향후 기대 효과</a:t>
            </a:r>
            <a:endParaRPr lang="en-US" sz="1733" dirty="0"/>
          </a:p>
        </p:txBody>
      </p:sp>
      <p:sp>
        <p:nvSpPr>
          <p:cNvPr id="27" name="Shape 25"/>
          <p:cNvSpPr/>
          <p:nvPr/>
        </p:nvSpPr>
        <p:spPr>
          <a:xfrm>
            <a:off x="7098283" y="2914651"/>
            <a:ext cx="4333875" cy="141922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92593" y="3143251"/>
            <a:ext cx="4384357" cy="25717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품질 신뢰도 향상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7292594" y="3476625"/>
            <a:ext cx="3990722" cy="628651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651"/>
              </a:lnSpc>
              <a:buNone/>
            </a:pPr>
            <a:r>
              <a:rPr lang="en-US" sz="1067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주관적 육안 검사 의존도를 낮추고, 선박 도장 결함 판정 기준의 </a:t>
            </a:r>
            <a:r>
              <a:rPr lang="en-US" sz="1067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표준화</a:t>
            </a:r>
            <a:r>
              <a:rPr lang="en-US" sz="1067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달성하여 해양 부식 방지 품질 보증 체계 확립</a:t>
            </a:r>
            <a:endParaRPr lang="en-US" sz="1067" dirty="0"/>
          </a:p>
        </p:txBody>
      </p:sp>
      <p:sp>
        <p:nvSpPr>
          <p:cNvPr id="30" name="Shape 28"/>
          <p:cNvSpPr/>
          <p:nvPr/>
        </p:nvSpPr>
        <p:spPr>
          <a:xfrm>
            <a:off x="7098283" y="4524375"/>
            <a:ext cx="4333875" cy="141922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292593" y="4752975"/>
            <a:ext cx="4384357" cy="257175"/>
          </a:xfrm>
          <a:prstGeom prst="rect">
            <a:avLst/>
          </a:prstGeom>
          <a:ln/>
        </p:spPr>
        <p:txBody>
          <a:bodyPr wrap="square" lIns="91440" tIns="0" rIns="91440" bIns="0" rtlCol="0" anchor="t"/>
          <a:lstStyle/>
          <a:p>
            <a:pPr marL="0" indent="0" algn="l">
              <a:buNone/>
            </a:pPr>
            <a:r>
              <a:rPr lang="en-US" sz="1333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공정 효율 및 비용 절감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7292593" y="5086351"/>
            <a:ext cx="3990723" cy="628651"/>
          </a:xfrm>
          <a:prstGeom prst="rect">
            <a:avLst/>
          </a:prstGeom>
          <a:ln/>
        </p:spPr>
        <p:txBody>
          <a:bodyPr wrap="square" lIns="91440" tIns="0" rIns="91440" bIns="0" rtlCol="0" anchor="t">
            <a:normAutofit/>
          </a:bodyPr>
          <a:lstStyle/>
          <a:p>
            <a:pPr marL="0" indent="0" algn="l">
              <a:lnSpc>
                <a:spcPts val="1651"/>
              </a:lnSpc>
              <a:buNone/>
            </a:pPr>
            <a:r>
              <a:rPr lang="en-US" sz="1067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</a:t>
            </a:r>
            <a:r>
              <a:rPr lang="en-US" sz="1067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엣지</a:t>
            </a:r>
            <a:r>
              <a:rPr lang="en-US" sz="1067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067" dirty="0" err="1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추론을</a:t>
            </a:r>
            <a:r>
              <a:rPr lang="en-US" sz="1067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통해 검사 리드타임을 </a:t>
            </a:r>
            <a:r>
              <a:rPr lang="en-US" sz="1067" b="1" dirty="0">
                <a:solidFill>
                  <a:srgbClr val="E8000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대비 70% 단축</a:t>
            </a:r>
            <a:r>
              <a:rPr lang="en-US" sz="1067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하고, 결함 조기 발견으로 재도장 공정 비용 최소화</a:t>
            </a:r>
            <a:endParaRPr lang="en-US" sz="1067" dirty="0"/>
          </a:p>
        </p:txBody>
      </p:sp>
      <p:sp>
        <p:nvSpPr>
          <p:cNvPr id="37" name="Text 31"/>
          <p:cNvSpPr/>
          <p:nvPr/>
        </p:nvSpPr>
        <p:spPr>
          <a:xfrm>
            <a:off x="11376660" y="6286500"/>
            <a:ext cx="350520" cy="190500"/>
          </a:xfrm>
          <a:prstGeom prst="rect">
            <a:avLst/>
          </a:prstGeom>
          <a:ln/>
        </p:spPr>
        <p:txBody>
          <a:bodyPr wrap="none" lIns="91440" tIns="0" rIns="9144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3" b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1482</Words>
  <Application>Microsoft Office PowerPoint</Application>
  <PresentationFormat>와이드스크린</PresentationFormat>
  <Paragraphs>245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Pretendard</vt:lpstr>
      <vt:lpstr>Arial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김지민</cp:lastModifiedBy>
  <cp:revision>10</cp:revision>
  <dcterms:created xsi:type="dcterms:W3CDTF">2026-09-09T04:09:40Z</dcterms:created>
  <dcterms:modified xsi:type="dcterms:W3CDTF">2026-09-09T05:17:13Z</dcterms:modified>
</cp:coreProperties>
</file>